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Nunito"/>
      <p:regular r:id="rId21"/>
      <p:bold r:id="rId22"/>
      <p:italic r:id="rId23"/>
      <p:boldItalic r:id="rId24"/>
    </p:embeddedFont>
    <p:embeddedFont>
      <p:font typeface="Poppi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17A125-787E-4593-885D-AA47252468CA}">
  <a:tblStyle styleId="{5317A125-787E-4593-885D-AA47252468C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Nunito-bold.fntdata"/><Relationship Id="rId21" Type="http://schemas.openxmlformats.org/officeDocument/2006/relationships/font" Target="fonts/Nunito-regular.fntdata"/><Relationship Id="rId24" Type="http://schemas.openxmlformats.org/officeDocument/2006/relationships/font" Target="fonts/Nunito-boldItalic.fntdata"/><Relationship Id="rId23"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ff174881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ff174881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0f97a4276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0f97a4276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0f97a4276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0f97a4276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eadd2de48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eadd2de48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5eadd2de48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5eadd2de48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64f17175a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64f17175a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e55ecd96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e55ecd96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5eadd2de48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5eadd2de48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64f17175a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64f17175a6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64f17175a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64f17175a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4f17175a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64f17175a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64f17175a6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64f17175a6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64f17175a6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64f17175a6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64f17175a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64f17175a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github.com/edutjie/drug-oc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3.jpg"/><Relationship Id="rId9" Type="http://schemas.openxmlformats.org/officeDocument/2006/relationships/image" Target="../media/image6.jpg"/><Relationship Id="rId5" Type="http://schemas.openxmlformats.org/officeDocument/2006/relationships/image" Target="../media/image9.jpg"/><Relationship Id="rId6" Type="http://schemas.openxmlformats.org/officeDocument/2006/relationships/image" Target="../media/image8.jpg"/><Relationship Id="rId7" Type="http://schemas.openxmlformats.org/officeDocument/2006/relationships/image" Target="../media/image10.jpg"/><Relationship Id="rId8"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5.jpg"/><Relationship Id="rId5"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8761" r="11811" t="0"/>
          <a:stretch/>
        </p:blipFill>
        <p:spPr>
          <a:xfrm>
            <a:off x="0" y="0"/>
            <a:ext cx="9144001" cy="5143499"/>
          </a:xfrm>
          <a:prstGeom prst="rect">
            <a:avLst/>
          </a:prstGeom>
          <a:noFill/>
          <a:ln>
            <a:noFill/>
          </a:ln>
        </p:spPr>
      </p:pic>
      <p:sp>
        <p:nvSpPr>
          <p:cNvPr id="55" name="Google Shape;55;p13"/>
          <p:cNvSpPr/>
          <p:nvPr/>
        </p:nvSpPr>
        <p:spPr>
          <a:xfrm>
            <a:off x="4359825" y="150"/>
            <a:ext cx="4784100" cy="5143500"/>
          </a:xfrm>
          <a:prstGeom prst="rect">
            <a:avLst/>
          </a:prstGeom>
          <a:solidFill>
            <a:srgbClr val="5038BC">
              <a:alpha val="79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nvSpPr>
        <p:spPr>
          <a:xfrm>
            <a:off x="4679925" y="1406250"/>
            <a:ext cx="4143900" cy="2331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lang="en" sz="2800">
                <a:solidFill>
                  <a:srgbClr val="FFFFFF"/>
                </a:solidFill>
                <a:latin typeface="Poppins"/>
                <a:ea typeface="Poppins"/>
                <a:cs typeface="Poppins"/>
                <a:sym typeface="Poppins"/>
              </a:rPr>
              <a:t>Images-based Drug Search Engine using OCR and </a:t>
            </a:r>
            <a:r>
              <a:rPr b="1" lang="en" sz="2800">
                <a:solidFill>
                  <a:srgbClr val="FFFFFF"/>
                </a:solidFill>
                <a:latin typeface="Poppins"/>
                <a:ea typeface="Poppins"/>
                <a:cs typeface="Poppins"/>
                <a:sym typeface="Poppins"/>
              </a:rPr>
              <a:t>Levenshtein </a:t>
            </a:r>
            <a:r>
              <a:rPr b="1" lang="en" sz="2800">
                <a:solidFill>
                  <a:srgbClr val="FFFFFF"/>
                </a:solidFill>
                <a:latin typeface="Poppins"/>
                <a:ea typeface="Poppins"/>
                <a:cs typeface="Poppins"/>
                <a:sym typeface="Poppins"/>
              </a:rPr>
              <a:t>Algorithm Spelling Correction</a:t>
            </a:r>
            <a:endParaRPr b="1" sz="2800">
              <a:solidFill>
                <a:srgbClr val="FFFFFF"/>
              </a:solidFill>
              <a:latin typeface="Poppins"/>
              <a:ea typeface="Poppins"/>
              <a:cs typeface="Poppins"/>
              <a:sym typeface="Poppins"/>
            </a:endParaRPr>
          </a:p>
        </p:txBody>
      </p:sp>
      <p:sp>
        <p:nvSpPr>
          <p:cNvPr id="57" name="Google Shape;57;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 name="Google Shape;58;p13"/>
          <p:cNvSpPr txBox="1"/>
          <p:nvPr/>
        </p:nvSpPr>
        <p:spPr>
          <a:xfrm>
            <a:off x="4679925" y="4222825"/>
            <a:ext cx="4143900" cy="440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1200">
                <a:solidFill>
                  <a:srgbClr val="FFFFFF"/>
                </a:solidFill>
                <a:latin typeface="Poppins"/>
                <a:ea typeface="Poppins"/>
                <a:cs typeface="Poppins"/>
                <a:sym typeface="Poppins"/>
              </a:rPr>
              <a:t>Source Code: </a:t>
            </a:r>
            <a:r>
              <a:rPr lang="en" sz="1200" u="sng">
                <a:solidFill>
                  <a:srgbClr val="00FFFF"/>
                </a:solidFill>
                <a:latin typeface="Poppins"/>
                <a:ea typeface="Poppins"/>
                <a:cs typeface="Poppins"/>
                <a:sym typeface="Poppins"/>
                <a:hlinkClick r:id="rId4">
                  <a:extLst>
                    <a:ext uri="{A12FA001-AC4F-418D-AE19-62706E023703}">
                      <ahyp:hlinkClr val="tx"/>
                    </a:ext>
                  </a:extLst>
                </a:hlinkClick>
              </a:rPr>
              <a:t>https://github.com/edutjie/drug-ocr</a:t>
            </a:r>
            <a:endParaRPr sz="1200">
              <a:solidFill>
                <a:srgbClr val="00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 name="Shape 62"/>
        <p:cNvGrpSpPr/>
        <p:nvPr/>
      </p:nvGrpSpPr>
      <p:grpSpPr>
        <a:xfrm>
          <a:off x="0" y="0"/>
          <a:ext cx="0" cy="0"/>
          <a:chOff x="0" y="0"/>
          <a:chExt cx="0" cy="0"/>
        </a:xfrm>
      </p:grpSpPr>
      <p:sp>
        <p:nvSpPr>
          <p:cNvPr id="63" name="Google Shape;63;p14"/>
          <p:cNvSpPr txBox="1"/>
          <p:nvPr/>
        </p:nvSpPr>
        <p:spPr>
          <a:xfrm>
            <a:off x="722150" y="475975"/>
            <a:ext cx="6145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Problem Background</a:t>
            </a:r>
            <a:endParaRPr b="1" sz="2000">
              <a:solidFill>
                <a:srgbClr val="5038BC"/>
              </a:solidFill>
              <a:latin typeface="Poppins"/>
              <a:ea typeface="Poppins"/>
              <a:cs typeface="Poppins"/>
              <a:sym typeface="Poppins"/>
            </a:endParaRPr>
          </a:p>
        </p:txBody>
      </p:sp>
      <p:sp>
        <p:nvSpPr>
          <p:cNvPr id="64" name="Google Shape;64;p14"/>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txBox="1"/>
          <p:nvPr/>
        </p:nvSpPr>
        <p:spPr>
          <a:xfrm>
            <a:off x="1499100" y="1406650"/>
            <a:ext cx="6145800" cy="1305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1600"/>
              <a:buFont typeface="Arial"/>
              <a:buNone/>
            </a:pPr>
            <a:r>
              <a:rPr lang="en" sz="1300">
                <a:latin typeface="Nunito"/>
                <a:ea typeface="Nunito"/>
                <a:cs typeface="Nunito"/>
                <a:sym typeface="Nunito"/>
              </a:rPr>
              <a:t>In healthcare, the multitude of drug brands poses a challenge for professionals who must swiftly and </a:t>
            </a:r>
            <a:r>
              <a:rPr b="1" lang="en" sz="1300">
                <a:latin typeface="Nunito"/>
                <a:ea typeface="Nunito"/>
                <a:cs typeface="Nunito"/>
                <a:sym typeface="Nunito"/>
              </a:rPr>
              <a:t>accurately identify them</a:t>
            </a:r>
            <a:r>
              <a:rPr lang="en" sz="1300">
                <a:latin typeface="Nunito"/>
                <a:ea typeface="Nunito"/>
                <a:cs typeface="Nunito"/>
                <a:sym typeface="Nunito"/>
              </a:rPr>
              <a:t>. This is crucial for administering the right medication, preventing adverse reactions, and ensuring optimal patient outcomes. The diversity of drugs makes </a:t>
            </a:r>
            <a:r>
              <a:rPr b="1" lang="en" sz="1300">
                <a:latin typeface="Nunito"/>
                <a:ea typeface="Nunito"/>
                <a:cs typeface="Nunito"/>
                <a:sym typeface="Nunito"/>
              </a:rPr>
              <a:t>quick identification essential </a:t>
            </a:r>
            <a:r>
              <a:rPr lang="en" sz="1300">
                <a:latin typeface="Nunito"/>
                <a:ea typeface="Nunito"/>
                <a:cs typeface="Nunito"/>
                <a:sym typeface="Nunito"/>
              </a:rPr>
              <a:t>for pharmacists, nurses, and physicians.</a:t>
            </a:r>
            <a:endParaRPr sz="1300">
              <a:latin typeface="Nunito"/>
              <a:ea typeface="Nunito"/>
              <a:cs typeface="Nunito"/>
              <a:sym typeface="Nunito"/>
            </a:endParaRPr>
          </a:p>
        </p:txBody>
      </p:sp>
      <p:sp>
        <p:nvSpPr>
          <p:cNvPr id="66" name="Google Shape;66;p14"/>
          <p:cNvSpPr txBox="1"/>
          <p:nvPr/>
        </p:nvSpPr>
        <p:spPr>
          <a:xfrm>
            <a:off x="1537350" y="3073450"/>
            <a:ext cx="6069300" cy="845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1600"/>
              <a:buFont typeface="Arial"/>
              <a:buNone/>
            </a:pPr>
            <a:r>
              <a:rPr lang="en" sz="1300">
                <a:latin typeface="Nunito"/>
                <a:ea typeface="Nunito"/>
                <a:cs typeface="Nunito"/>
                <a:sym typeface="Nunito"/>
              </a:rPr>
              <a:t>To address this, </a:t>
            </a:r>
            <a:r>
              <a:rPr b="1" lang="en" sz="1300">
                <a:latin typeface="Nunito"/>
                <a:ea typeface="Nunito"/>
                <a:cs typeface="Nunito"/>
                <a:sym typeface="Nunito"/>
              </a:rPr>
              <a:t>Optical Character Recognition (OCR) technology</a:t>
            </a:r>
            <a:r>
              <a:rPr lang="en" sz="1300">
                <a:latin typeface="Nunito"/>
                <a:ea typeface="Nunito"/>
                <a:cs typeface="Nunito"/>
                <a:sym typeface="Nunito"/>
              </a:rPr>
              <a:t> is increasingly employed, automating the process and aligning with the broader trend of digitization in healthcare.</a:t>
            </a:r>
            <a:endParaRPr i="0" sz="1300" u="none" cap="none" strike="noStrike">
              <a:solidFill>
                <a:srgbClr val="000000"/>
              </a:solidFill>
              <a:latin typeface="Nunito"/>
              <a:ea typeface="Nunito"/>
              <a:cs typeface="Nunito"/>
              <a:sym typeface="Nunito"/>
            </a:endParaRPr>
          </a:p>
        </p:txBody>
      </p:sp>
      <p:cxnSp>
        <p:nvCxnSpPr>
          <p:cNvPr id="67" name="Google Shape;67;p14"/>
          <p:cNvCxnSpPr>
            <a:stCxn id="65" idx="2"/>
            <a:endCxn id="66" idx="0"/>
          </p:cNvCxnSpPr>
          <p:nvPr/>
        </p:nvCxnSpPr>
        <p:spPr>
          <a:xfrm>
            <a:off x="4572000" y="2711950"/>
            <a:ext cx="0" cy="361500"/>
          </a:xfrm>
          <a:prstGeom prst="straightConnector1">
            <a:avLst/>
          </a:prstGeom>
          <a:noFill/>
          <a:ln cap="flat" cmpd="sng" w="9525">
            <a:solidFill>
              <a:srgbClr val="595959"/>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pic>
        <p:nvPicPr>
          <p:cNvPr id="72" name="Google Shape;72;p15"/>
          <p:cNvPicPr preferRelativeResize="0"/>
          <p:nvPr/>
        </p:nvPicPr>
        <p:blipFill>
          <a:blip r:embed="rId4">
            <a:alphaModFix/>
          </a:blip>
          <a:stretch>
            <a:fillRect/>
          </a:stretch>
        </p:blipFill>
        <p:spPr>
          <a:xfrm>
            <a:off x="5479375" y="2783500"/>
            <a:ext cx="1905775" cy="1905775"/>
          </a:xfrm>
          <a:prstGeom prst="rect">
            <a:avLst/>
          </a:prstGeom>
          <a:noFill/>
          <a:ln>
            <a:noFill/>
          </a:ln>
        </p:spPr>
      </p:pic>
      <p:pic>
        <p:nvPicPr>
          <p:cNvPr id="73" name="Google Shape;73;p15"/>
          <p:cNvPicPr preferRelativeResize="0"/>
          <p:nvPr/>
        </p:nvPicPr>
        <p:blipFill rotWithShape="1">
          <a:blip r:embed="rId5">
            <a:alphaModFix/>
          </a:blip>
          <a:srcRect b="13832" l="0" r="0" t="-2555"/>
          <a:stretch/>
        </p:blipFill>
        <p:spPr>
          <a:xfrm>
            <a:off x="1636475" y="2835225"/>
            <a:ext cx="1905776" cy="1690900"/>
          </a:xfrm>
          <a:prstGeom prst="rect">
            <a:avLst/>
          </a:prstGeom>
          <a:noFill/>
          <a:ln>
            <a:noFill/>
          </a:ln>
        </p:spPr>
      </p:pic>
      <p:sp>
        <p:nvSpPr>
          <p:cNvPr id="74" name="Google Shape;74;p15"/>
          <p:cNvSpPr txBox="1"/>
          <p:nvPr/>
        </p:nvSpPr>
        <p:spPr>
          <a:xfrm>
            <a:off x="722150" y="453475"/>
            <a:ext cx="6145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D</a:t>
            </a:r>
            <a:r>
              <a:rPr b="1" lang="en" sz="2000">
                <a:solidFill>
                  <a:srgbClr val="5038BC"/>
                </a:solidFill>
                <a:latin typeface="Poppins"/>
                <a:ea typeface="Poppins"/>
                <a:cs typeface="Poppins"/>
                <a:sym typeface="Poppins"/>
              </a:rPr>
              <a:t>ataset</a:t>
            </a:r>
            <a:endParaRPr b="1" sz="2000">
              <a:solidFill>
                <a:srgbClr val="5038BC"/>
              </a:solidFill>
              <a:latin typeface="Poppins"/>
              <a:ea typeface="Poppins"/>
              <a:cs typeface="Poppins"/>
              <a:sym typeface="Poppins"/>
            </a:endParaRPr>
          </a:p>
        </p:txBody>
      </p:sp>
      <p:sp>
        <p:nvSpPr>
          <p:cNvPr id="75" name="Google Shape;75;p15"/>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1580750" y="1284850"/>
            <a:ext cx="20172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Train Dataset</a:t>
            </a:r>
            <a:endParaRPr/>
          </a:p>
        </p:txBody>
      </p:sp>
      <p:sp>
        <p:nvSpPr>
          <p:cNvPr id="77" name="Google Shape;77;p15"/>
          <p:cNvSpPr/>
          <p:nvPr/>
        </p:nvSpPr>
        <p:spPr>
          <a:xfrm>
            <a:off x="5555850" y="1294200"/>
            <a:ext cx="20172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Test </a:t>
            </a:r>
            <a:r>
              <a:rPr lang="en"/>
              <a:t>Dataset</a:t>
            </a:r>
            <a:endParaRPr/>
          </a:p>
        </p:txBody>
      </p:sp>
      <p:pic>
        <p:nvPicPr>
          <p:cNvPr id="78" name="Google Shape;78;p15"/>
          <p:cNvPicPr preferRelativeResize="0"/>
          <p:nvPr/>
        </p:nvPicPr>
        <p:blipFill>
          <a:blip r:embed="rId6">
            <a:alphaModFix/>
          </a:blip>
          <a:stretch>
            <a:fillRect/>
          </a:stretch>
        </p:blipFill>
        <p:spPr>
          <a:xfrm>
            <a:off x="938050" y="1789300"/>
            <a:ext cx="1564900" cy="1564900"/>
          </a:xfrm>
          <a:prstGeom prst="rect">
            <a:avLst/>
          </a:prstGeom>
          <a:noFill/>
          <a:ln>
            <a:noFill/>
          </a:ln>
        </p:spPr>
      </p:pic>
      <p:pic>
        <p:nvPicPr>
          <p:cNvPr id="79" name="Google Shape;79;p15"/>
          <p:cNvPicPr preferRelativeResize="0"/>
          <p:nvPr/>
        </p:nvPicPr>
        <p:blipFill>
          <a:blip r:embed="rId7">
            <a:alphaModFix/>
          </a:blip>
          <a:stretch>
            <a:fillRect/>
          </a:stretch>
        </p:blipFill>
        <p:spPr>
          <a:xfrm>
            <a:off x="2655350" y="1861050"/>
            <a:ext cx="1564900" cy="1564900"/>
          </a:xfrm>
          <a:prstGeom prst="rect">
            <a:avLst/>
          </a:prstGeom>
          <a:noFill/>
          <a:ln>
            <a:noFill/>
          </a:ln>
        </p:spPr>
      </p:pic>
      <p:pic>
        <p:nvPicPr>
          <p:cNvPr id="80" name="Google Shape;80;p15"/>
          <p:cNvPicPr preferRelativeResize="0"/>
          <p:nvPr/>
        </p:nvPicPr>
        <p:blipFill>
          <a:blip r:embed="rId8">
            <a:alphaModFix/>
          </a:blip>
          <a:stretch>
            <a:fillRect/>
          </a:stretch>
        </p:blipFill>
        <p:spPr>
          <a:xfrm>
            <a:off x="4935825" y="1973775"/>
            <a:ext cx="1870750" cy="1339450"/>
          </a:xfrm>
          <a:prstGeom prst="rect">
            <a:avLst/>
          </a:prstGeom>
          <a:noFill/>
          <a:ln>
            <a:noFill/>
          </a:ln>
        </p:spPr>
      </p:pic>
      <p:pic>
        <p:nvPicPr>
          <p:cNvPr id="81" name="Google Shape;81;p15"/>
          <p:cNvPicPr preferRelativeResize="0"/>
          <p:nvPr/>
        </p:nvPicPr>
        <p:blipFill rotWithShape="1">
          <a:blip r:embed="rId9">
            <a:alphaModFix/>
          </a:blip>
          <a:srcRect b="8851" l="17939" r="0" t="0"/>
          <a:stretch/>
        </p:blipFill>
        <p:spPr>
          <a:xfrm>
            <a:off x="7098550" y="1829799"/>
            <a:ext cx="1335450" cy="1483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sp>
        <p:nvSpPr>
          <p:cNvPr id="86" name="Google Shape;86;p16"/>
          <p:cNvSpPr txBox="1"/>
          <p:nvPr/>
        </p:nvSpPr>
        <p:spPr>
          <a:xfrm>
            <a:off x="722150" y="475975"/>
            <a:ext cx="4752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OCR Model</a:t>
            </a:r>
            <a:endParaRPr b="1" sz="2000">
              <a:solidFill>
                <a:srgbClr val="5038BC"/>
              </a:solidFill>
              <a:latin typeface="Poppins"/>
              <a:ea typeface="Poppins"/>
              <a:cs typeface="Poppins"/>
              <a:sym typeface="Poppins"/>
            </a:endParaRPr>
          </a:p>
        </p:txBody>
      </p:sp>
      <p:sp>
        <p:nvSpPr>
          <p:cNvPr id="87" name="Google Shape;87;p16"/>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667025" y="1155800"/>
            <a:ext cx="3222900" cy="921600"/>
          </a:xfrm>
          <a:prstGeom prst="rect">
            <a:avLst/>
          </a:prstGeom>
          <a:solidFill>
            <a:srgbClr val="F2EFFF"/>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latin typeface="Nunito"/>
                <a:ea typeface="Nunito"/>
                <a:cs typeface="Nunito"/>
                <a:sym typeface="Nunito"/>
              </a:rPr>
              <a:t>We’re using </a:t>
            </a:r>
            <a:r>
              <a:rPr b="1" lang="en">
                <a:latin typeface="Nunito"/>
                <a:ea typeface="Nunito"/>
                <a:cs typeface="Nunito"/>
                <a:sym typeface="Nunito"/>
              </a:rPr>
              <a:t>PaddleOCR </a:t>
            </a:r>
            <a:r>
              <a:rPr lang="en">
                <a:latin typeface="Nunito"/>
                <a:ea typeface="Nunito"/>
                <a:cs typeface="Nunito"/>
                <a:sym typeface="Nunito"/>
              </a:rPr>
              <a:t>as the pretrained model</a:t>
            </a:r>
            <a:endParaRPr>
              <a:solidFill>
                <a:srgbClr val="000000"/>
              </a:solidFill>
              <a:latin typeface="Nunito"/>
              <a:ea typeface="Nunito"/>
              <a:cs typeface="Nunito"/>
              <a:sym typeface="Nunito"/>
            </a:endParaRPr>
          </a:p>
        </p:txBody>
      </p:sp>
      <p:pic>
        <p:nvPicPr>
          <p:cNvPr id="89" name="Google Shape;89;p16"/>
          <p:cNvPicPr preferRelativeResize="0"/>
          <p:nvPr/>
        </p:nvPicPr>
        <p:blipFill rotWithShape="1">
          <a:blip r:embed="rId4">
            <a:alphaModFix/>
          </a:blip>
          <a:srcRect b="0" l="0" r="1759" t="0"/>
          <a:stretch/>
        </p:blipFill>
        <p:spPr>
          <a:xfrm>
            <a:off x="3965825" y="1155800"/>
            <a:ext cx="4669250" cy="2889300"/>
          </a:xfrm>
          <a:prstGeom prst="rect">
            <a:avLst/>
          </a:prstGeom>
          <a:noFill/>
          <a:ln>
            <a:noFill/>
          </a:ln>
        </p:spPr>
      </p:pic>
      <p:sp>
        <p:nvSpPr>
          <p:cNvPr id="90" name="Google Shape;90;p16"/>
          <p:cNvSpPr/>
          <p:nvPr/>
        </p:nvSpPr>
        <p:spPr>
          <a:xfrm>
            <a:off x="667025" y="2264625"/>
            <a:ext cx="3222900" cy="1780500"/>
          </a:xfrm>
          <a:prstGeom prst="rect">
            <a:avLst/>
          </a:prstGeom>
          <a:solidFill>
            <a:srgbClr val="F2EFFF"/>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a:latin typeface="Nunito"/>
                <a:ea typeface="Nunito"/>
                <a:cs typeface="Nunito"/>
                <a:sym typeface="Nunito"/>
              </a:rPr>
              <a:t>Problem:</a:t>
            </a:r>
            <a:endParaRPr b="1">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There are </a:t>
            </a:r>
            <a:r>
              <a:rPr b="1" lang="en">
                <a:latin typeface="Nunito"/>
                <a:ea typeface="Nunito"/>
                <a:cs typeface="Nunito"/>
                <a:sym typeface="Nunito"/>
              </a:rPr>
              <a:t>some words</a:t>
            </a:r>
            <a:r>
              <a:rPr lang="en">
                <a:latin typeface="Nunito"/>
                <a:ea typeface="Nunito"/>
                <a:cs typeface="Nunito"/>
                <a:sym typeface="Nunito"/>
              </a:rPr>
              <a:t> on the brand that </a:t>
            </a:r>
            <a:r>
              <a:rPr b="1" lang="en">
                <a:latin typeface="Nunito"/>
                <a:ea typeface="Nunito"/>
                <a:cs typeface="Nunito"/>
                <a:sym typeface="Nunito"/>
              </a:rPr>
              <a:t>can’t be detected</a:t>
            </a:r>
            <a:endParaRPr b="1">
              <a:latin typeface="Nunito"/>
              <a:ea typeface="Nunito"/>
              <a:cs typeface="Nunito"/>
              <a:sym typeface="Nunito"/>
            </a:endParaRPr>
          </a:p>
          <a:p>
            <a:pPr indent="-317500" lvl="0" marL="457200" rtl="0" algn="l">
              <a:spcBef>
                <a:spcPts val="0"/>
              </a:spcBef>
              <a:spcAft>
                <a:spcPts val="0"/>
              </a:spcAft>
              <a:buSzPts val="1400"/>
              <a:buFont typeface="Nunito"/>
              <a:buChar char="-"/>
            </a:pPr>
            <a:r>
              <a:rPr b="1" lang="en">
                <a:latin typeface="Nunito"/>
                <a:ea typeface="Nunito"/>
                <a:cs typeface="Nunito"/>
                <a:sym typeface="Nunito"/>
              </a:rPr>
              <a:t>Detects all word</a:t>
            </a:r>
            <a:r>
              <a:rPr lang="en">
                <a:latin typeface="Nunito"/>
                <a:ea typeface="Nunito"/>
                <a:cs typeface="Nunito"/>
                <a:sym typeface="Nunito"/>
              </a:rPr>
              <a:t> on the packaging</a:t>
            </a:r>
            <a:endParaRPr>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17"/>
          <p:cNvSpPr txBox="1"/>
          <p:nvPr/>
        </p:nvSpPr>
        <p:spPr>
          <a:xfrm>
            <a:off x="722150" y="475975"/>
            <a:ext cx="4752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Solution? Spelling Correction</a:t>
            </a:r>
            <a:endParaRPr b="1" sz="2000">
              <a:solidFill>
                <a:srgbClr val="5038BC"/>
              </a:solidFill>
              <a:latin typeface="Poppins"/>
              <a:ea typeface="Poppins"/>
              <a:cs typeface="Poppins"/>
              <a:sym typeface="Poppins"/>
            </a:endParaRPr>
          </a:p>
        </p:txBody>
      </p:sp>
      <p:sp>
        <p:nvSpPr>
          <p:cNvPr id="96" name="Google Shape;96;p17"/>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7"/>
          <p:cNvSpPr/>
          <p:nvPr/>
        </p:nvSpPr>
        <p:spPr>
          <a:xfrm>
            <a:off x="754800" y="1183600"/>
            <a:ext cx="7634400" cy="921600"/>
          </a:xfrm>
          <a:prstGeom prst="rect">
            <a:avLst/>
          </a:prstGeom>
          <a:solidFill>
            <a:srgbClr val="F2EFFF"/>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Nunito"/>
                <a:ea typeface="Nunito"/>
                <a:cs typeface="Nunito"/>
                <a:sym typeface="Nunito"/>
              </a:rPr>
              <a:t>Utilize </a:t>
            </a:r>
            <a:r>
              <a:rPr b="1" lang="en">
                <a:latin typeface="Nunito"/>
                <a:ea typeface="Nunito"/>
                <a:cs typeface="Nunito"/>
                <a:sym typeface="Nunito"/>
              </a:rPr>
              <a:t>Levenshtein</a:t>
            </a:r>
            <a:r>
              <a:rPr b="1" lang="en">
                <a:latin typeface="Nunito"/>
                <a:ea typeface="Nunito"/>
                <a:cs typeface="Nunito"/>
                <a:sym typeface="Nunito"/>
              </a:rPr>
              <a:t> Distance Algorithm</a:t>
            </a:r>
            <a:r>
              <a:rPr lang="en">
                <a:latin typeface="Nunito"/>
                <a:ea typeface="Nunito"/>
                <a:cs typeface="Nunito"/>
                <a:sym typeface="Nunito"/>
              </a:rPr>
              <a:t> to find the closest brand from the </a:t>
            </a:r>
            <a:r>
              <a:rPr b="1" lang="en">
                <a:latin typeface="Nunito"/>
                <a:ea typeface="Nunito"/>
                <a:cs typeface="Nunito"/>
                <a:sym typeface="Nunito"/>
              </a:rPr>
              <a:t>database </a:t>
            </a:r>
            <a:r>
              <a:rPr lang="en">
                <a:latin typeface="Nunito"/>
                <a:ea typeface="Nunito"/>
                <a:cs typeface="Nunito"/>
                <a:sym typeface="Nunito"/>
              </a:rPr>
              <a:t>(all brands from training dataset) with the detected words</a:t>
            </a:r>
            <a:endParaRPr>
              <a:solidFill>
                <a:srgbClr val="000000"/>
              </a:solidFill>
              <a:latin typeface="Nunito"/>
              <a:ea typeface="Nunito"/>
              <a:cs typeface="Nunito"/>
              <a:sym typeface="Nunito"/>
            </a:endParaRPr>
          </a:p>
        </p:txBody>
      </p:sp>
      <p:pic>
        <p:nvPicPr>
          <p:cNvPr id="98" name="Google Shape;98;p17"/>
          <p:cNvPicPr preferRelativeResize="0"/>
          <p:nvPr/>
        </p:nvPicPr>
        <p:blipFill>
          <a:blip r:embed="rId4">
            <a:alphaModFix/>
          </a:blip>
          <a:stretch>
            <a:fillRect/>
          </a:stretch>
        </p:blipFill>
        <p:spPr>
          <a:xfrm>
            <a:off x="2496388" y="2229800"/>
            <a:ext cx="4151225" cy="2298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 name="Shape 102"/>
        <p:cNvGrpSpPr/>
        <p:nvPr/>
      </p:nvGrpSpPr>
      <p:grpSpPr>
        <a:xfrm>
          <a:off x="0" y="0"/>
          <a:ext cx="0" cy="0"/>
          <a:chOff x="0" y="0"/>
          <a:chExt cx="0" cy="0"/>
        </a:xfrm>
      </p:grpSpPr>
      <p:sp>
        <p:nvSpPr>
          <p:cNvPr id="103" name="Google Shape;103;p18"/>
          <p:cNvSpPr txBox="1"/>
          <p:nvPr/>
        </p:nvSpPr>
        <p:spPr>
          <a:xfrm>
            <a:off x="722150" y="475975"/>
            <a:ext cx="4752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Brand Database</a:t>
            </a:r>
            <a:endParaRPr b="1" sz="2000">
              <a:solidFill>
                <a:srgbClr val="5038BC"/>
              </a:solidFill>
              <a:latin typeface="Poppins"/>
              <a:ea typeface="Poppins"/>
              <a:cs typeface="Poppins"/>
              <a:sym typeface="Poppins"/>
            </a:endParaRPr>
          </a:p>
        </p:txBody>
      </p:sp>
      <p:sp>
        <p:nvSpPr>
          <p:cNvPr id="104" name="Google Shape;104;p18"/>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8"/>
          <p:cNvSpPr/>
          <p:nvPr/>
        </p:nvSpPr>
        <p:spPr>
          <a:xfrm>
            <a:off x="754800" y="1183600"/>
            <a:ext cx="7634400" cy="916200"/>
          </a:xfrm>
          <a:prstGeom prst="rect">
            <a:avLst/>
          </a:prstGeom>
          <a:solidFill>
            <a:srgbClr val="F2EFFF"/>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a:latin typeface="Nunito"/>
                <a:ea typeface="Nunito"/>
                <a:cs typeface="Nunito"/>
                <a:sym typeface="Nunito"/>
              </a:rPr>
              <a:t>Collect </a:t>
            </a:r>
            <a:r>
              <a:rPr lang="en">
                <a:latin typeface="Nunito"/>
                <a:ea typeface="Nunito"/>
                <a:cs typeface="Nunito"/>
                <a:sym typeface="Nunito"/>
              </a:rPr>
              <a:t>all the brands from train dataset to create a database</a:t>
            </a:r>
            <a:endParaRPr>
              <a:solidFill>
                <a:srgbClr val="000000"/>
              </a:solidFill>
              <a:latin typeface="Nunito"/>
              <a:ea typeface="Nunito"/>
              <a:cs typeface="Nunito"/>
              <a:sym typeface="Nunito"/>
            </a:endParaRPr>
          </a:p>
        </p:txBody>
      </p:sp>
      <p:graphicFrame>
        <p:nvGraphicFramePr>
          <p:cNvPr id="106" name="Google Shape;106;p18"/>
          <p:cNvGraphicFramePr/>
          <p:nvPr/>
        </p:nvGraphicFramePr>
        <p:xfrm>
          <a:off x="754800" y="2314825"/>
          <a:ext cx="3000000" cy="3000000"/>
        </p:xfrm>
        <a:graphic>
          <a:graphicData uri="http://schemas.openxmlformats.org/drawingml/2006/table">
            <a:tbl>
              <a:tblPr>
                <a:noFill/>
                <a:tableStyleId>{5317A125-787E-4593-885D-AA47252468CA}</a:tableStyleId>
              </a:tblPr>
              <a:tblGrid>
                <a:gridCol w="7634400"/>
              </a:tblGrid>
              <a:tr h="381000">
                <a:tc>
                  <a:txBody>
                    <a:bodyPr/>
                    <a:lstStyle/>
                    <a:p>
                      <a:pPr indent="0" lvl="0" marL="0" rtl="0" algn="ctr">
                        <a:spcBef>
                          <a:spcPts val="0"/>
                        </a:spcBef>
                        <a:spcAft>
                          <a:spcPts val="0"/>
                        </a:spcAft>
                        <a:buNone/>
                      </a:pPr>
                      <a:r>
                        <a:rPr b="1" lang="en">
                          <a:latin typeface="Nunito"/>
                          <a:ea typeface="Nunito"/>
                          <a:cs typeface="Nunito"/>
                          <a:sym typeface="Nunito"/>
                        </a:rPr>
                        <a:t>Brands</a:t>
                      </a:r>
                      <a:endParaRPr b="1">
                        <a:latin typeface="Nunito"/>
                        <a:ea typeface="Nunito"/>
                        <a:cs typeface="Nunito"/>
                        <a:sym typeface="Nunito"/>
                      </a:endParaRPr>
                    </a:p>
                  </a:txBody>
                  <a:tcPr marT="91425" marB="91425" marR="91425" marL="91425">
                    <a:solidFill>
                      <a:srgbClr val="F2EFFF"/>
                    </a:solidFill>
                  </a:tcPr>
                </a:tc>
              </a:tr>
              <a:tr h="381000">
                <a:tc>
                  <a:txBody>
                    <a:bodyPr/>
                    <a:lstStyle/>
                    <a:p>
                      <a:pPr indent="0" lvl="0" marL="0" rtl="0" algn="ctr">
                        <a:spcBef>
                          <a:spcPts val="0"/>
                        </a:spcBef>
                        <a:spcAft>
                          <a:spcPts val="0"/>
                        </a:spcAft>
                        <a:buNone/>
                      </a:pPr>
                      <a:r>
                        <a:rPr lang="en">
                          <a:latin typeface="Nunito"/>
                          <a:ea typeface="Nunito"/>
                          <a:cs typeface="Nunito"/>
                          <a:sym typeface="Nunito"/>
                        </a:rPr>
                        <a:t>ABACAVIR</a:t>
                      </a:r>
                      <a:endParaRPr>
                        <a:latin typeface="Nunito"/>
                        <a:ea typeface="Nunito"/>
                        <a:cs typeface="Nunito"/>
                        <a:sym typeface="Nunito"/>
                      </a:endParaRPr>
                    </a:p>
                  </a:txBody>
                  <a:tcPr marT="91425" marB="91425" marR="91425" marL="91425"/>
                </a:tc>
              </a:tr>
              <a:tr h="381000">
                <a:tc>
                  <a:txBody>
                    <a:bodyPr/>
                    <a:lstStyle/>
                    <a:p>
                      <a:pPr indent="0" lvl="0" marL="0" rtl="0" algn="ctr">
                        <a:spcBef>
                          <a:spcPts val="0"/>
                        </a:spcBef>
                        <a:spcAft>
                          <a:spcPts val="0"/>
                        </a:spcAft>
                        <a:buNone/>
                      </a:pPr>
                      <a:r>
                        <a:rPr lang="en">
                          <a:latin typeface="Nunito"/>
                          <a:ea typeface="Nunito"/>
                          <a:cs typeface="Nunito"/>
                          <a:sym typeface="Nunito"/>
                        </a:rPr>
                        <a:t>ACARBOSE</a:t>
                      </a:r>
                      <a:endParaRPr>
                        <a:latin typeface="Nunito"/>
                        <a:ea typeface="Nunito"/>
                        <a:cs typeface="Nunito"/>
                        <a:sym typeface="Nunito"/>
                      </a:endParaRPr>
                    </a:p>
                  </a:txBody>
                  <a:tcPr marT="91425" marB="91425" marR="91425" marL="91425"/>
                </a:tc>
              </a:tr>
              <a:tr h="381000">
                <a:tc>
                  <a:txBody>
                    <a:bodyPr/>
                    <a:lstStyle/>
                    <a:p>
                      <a:pPr indent="0" lvl="0" marL="0" rtl="0" algn="ctr">
                        <a:spcBef>
                          <a:spcPts val="0"/>
                        </a:spcBef>
                        <a:spcAft>
                          <a:spcPts val="0"/>
                        </a:spcAft>
                        <a:buNone/>
                      </a:pPr>
                      <a:r>
                        <a:rPr lang="en">
                          <a:latin typeface="Nunito"/>
                          <a:ea typeface="Nunito"/>
                          <a:cs typeface="Nunito"/>
                          <a:sym typeface="Nunito"/>
                        </a:rPr>
                        <a:t>ACETYLCYSTEINE</a:t>
                      </a:r>
                      <a:endParaRPr>
                        <a:latin typeface="Nunito"/>
                        <a:ea typeface="Nunito"/>
                        <a:cs typeface="Nunito"/>
                        <a:sym typeface="Nunito"/>
                      </a:endParaRPr>
                    </a:p>
                  </a:txBody>
                  <a:tcPr marT="91425" marB="91425" marR="91425" marL="91425"/>
                </a:tc>
              </a:tr>
              <a:tr h="381000">
                <a:tc>
                  <a:txBody>
                    <a:bodyPr/>
                    <a:lstStyle/>
                    <a:p>
                      <a:pPr indent="0" lvl="0" marL="0" rtl="0" algn="ctr">
                        <a:spcBef>
                          <a:spcPts val="0"/>
                        </a:spcBef>
                        <a:spcAft>
                          <a:spcPts val="0"/>
                        </a:spcAft>
                        <a:buNone/>
                      </a:pPr>
                      <a:r>
                        <a:rPr lang="en">
                          <a:latin typeface="Nunito"/>
                          <a:ea typeface="Nunito"/>
                          <a:cs typeface="Nunito"/>
                          <a:sym typeface="Nunito"/>
                        </a:rPr>
                        <a:t>…</a:t>
                      </a:r>
                      <a:endParaRPr>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 name="Shape 110"/>
        <p:cNvGrpSpPr/>
        <p:nvPr/>
      </p:nvGrpSpPr>
      <p:grpSpPr>
        <a:xfrm>
          <a:off x="0" y="0"/>
          <a:ext cx="0" cy="0"/>
          <a:chOff x="0" y="0"/>
          <a:chExt cx="0" cy="0"/>
        </a:xfrm>
      </p:grpSpPr>
      <p:sp>
        <p:nvSpPr>
          <p:cNvPr id="111" name="Google Shape;111;p19"/>
          <p:cNvSpPr txBox="1"/>
          <p:nvPr/>
        </p:nvSpPr>
        <p:spPr>
          <a:xfrm>
            <a:off x="306250" y="366675"/>
            <a:ext cx="3135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t/>
            </a:r>
            <a:endParaRPr b="1" sz="800">
              <a:solidFill>
                <a:srgbClr val="434343"/>
              </a:solidFill>
              <a:latin typeface="Poppins"/>
              <a:ea typeface="Poppins"/>
              <a:cs typeface="Poppins"/>
              <a:sym typeface="Poppins"/>
            </a:endParaRPr>
          </a:p>
          <a:p>
            <a:pPr indent="0" lvl="0" marL="0" rtl="0" algn="ctr">
              <a:spcBef>
                <a:spcPts val="0"/>
              </a:spcBef>
              <a:spcAft>
                <a:spcPts val="0"/>
              </a:spcAft>
              <a:buNone/>
            </a:pPr>
            <a:r>
              <a:rPr b="1" lang="en" sz="2000">
                <a:solidFill>
                  <a:srgbClr val="5038BC"/>
                </a:solidFill>
                <a:latin typeface="Poppins"/>
                <a:ea typeface="Poppins"/>
                <a:cs typeface="Poppins"/>
                <a:sym typeface="Poppins"/>
              </a:rPr>
              <a:t>Modeling &amp; Results</a:t>
            </a:r>
            <a:endParaRPr b="1" sz="2000">
              <a:solidFill>
                <a:srgbClr val="5038BC"/>
              </a:solidFill>
              <a:latin typeface="Poppins"/>
              <a:ea typeface="Poppins"/>
              <a:cs typeface="Poppins"/>
              <a:sym typeface="Poppins"/>
            </a:endParaRPr>
          </a:p>
        </p:txBody>
      </p:sp>
      <p:sp>
        <p:nvSpPr>
          <p:cNvPr id="112" name="Google Shape;112;p19"/>
          <p:cNvSpPr/>
          <p:nvPr/>
        </p:nvSpPr>
        <p:spPr>
          <a:xfrm rot="5400000">
            <a:off x="1521796" y="50745"/>
            <a:ext cx="75000" cy="18465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9"/>
          <p:cNvSpPr/>
          <p:nvPr/>
        </p:nvSpPr>
        <p:spPr>
          <a:xfrm>
            <a:off x="636100" y="3440625"/>
            <a:ext cx="7634400" cy="736500"/>
          </a:xfrm>
          <a:prstGeom prst="rect">
            <a:avLst/>
          </a:prstGeom>
          <a:solidFill>
            <a:srgbClr val="E6E0FE"/>
          </a:solid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sz="600">
              <a:latin typeface="Nunito"/>
              <a:ea typeface="Nunito"/>
              <a:cs typeface="Nunito"/>
              <a:sym typeface="Nunito"/>
            </a:endParaRPr>
          </a:p>
          <a:p>
            <a:pPr indent="0" lvl="0" marL="0" rtl="0" algn="l">
              <a:spcBef>
                <a:spcPts val="0"/>
              </a:spcBef>
              <a:spcAft>
                <a:spcPts val="0"/>
              </a:spcAft>
              <a:buClr>
                <a:srgbClr val="000000"/>
              </a:buClr>
              <a:buSzPts val="1100"/>
              <a:buFont typeface="Arial"/>
              <a:buNone/>
            </a:pPr>
            <a:r>
              <a:rPr lang="en">
                <a:solidFill>
                  <a:schemeClr val="dk1"/>
                </a:solidFill>
                <a:latin typeface="Nunito"/>
                <a:ea typeface="Nunito"/>
                <a:cs typeface="Nunito"/>
                <a:sym typeface="Nunito"/>
              </a:rPr>
              <a:t>Based on the results, there are still some </a:t>
            </a:r>
            <a:r>
              <a:rPr b="1" lang="en">
                <a:solidFill>
                  <a:schemeClr val="dk1"/>
                </a:solidFill>
                <a:latin typeface="Nunito"/>
                <a:ea typeface="Nunito"/>
                <a:cs typeface="Nunito"/>
                <a:sym typeface="Nunito"/>
              </a:rPr>
              <a:t>error</a:t>
            </a:r>
            <a:r>
              <a:rPr lang="en">
                <a:solidFill>
                  <a:schemeClr val="dk1"/>
                </a:solidFill>
                <a:latin typeface="Nunito"/>
                <a:ea typeface="Nunito"/>
                <a:cs typeface="Nunito"/>
                <a:sym typeface="Nunito"/>
              </a:rPr>
              <a:t>. We can improve the result by doing </a:t>
            </a:r>
            <a:r>
              <a:rPr b="1" lang="en">
                <a:solidFill>
                  <a:schemeClr val="dk1"/>
                </a:solidFill>
                <a:latin typeface="Nunito"/>
                <a:ea typeface="Nunito"/>
                <a:cs typeface="Nunito"/>
                <a:sym typeface="Nunito"/>
              </a:rPr>
              <a:t>post-evaluation</a:t>
            </a:r>
            <a:r>
              <a:rPr lang="en">
                <a:solidFill>
                  <a:schemeClr val="dk1"/>
                </a:solidFill>
                <a:latin typeface="Nunito"/>
                <a:ea typeface="Nunito"/>
                <a:cs typeface="Nunito"/>
                <a:sym typeface="Nunito"/>
              </a:rPr>
              <a:t> on the dataset and prediction.</a:t>
            </a:r>
            <a:endParaRPr>
              <a:latin typeface="Nunito"/>
              <a:ea typeface="Nunito"/>
              <a:cs typeface="Nunito"/>
              <a:sym typeface="Nunito"/>
            </a:endParaRPr>
          </a:p>
          <a:p>
            <a:pPr indent="0" lvl="0" marL="0" rtl="0" algn="l">
              <a:spcBef>
                <a:spcPts val="1000"/>
              </a:spcBef>
              <a:spcAft>
                <a:spcPts val="0"/>
              </a:spcAft>
              <a:buNone/>
            </a:pPr>
            <a:r>
              <a:t/>
            </a:r>
            <a:endParaRPr b="1">
              <a:latin typeface="Nunito"/>
              <a:ea typeface="Nunito"/>
              <a:cs typeface="Nunito"/>
              <a:sym typeface="Nunito"/>
            </a:endParaRPr>
          </a:p>
        </p:txBody>
      </p:sp>
      <p:graphicFrame>
        <p:nvGraphicFramePr>
          <p:cNvPr id="114" name="Google Shape;114;p19"/>
          <p:cNvGraphicFramePr/>
          <p:nvPr/>
        </p:nvGraphicFramePr>
        <p:xfrm>
          <a:off x="636050" y="1592125"/>
          <a:ext cx="3000000" cy="3000000"/>
        </p:xfrm>
        <a:graphic>
          <a:graphicData uri="http://schemas.openxmlformats.org/drawingml/2006/table">
            <a:tbl>
              <a:tblPr>
                <a:noFill/>
                <a:tableStyleId>{5317A125-787E-4593-885D-AA47252468CA}</a:tableStyleId>
              </a:tblPr>
              <a:tblGrid>
                <a:gridCol w="3817200"/>
                <a:gridCol w="3817200"/>
              </a:tblGrid>
              <a:tr h="381000">
                <a:tc>
                  <a:txBody>
                    <a:bodyPr/>
                    <a:lstStyle/>
                    <a:p>
                      <a:pPr indent="0" lvl="0" marL="0" rtl="0" algn="ctr">
                        <a:spcBef>
                          <a:spcPts val="0"/>
                        </a:spcBef>
                        <a:spcAft>
                          <a:spcPts val="0"/>
                        </a:spcAft>
                        <a:buNone/>
                      </a:pPr>
                      <a:r>
                        <a:rPr b="1" lang="en">
                          <a:latin typeface="Nunito"/>
                          <a:ea typeface="Nunito"/>
                          <a:cs typeface="Nunito"/>
                          <a:sym typeface="Nunito"/>
                        </a:rPr>
                        <a:t>Metrics</a:t>
                      </a:r>
                      <a:endParaRPr b="1">
                        <a:latin typeface="Nunito"/>
                        <a:ea typeface="Nunito"/>
                        <a:cs typeface="Nunito"/>
                        <a:sym typeface="Nunito"/>
                      </a:endParaRPr>
                    </a:p>
                  </a:txBody>
                  <a:tcPr marT="91425" marB="91425" marR="91425" marL="91425">
                    <a:solidFill>
                      <a:srgbClr val="F2EFFF"/>
                    </a:solidFill>
                  </a:tcPr>
                </a:tc>
                <a:tc>
                  <a:txBody>
                    <a:bodyPr/>
                    <a:lstStyle/>
                    <a:p>
                      <a:pPr indent="0" lvl="0" marL="0" rtl="0" algn="ctr">
                        <a:spcBef>
                          <a:spcPts val="0"/>
                        </a:spcBef>
                        <a:spcAft>
                          <a:spcPts val="0"/>
                        </a:spcAft>
                        <a:buNone/>
                      </a:pPr>
                      <a:r>
                        <a:rPr b="1" lang="en">
                          <a:latin typeface="Nunito"/>
                          <a:ea typeface="Nunito"/>
                          <a:cs typeface="Nunito"/>
                          <a:sym typeface="Nunito"/>
                        </a:rPr>
                        <a:t>Score</a:t>
                      </a:r>
                      <a:endParaRPr b="1">
                        <a:latin typeface="Nunito"/>
                        <a:ea typeface="Nunito"/>
                        <a:cs typeface="Nunito"/>
                        <a:sym typeface="Nunito"/>
                      </a:endParaRPr>
                    </a:p>
                  </a:txBody>
                  <a:tcPr marT="91425" marB="91425" marR="91425" marL="91425">
                    <a:solidFill>
                      <a:srgbClr val="F2EFFF"/>
                    </a:solidFill>
                  </a:tcPr>
                </a:tc>
              </a:tr>
              <a:tr h="381000">
                <a:tc>
                  <a:txBody>
                    <a:bodyPr/>
                    <a:lstStyle/>
                    <a:p>
                      <a:pPr indent="0" lvl="0" marL="0" rtl="0" algn="ctr">
                        <a:spcBef>
                          <a:spcPts val="0"/>
                        </a:spcBef>
                        <a:spcAft>
                          <a:spcPts val="0"/>
                        </a:spcAft>
                        <a:buNone/>
                      </a:pPr>
                      <a:r>
                        <a:rPr lang="en">
                          <a:latin typeface="Nunito"/>
                          <a:ea typeface="Nunito"/>
                          <a:cs typeface="Nunito"/>
                          <a:sym typeface="Nunito"/>
                        </a:rPr>
                        <a:t>Accuracy</a:t>
                      </a:r>
                      <a:endParaRPr>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a:latin typeface="Nunito"/>
                          <a:ea typeface="Nunito"/>
                          <a:cs typeface="Nunito"/>
                          <a:sym typeface="Nunito"/>
                        </a:rPr>
                        <a:t>82.57%</a:t>
                      </a:r>
                      <a:endParaRPr>
                        <a:latin typeface="Nunito"/>
                        <a:ea typeface="Nunito"/>
                        <a:cs typeface="Nunito"/>
                        <a:sym typeface="Nunito"/>
                      </a:endParaRPr>
                    </a:p>
                  </a:txBody>
                  <a:tcPr marT="91425" marB="91425" marR="91425" marL="91425"/>
                </a:tc>
              </a:tr>
              <a:tr h="381000">
                <a:tc>
                  <a:txBody>
                    <a:bodyPr/>
                    <a:lstStyle/>
                    <a:p>
                      <a:pPr indent="0" lvl="0" marL="0" rtl="0" algn="ctr">
                        <a:spcBef>
                          <a:spcPts val="0"/>
                        </a:spcBef>
                        <a:spcAft>
                          <a:spcPts val="0"/>
                        </a:spcAft>
                        <a:buNone/>
                      </a:pPr>
                      <a:r>
                        <a:rPr lang="en">
                          <a:latin typeface="Nunito"/>
                          <a:ea typeface="Nunito"/>
                          <a:cs typeface="Nunito"/>
                          <a:sym typeface="Nunito"/>
                        </a:rPr>
                        <a:t>WER</a:t>
                      </a:r>
                      <a:endParaRPr>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a:latin typeface="Nunito"/>
                          <a:ea typeface="Nunito"/>
                          <a:cs typeface="Nunito"/>
                          <a:sym typeface="Nunito"/>
                        </a:rPr>
                        <a:t>0.19475</a:t>
                      </a:r>
                      <a:endParaRPr>
                        <a:latin typeface="Nunito"/>
                        <a:ea typeface="Nunito"/>
                        <a:cs typeface="Nunito"/>
                        <a:sym typeface="Nunito"/>
                      </a:endParaRPr>
                    </a:p>
                  </a:txBody>
                  <a:tcPr marT="91425" marB="91425" marR="91425" marL="91425"/>
                </a:tc>
              </a:tr>
              <a:tr h="381000">
                <a:tc>
                  <a:txBody>
                    <a:bodyPr/>
                    <a:lstStyle/>
                    <a:p>
                      <a:pPr indent="0" lvl="0" marL="0" rtl="0" algn="ctr">
                        <a:spcBef>
                          <a:spcPts val="0"/>
                        </a:spcBef>
                        <a:spcAft>
                          <a:spcPts val="0"/>
                        </a:spcAft>
                        <a:buNone/>
                      </a:pPr>
                      <a:r>
                        <a:rPr lang="en">
                          <a:latin typeface="Nunito"/>
                          <a:ea typeface="Nunito"/>
                          <a:cs typeface="Nunito"/>
                          <a:sym typeface="Nunito"/>
                        </a:rPr>
                        <a:t>CER</a:t>
                      </a:r>
                      <a:endParaRPr>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a:latin typeface="Nunito"/>
                          <a:ea typeface="Nunito"/>
                          <a:cs typeface="Nunito"/>
                          <a:sym typeface="Nunito"/>
                        </a:rPr>
                        <a:t>0.16757</a:t>
                      </a:r>
                      <a:endParaRPr>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20"/>
          <p:cNvSpPr txBox="1"/>
          <p:nvPr/>
        </p:nvSpPr>
        <p:spPr>
          <a:xfrm>
            <a:off x="722150" y="475975"/>
            <a:ext cx="6793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Post Evaluation: Inconsistency in brand names (1)</a:t>
            </a:r>
            <a:endParaRPr b="1" sz="2000">
              <a:solidFill>
                <a:srgbClr val="5038BC"/>
              </a:solidFill>
              <a:latin typeface="Poppins"/>
              <a:ea typeface="Poppins"/>
              <a:cs typeface="Poppins"/>
              <a:sym typeface="Poppins"/>
            </a:endParaRPr>
          </a:p>
        </p:txBody>
      </p:sp>
      <p:sp>
        <p:nvSpPr>
          <p:cNvPr id="120" name="Google Shape;120;p20"/>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txBox="1"/>
          <p:nvPr/>
        </p:nvSpPr>
        <p:spPr>
          <a:xfrm>
            <a:off x="1043025" y="1907050"/>
            <a:ext cx="3000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a:solidFill>
                  <a:schemeClr val="dk1"/>
                </a:solidFill>
                <a:latin typeface="Nunito"/>
                <a:ea typeface="Nunito"/>
                <a:cs typeface="Nunito"/>
                <a:sym typeface="Nunito"/>
              </a:rPr>
              <a:t>Glucobay</a:t>
            </a:r>
            <a:endParaRPr b="1">
              <a:solidFill>
                <a:schemeClr val="dk1"/>
              </a:solidFill>
              <a:latin typeface="Nunito"/>
              <a:ea typeface="Nunito"/>
              <a:cs typeface="Nunito"/>
              <a:sym typeface="Nunito"/>
            </a:endParaRPr>
          </a:p>
        </p:txBody>
      </p:sp>
      <p:sp>
        <p:nvSpPr>
          <p:cNvPr id="122" name="Google Shape;122;p20"/>
          <p:cNvSpPr txBox="1"/>
          <p:nvPr/>
        </p:nvSpPr>
        <p:spPr>
          <a:xfrm>
            <a:off x="4986718" y="1945150"/>
            <a:ext cx="32748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a:solidFill>
                  <a:schemeClr val="dk1"/>
                </a:solidFill>
                <a:latin typeface="Nunito"/>
                <a:ea typeface="Nunito"/>
                <a:cs typeface="Nunito"/>
                <a:sym typeface="Nunito"/>
              </a:rPr>
              <a:t>Has the same meaning as </a:t>
            </a:r>
            <a:r>
              <a:rPr b="1" lang="en">
                <a:solidFill>
                  <a:schemeClr val="dk1"/>
                </a:solidFill>
                <a:latin typeface="Nunito"/>
                <a:ea typeface="Nunito"/>
                <a:cs typeface="Nunito"/>
                <a:sym typeface="Nunito"/>
              </a:rPr>
              <a:t>Acarbose</a:t>
            </a:r>
            <a:endParaRPr b="1"/>
          </a:p>
        </p:txBody>
      </p:sp>
      <p:sp>
        <p:nvSpPr>
          <p:cNvPr id="123" name="Google Shape;123;p20"/>
          <p:cNvSpPr/>
          <p:nvPr/>
        </p:nvSpPr>
        <p:spPr>
          <a:xfrm>
            <a:off x="754800" y="3830575"/>
            <a:ext cx="7634400" cy="736500"/>
          </a:xfrm>
          <a:prstGeom prst="rect">
            <a:avLst/>
          </a:prstGeom>
          <a:solidFill>
            <a:srgbClr val="E6E0FE"/>
          </a:solid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solidFill>
                  <a:schemeClr val="dk1"/>
                </a:solidFill>
                <a:latin typeface="Nunito"/>
                <a:ea typeface="Nunito"/>
                <a:cs typeface="Nunito"/>
                <a:sym typeface="Nunito"/>
              </a:rPr>
              <a:t>T</a:t>
            </a:r>
            <a:r>
              <a:rPr lang="en">
                <a:solidFill>
                  <a:schemeClr val="dk1"/>
                </a:solidFill>
                <a:latin typeface="Nunito"/>
                <a:ea typeface="Nunito"/>
                <a:cs typeface="Nunito"/>
                <a:sym typeface="Nunito"/>
              </a:rPr>
              <a:t>here are some drug images that </a:t>
            </a:r>
            <a:r>
              <a:rPr b="1" lang="en">
                <a:solidFill>
                  <a:schemeClr val="dk1"/>
                </a:solidFill>
                <a:latin typeface="Nunito"/>
                <a:ea typeface="Nunito"/>
                <a:cs typeface="Nunito"/>
                <a:sym typeface="Nunito"/>
              </a:rPr>
              <a:t>don’t have the brand name that should be predicted</a:t>
            </a:r>
            <a:r>
              <a:rPr lang="en">
                <a:solidFill>
                  <a:schemeClr val="dk1"/>
                </a:solidFill>
                <a:latin typeface="Nunito"/>
                <a:ea typeface="Nunito"/>
                <a:cs typeface="Nunito"/>
                <a:sym typeface="Nunito"/>
              </a:rPr>
              <a:t>, but it </a:t>
            </a:r>
            <a:r>
              <a:rPr b="1" lang="en">
                <a:solidFill>
                  <a:schemeClr val="dk1"/>
                </a:solidFill>
                <a:latin typeface="Nunito"/>
                <a:ea typeface="Nunito"/>
                <a:cs typeface="Nunito"/>
                <a:sym typeface="Nunito"/>
              </a:rPr>
              <a:t>has the same meaning as the brand that should be predicted</a:t>
            </a:r>
            <a:r>
              <a:rPr lang="en">
                <a:solidFill>
                  <a:schemeClr val="dk1"/>
                </a:solidFill>
                <a:latin typeface="Nunito"/>
                <a:ea typeface="Nunito"/>
                <a:cs typeface="Nunito"/>
                <a:sym typeface="Nunito"/>
              </a:rPr>
              <a:t>.</a:t>
            </a:r>
            <a:endParaRPr>
              <a:latin typeface="Nunito"/>
              <a:ea typeface="Nunito"/>
              <a:cs typeface="Nunito"/>
              <a:sym typeface="Nunito"/>
            </a:endParaRPr>
          </a:p>
          <a:p>
            <a:pPr indent="0" lvl="0" marL="0" rtl="0" algn="l">
              <a:spcBef>
                <a:spcPts val="1000"/>
              </a:spcBef>
              <a:spcAft>
                <a:spcPts val="0"/>
              </a:spcAft>
              <a:buNone/>
            </a:pPr>
            <a:r>
              <a:t/>
            </a:r>
            <a:endParaRPr b="1">
              <a:latin typeface="Nunito"/>
              <a:ea typeface="Nunito"/>
              <a:cs typeface="Nunito"/>
              <a:sym typeface="Nunito"/>
            </a:endParaRPr>
          </a:p>
        </p:txBody>
      </p:sp>
      <p:pic>
        <p:nvPicPr>
          <p:cNvPr id="124" name="Google Shape;124;p20"/>
          <p:cNvPicPr preferRelativeResize="0"/>
          <p:nvPr/>
        </p:nvPicPr>
        <p:blipFill rotWithShape="1">
          <a:blip r:embed="rId4">
            <a:alphaModFix/>
          </a:blip>
          <a:srcRect b="51468" l="0" r="0" t="0"/>
          <a:stretch/>
        </p:blipFill>
        <p:spPr>
          <a:xfrm>
            <a:off x="1592275" y="875500"/>
            <a:ext cx="2066925" cy="1072475"/>
          </a:xfrm>
          <a:prstGeom prst="rect">
            <a:avLst/>
          </a:prstGeom>
          <a:noFill/>
          <a:ln>
            <a:noFill/>
          </a:ln>
        </p:spPr>
      </p:pic>
      <p:pic>
        <p:nvPicPr>
          <p:cNvPr id="125" name="Google Shape;125;p20"/>
          <p:cNvPicPr preferRelativeResize="0"/>
          <p:nvPr/>
        </p:nvPicPr>
        <p:blipFill>
          <a:blip r:embed="rId5">
            <a:alphaModFix/>
          </a:blip>
          <a:stretch>
            <a:fillRect/>
          </a:stretch>
        </p:blipFill>
        <p:spPr>
          <a:xfrm>
            <a:off x="5820587" y="919077"/>
            <a:ext cx="1607068" cy="1150650"/>
          </a:xfrm>
          <a:prstGeom prst="rect">
            <a:avLst/>
          </a:prstGeom>
          <a:noFill/>
          <a:ln>
            <a:noFill/>
          </a:ln>
        </p:spPr>
      </p:pic>
      <p:cxnSp>
        <p:nvCxnSpPr>
          <p:cNvPr id="126" name="Google Shape;126;p20"/>
          <p:cNvCxnSpPr/>
          <p:nvPr/>
        </p:nvCxnSpPr>
        <p:spPr>
          <a:xfrm>
            <a:off x="3907325" y="1606050"/>
            <a:ext cx="1328100" cy="0"/>
          </a:xfrm>
          <a:prstGeom prst="straightConnector1">
            <a:avLst/>
          </a:prstGeom>
          <a:noFill/>
          <a:ln cap="flat" cmpd="sng" w="9525">
            <a:solidFill>
              <a:schemeClr val="dk2"/>
            </a:solidFill>
            <a:prstDash val="solid"/>
            <a:round/>
            <a:headEnd len="med" w="med" type="none"/>
            <a:tailEnd len="med" w="med" type="triangle"/>
          </a:ln>
        </p:spPr>
      </p:cxnSp>
      <p:sp>
        <p:nvSpPr>
          <p:cNvPr id="127" name="Google Shape;127;p20"/>
          <p:cNvSpPr txBox="1"/>
          <p:nvPr/>
        </p:nvSpPr>
        <p:spPr>
          <a:xfrm>
            <a:off x="1043013" y="2307250"/>
            <a:ext cx="30000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Precose</a:t>
            </a:r>
            <a:endParaRPr sz="1200">
              <a:solidFill>
                <a:schemeClr val="dk1"/>
              </a:solidFill>
              <a:latin typeface="Nunito"/>
              <a:ea typeface="Nunito"/>
              <a:cs typeface="Nunito"/>
              <a:sym typeface="Nunito"/>
            </a:endParaRPr>
          </a:p>
        </p:txBody>
      </p:sp>
      <p:sp>
        <p:nvSpPr>
          <p:cNvPr id="128" name="Google Shape;128;p20"/>
          <p:cNvSpPr txBox="1"/>
          <p:nvPr/>
        </p:nvSpPr>
        <p:spPr>
          <a:xfrm>
            <a:off x="1043013" y="2548975"/>
            <a:ext cx="30000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Humira</a:t>
            </a:r>
            <a:endParaRPr sz="1200">
              <a:solidFill>
                <a:schemeClr val="dk1"/>
              </a:solidFill>
              <a:latin typeface="Nunito"/>
              <a:ea typeface="Nunito"/>
              <a:cs typeface="Nunito"/>
              <a:sym typeface="Nunito"/>
            </a:endParaRPr>
          </a:p>
        </p:txBody>
      </p:sp>
      <p:sp>
        <p:nvSpPr>
          <p:cNvPr id="129" name="Google Shape;129;p20"/>
          <p:cNvSpPr txBox="1"/>
          <p:nvPr/>
        </p:nvSpPr>
        <p:spPr>
          <a:xfrm>
            <a:off x="1043013" y="2824863"/>
            <a:ext cx="30000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Mallinckrodt</a:t>
            </a:r>
            <a:endParaRPr sz="1200">
              <a:solidFill>
                <a:schemeClr val="dk1"/>
              </a:solidFill>
              <a:latin typeface="Nunito"/>
              <a:ea typeface="Nunito"/>
              <a:cs typeface="Nunito"/>
              <a:sym typeface="Nunito"/>
            </a:endParaRPr>
          </a:p>
        </p:txBody>
      </p:sp>
      <p:sp>
        <p:nvSpPr>
          <p:cNvPr id="130" name="Google Shape;130;p20"/>
          <p:cNvSpPr txBox="1"/>
          <p:nvPr/>
        </p:nvSpPr>
        <p:spPr>
          <a:xfrm>
            <a:off x="1043025" y="3097438"/>
            <a:ext cx="30000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Ensidol</a:t>
            </a:r>
            <a:endParaRPr sz="1200">
              <a:solidFill>
                <a:schemeClr val="dk1"/>
              </a:solidFill>
              <a:latin typeface="Nunito"/>
              <a:ea typeface="Nunito"/>
              <a:cs typeface="Nunito"/>
              <a:sym typeface="Nunito"/>
            </a:endParaRPr>
          </a:p>
        </p:txBody>
      </p:sp>
      <p:sp>
        <p:nvSpPr>
          <p:cNvPr id="131" name="Google Shape;131;p20"/>
          <p:cNvSpPr txBox="1"/>
          <p:nvPr/>
        </p:nvSpPr>
        <p:spPr>
          <a:xfrm>
            <a:off x="1043013" y="3342488"/>
            <a:ext cx="30000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Anafranil</a:t>
            </a:r>
            <a:endParaRPr sz="1200">
              <a:solidFill>
                <a:schemeClr val="dk1"/>
              </a:solidFill>
              <a:latin typeface="Nunito"/>
              <a:ea typeface="Nunito"/>
              <a:cs typeface="Nunito"/>
              <a:sym typeface="Nunito"/>
            </a:endParaRPr>
          </a:p>
        </p:txBody>
      </p:sp>
      <p:sp>
        <p:nvSpPr>
          <p:cNvPr id="132" name="Google Shape;132;p20"/>
          <p:cNvSpPr txBox="1"/>
          <p:nvPr/>
        </p:nvSpPr>
        <p:spPr>
          <a:xfrm>
            <a:off x="4986718" y="2291800"/>
            <a:ext cx="32748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Has the same meaning as </a:t>
            </a:r>
            <a:r>
              <a:rPr lang="en" sz="1200">
                <a:solidFill>
                  <a:schemeClr val="dk1"/>
                </a:solidFill>
                <a:latin typeface="Nunito"/>
                <a:ea typeface="Nunito"/>
                <a:cs typeface="Nunito"/>
                <a:sym typeface="Nunito"/>
              </a:rPr>
              <a:t>Acarbose</a:t>
            </a:r>
            <a:endParaRPr sz="1200"/>
          </a:p>
        </p:txBody>
      </p:sp>
      <p:sp>
        <p:nvSpPr>
          <p:cNvPr id="133" name="Google Shape;133;p20"/>
          <p:cNvSpPr txBox="1"/>
          <p:nvPr/>
        </p:nvSpPr>
        <p:spPr>
          <a:xfrm>
            <a:off x="4986718" y="2548975"/>
            <a:ext cx="32748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Has the same meaning as </a:t>
            </a:r>
            <a:r>
              <a:rPr lang="en" sz="1200">
                <a:solidFill>
                  <a:schemeClr val="dk1"/>
                </a:solidFill>
                <a:latin typeface="Nunito"/>
                <a:ea typeface="Nunito"/>
                <a:cs typeface="Nunito"/>
                <a:sym typeface="Nunito"/>
              </a:rPr>
              <a:t>Adalimumab</a:t>
            </a:r>
            <a:endParaRPr sz="1200"/>
          </a:p>
        </p:txBody>
      </p:sp>
      <p:sp>
        <p:nvSpPr>
          <p:cNvPr id="134" name="Google Shape;134;p20"/>
          <p:cNvSpPr txBox="1"/>
          <p:nvPr/>
        </p:nvSpPr>
        <p:spPr>
          <a:xfrm>
            <a:off x="4986718" y="2824875"/>
            <a:ext cx="32748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Has the same meaning as </a:t>
            </a:r>
            <a:r>
              <a:rPr lang="en" sz="1200">
                <a:solidFill>
                  <a:schemeClr val="dk1"/>
                </a:solidFill>
                <a:latin typeface="Nunito"/>
                <a:ea typeface="Nunito"/>
                <a:cs typeface="Nunito"/>
                <a:sym typeface="Nunito"/>
              </a:rPr>
              <a:t>Codipront</a:t>
            </a:r>
            <a:endParaRPr sz="1200"/>
          </a:p>
        </p:txBody>
      </p:sp>
      <p:sp>
        <p:nvSpPr>
          <p:cNvPr id="135" name="Google Shape;135;p20"/>
          <p:cNvSpPr txBox="1"/>
          <p:nvPr/>
        </p:nvSpPr>
        <p:spPr>
          <a:xfrm>
            <a:off x="4986718" y="3097450"/>
            <a:ext cx="32748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Has the same meaning as </a:t>
            </a:r>
            <a:r>
              <a:rPr lang="en" sz="1200">
                <a:solidFill>
                  <a:schemeClr val="dk1"/>
                </a:solidFill>
                <a:latin typeface="Nunito"/>
                <a:ea typeface="Nunito"/>
                <a:cs typeface="Nunito"/>
                <a:sym typeface="Nunito"/>
              </a:rPr>
              <a:t>Etodolac</a:t>
            </a:r>
            <a:endParaRPr sz="1200"/>
          </a:p>
        </p:txBody>
      </p:sp>
      <p:sp>
        <p:nvSpPr>
          <p:cNvPr id="136" name="Google Shape;136;p20"/>
          <p:cNvSpPr txBox="1"/>
          <p:nvPr/>
        </p:nvSpPr>
        <p:spPr>
          <a:xfrm>
            <a:off x="4986718" y="3357950"/>
            <a:ext cx="32748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200">
                <a:solidFill>
                  <a:schemeClr val="dk1"/>
                </a:solidFill>
                <a:latin typeface="Nunito"/>
                <a:ea typeface="Nunito"/>
                <a:cs typeface="Nunito"/>
                <a:sym typeface="Nunito"/>
              </a:rPr>
              <a:t>Has the same meaning as Etodolac</a:t>
            </a:r>
            <a:endParaRPr sz="1200"/>
          </a:p>
        </p:txBody>
      </p:sp>
      <p:cxnSp>
        <p:nvCxnSpPr>
          <p:cNvPr id="137" name="Google Shape;137;p20"/>
          <p:cNvCxnSpPr/>
          <p:nvPr/>
        </p:nvCxnSpPr>
        <p:spPr>
          <a:xfrm>
            <a:off x="3489625" y="2491900"/>
            <a:ext cx="1328100" cy="0"/>
          </a:xfrm>
          <a:prstGeom prst="straightConnector1">
            <a:avLst/>
          </a:prstGeom>
          <a:noFill/>
          <a:ln cap="flat" cmpd="sng" w="9525">
            <a:solidFill>
              <a:schemeClr val="dk2"/>
            </a:solidFill>
            <a:prstDash val="solid"/>
            <a:round/>
            <a:headEnd len="med" w="med" type="none"/>
            <a:tailEnd len="med" w="med" type="triangle"/>
          </a:ln>
        </p:spPr>
      </p:cxnSp>
      <p:cxnSp>
        <p:nvCxnSpPr>
          <p:cNvPr id="138" name="Google Shape;138;p20"/>
          <p:cNvCxnSpPr/>
          <p:nvPr/>
        </p:nvCxnSpPr>
        <p:spPr>
          <a:xfrm>
            <a:off x="3489625" y="2733625"/>
            <a:ext cx="1328100" cy="0"/>
          </a:xfrm>
          <a:prstGeom prst="straightConnector1">
            <a:avLst/>
          </a:prstGeom>
          <a:noFill/>
          <a:ln cap="flat" cmpd="sng" w="9525">
            <a:solidFill>
              <a:schemeClr val="dk2"/>
            </a:solidFill>
            <a:prstDash val="solid"/>
            <a:round/>
            <a:headEnd len="med" w="med" type="none"/>
            <a:tailEnd len="med" w="med" type="triangle"/>
          </a:ln>
        </p:spPr>
      </p:cxnSp>
      <p:cxnSp>
        <p:nvCxnSpPr>
          <p:cNvPr id="139" name="Google Shape;139;p20"/>
          <p:cNvCxnSpPr/>
          <p:nvPr/>
        </p:nvCxnSpPr>
        <p:spPr>
          <a:xfrm>
            <a:off x="3489625" y="3009525"/>
            <a:ext cx="1328100" cy="0"/>
          </a:xfrm>
          <a:prstGeom prst="straightConnector1">
            <a:avLst/>
          </a:prstGeom>
          <a:noFill/>
          <a:ln cap="flat" cmpd="sng" w="9525">
            <a:solidFill>
              <a:schemeClr val="dk2"/>
            </a:solidFill>
            <a:prstDash val="solid"/>
            <a:round/>
            <a:headEnd len="med" w="med" type="none"/>
            <a:tailEnd len="med" w="med" type="triangle"/>
          </a:ln>
        </p:spPr>
      </p:cxnSp>
      <p:cxnSp>
        <p:nvCxnSpPr>
          <p:cNvPr id="140" name="Google Shape;140;p20"/>
          <p:cNvCxnSpPr/>
          <p:nvPr/>
        </p:nvCxnSpPr>
        <p:spPr>
          <a:xfrm>
            <a:off x="3489625" y="3282100"/>
            <a:ext cx="1328100" cy="0"/>
          </a:xfrm>
          <a:prstGeom prst="straightConnector1">
            <a:avLst/>
          </a:prstGeom>
          <a:noFill/>
          <a:ln cap="flat" cmpd="sng" w="9525">
            <a:solidFill>
              <a:schemeClr val="dk2"/>
            </a:solidFill>
            <a:prstDash val="solid"/>
            <a:round/>
            <a:headEnd len="med" w="med" type="none"/>
            <a:tailEnd len="med" w="med" type="triangle"/>
          </a:ln>
        </p:spPr>
      </p:cxnSp>
      <p:cxnSp>
        <p:nvCxnSpPr>
          <p:cNvPr id="141" name="Google Shape;141;p20"/>
          <p:cNvCxnSpPr/>
          <p:nvPr/>
        </p:nvCxnSpPr>
        <p:spPr>
          <a:xfrm>
            <a:off x="3489625" y="3527150"/>
            <a:ext cx="1328100" cy="0"/>
          </a:xfrm>
          <a:prstGeom prst="straightConnector1">
            <a:avLst/>
          </a:prstGeom>
          <a:noFill/>
          <a:ln cap="flat" cmpd="sng" w="9525">
            <a:solidFill>
              <a:schemeClr val="dk2"/>
            </a:solidFill>
            <a:prstDash val="solid"/>
            <a:round/>
            <a:headEnd len="med" w="med" type="none"/>
            <a:tailEnd len="med" w="med" type="triangle"/>
          </a:ln>
        </p:spPr>
      </p:cxnSp>
      <p:cxnSp>
        <p:nvCxnSpPr>
          <p:cNvPr id="142" name="Google Shape;142;p20"/>
          <p:cNvCxnSpPr/>
          <p:nvPr/>
        </p:nvCxnSpPr>
        <p:spPr>
          <a:xfrm>
            <a:off x="750875" y="2322150"/>
            <a:ext cx="7592100" cy="0"/>
          </a:xfrm>
          <a:prstGeom prst="straightConnector1">
            <a:avLst/>
          </a:prstGeom>
          <a:noFill/>
          <a:ln cap="flat" cmpd="sng" w="9525">
            <a:solidFill>
              <a:schemeClr val="dk2"/>
            </a:solidFill>
            <a:prstDash val="solid"/>
            <a:round/>
            <a:headEnd len="med" w="med" type="none"/>
            <a:tailEnd len="med" w="med" type="none"/>
          </a:ln>
        </p:spPr>
      </p:cxnSp>
      <p:sp>
        <p:nvSpPr>
          <p:cNvPr id="143" name="Google Shape;143;p20"/>
          <p:cNvSpPr txBox="1"/>
          <p:nvPr/>
        </p:nvSpPr>
        <p:spPr>
          <a:xfrm>
            <a:off x="750867" y="2291788"/>
            <a:ext cx="9948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latin typeface="Nunito"/>
                <a:ea typeface="Nunito"/>
                <a:cs typeface="Nunito"/>
                <a:sym typeface="Nunito"/>
              </a:rPr>
              <a:t>Else</a:t>
            </a:r>
            <a:endParaRPr sz="1200">
              <a:solidFill>
                <a:schemeClr val="dk1"/>
              </a:solidFill>
              <a:latin typeface="Nunito"/>
              <a:ea typeface="Nunito"/>
              <a:cs typeface="Nunito"/>
              <a:sym typeface="Nunito"/>
            </a:endParaRPr>
          </a:p>
        </p:txBody>
      </p:sp>
      <p:sp>
        <p:nvSpPr>
          <p:cNvPr id="144" name="Google Shape;144;p20"/>
          <p:cNvSpPr txBox="1"/>
          <p:nvPr/>
        </p:nvSpPr>
        <p:spPr>
          <a:xfrm>
            <a:off x="750867" y="932488"/>
            <a:ext cx="9948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latin typeface="Nunito"/>
                <a:ea typeface="Nunito"/>
                <a:cs typeface="Nunito"/>
                <a:sym typeface="Nunito"/>
              </a:rPr>
              <a:t>Example</a:t>
            </a:r>
            <a:endParaRPr sz="1200">
              <a:solidFill>
                <a:schemeClr val="dk1"/>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pic>
        <p:nvPicPr>
          <p:cNvPr id="149" name="Google Shape;149;p21"/>
          <p:cNvPicPr preferRelativeResize="0"/>
          <p:nvPr/>
        </p:nvPicPr>
        <p:blipFill rotWithShape="1">
          <a:blip r:embed="rId4">
            <a:alphaModFix/>
          </a:blip>
          <a:srcRect b="0" l="0" r="5195" t="0"/>
          <a:stretch/>
        </p:blipFill>
        <p:spPr>
          <a:xfrm>
            <a:off x="1306450" y="1124925"/>
            <a:ext cx="6132801" cy="3234326"/>
          </a:xfrm>
          <a:prstGeom prst="rect">
            <a:avLst/>
          </a:prstGeom>
          <a:noFill/>
          <a:ln>
            <a:noFill/>
          </a:ln>
        </p:spPr>
      </p:pic>
      <p:sp>
        <p:nvSpPr>
          <p:cNvPr id="150" name="Google Shape;150;p21"/>
          <p:cNvSpPr txBox="1"/>
          <p:nvPr/>
        </p:nvSpPr>
        <p:spPr>
          <a:xfrm>
            <a:off x="722150" y="475975"/>
            <a:ext cx="678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Post Evaluation: Inconsistency in brand names (2)</a:t>
            </a:r>
            <a:endParaRPr b="1" sz="2000">
              <a:solidFill>
                <a:srgbClr val="5038BC"/>
              </a:solidFill>
              <a:latin typeface="Poppins"/>
              <a:ea typeface="Poppins"/>
              <a:cs typeface="Poppins"/>
              <a:sym typeface="Poppins"/>
            </a:endParaRPr>
          </a:p>
        </p:txBody>
      </p:sp>
      <p:sp>
        <p:nvSpPr>
          <p:cNvPr id="151" name="Google Shape;151;p21"/>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1"/>
          <p:cNvSpPr/>
          <p:nvPr/>
        </p:nvSpPr>
        <p:spPr>
          <a:xfrm>
            <a:off x="4519175" y="2571738"/>
            <a:ext cx="3404100" cy="966300"/>
          </a:xfrm>
          <a:prstGeom prst="rect">
            <a:avLst/>
          </a:prstGeom>
          <a:solidFill>
            <a:srgbClr val="E6E0F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Nunito"/>
                <a:ea typeface="Nunito"/>
                <a:cs typeface="Nunito"/>
                <a:sym typeface="Nunito"/>
              </a:rPr>
              <a:t>The expected label is </a:t>
            </a:r>
            <a:r>
              <a:rPr b="1" lang="en">
                <a:solidFill>
                  <a:schemeClr val="dk1"/>
                </a:solidFill>
                <a:latin typeface="Nunito"/>
                <a:ea typeface="Nunito"/>
                <a:cs typeface="Nunito"/>
                <a:sym typeface="Nunito"/>
              </a:rPr>
              <a:t>“Paramol Forte” </a:t>
            </a:r>
            <a:r>
              <a:rPr lang="en">
                <a:solidFill>
                  <a:schemeClr val="dk1"/>
                </a:solidFill>
                <a:latin typeface="Nunito"/>
                <a:ea typeface="Nunito"/>
                <a:cs typeface="Nunito"/>
                <a:sym typeface="Nunito"/>
              </a:rPr>
              <a:t>but the given image only has </a:t>
            </a:r>
            <a:r>
              <a:rPr b="1" lang="en">
                <a:solidFill>
                  <a:schemeClr val="dk1"/>
                </a:solidFill>
                <a:latin typeface="Nunito"/>
                <a:ea typeface="Nunito"/>
                <a:cs typeface="Nunito"/>
                <a:sym typeface="Nunito"/>
              </a:rPr>
              <a:t>“Paramol” </a:t>
            </a:r>
            <a:r>
              <a:rPr lang="en">
                <a:solidFill>
                  <a:schemeClr val="dk1"/>
                </a:solidFill>
                <a:latin typeface="Nunito"/>
                <a:ea typeface="Nunito"/>
                <a:cs typeface="Nunito"/>
                <a:sym typeface="Nunito"/>
              </a:rPr>
              <a:t>text on it. So we have to handle it!</a:t>
            </a:r>
            <a:endParaRPr b="1">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pic>
        <p:nvPicPr>
          <p:cNvPr id="157" name="Google Shape;157;p22"/>
          <p:cNvPicPr preferRelativeResize="0"/>
          <p:nvPr/>
        </p:nvPicPr>
        <p:blipFill rotWithShape="1">
          <a:blip r:embed="rId4">
            <a:alphaModFix/>
          </a:blip>
          <a:srcRect b="0" l="0" r="1865" t="0"/>
          <a:stretch/>
        </p:blipFill>
        <p:spPr>
          <a:xfrm>
            <a:off x="1557775" y="1067225"/>
            <a:ext cx="5408676" cy="3149300"/>
          </a:xfrm>
          <a:prstGeom prst="rect">
            <a:avLst/>
          </a:prstGeom>
          <a:noFill/>
          <a:ln>
            <a:noFill/>
          </a:ln>
        </p:spPr>
      </p:pic>
      <p:sp>
        <p:nvSpPr>
          <p:cNvPr id="158" name="Google Shape;158;p22"/>
          <p:cNvSpPr txBox="1"/>
          <p:nvPr/>
        </p:nvSpPr>
        <p:spPr>
          <a:xfrm>
            <a:off x="722150" y="475975"/>
            <a:ext cx="678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Post Evaluation: Tricky label (1)</a:t>
            </a:r>
            <a:endParaRPr b="1" sz="2000">
              <a:solidFill>
                <a:srgbClr val="5038BC"/>
              </a:solidFill>
              <a:latin typeface="Poppins"/>
              <a:ea typeface="Poppins"/>
              <a:cs typeface="Poppins"/>
              <a:sym typeface="Poppins"/>
            </a:endParaRPr>
          </a:p>
        </p:txBody>
      </p:sp>
      <p:sp>
        <p:nvSpPr>
          <p:cNvPr id="159" name="Google Shape;159;p22"/>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2"/>
          <p:cNvSpPr/>
          <p:nvPr/>
        </p:nvSpPr>
        <p:spPr>
          <a:xfrm>
            <a:off x="4185450" y="1793075"/>
            <a:ext cx="4248000" cy="2684400"/>
          </a:xfrm>
          <a:prstGeom prst="rect">
            <a:avLst/>
          </a:prstGeom>
          <a:solidFill>
            <a:srgbClr val="E6E0FE"/>
          </a:solidFill>
          <a:ln>
            <a:noFill/>
          </a:ln>
        </p:spPr>
        <p:txBody>
          <a:bodyPr anchorCtr="0" anchor="t" bIns="91425" lIns="91425" spcFirstLastPara="1" rIns="91425" wrap="square" tIns="91425">
            <a:noAutofit/>
          </a:bodyPr>
          <a:lstStyle/>
          <a:p>
            <a:pPr indent="-146050" lvl="0" marL="2286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It can be seen in the image below, that the word </a:t>
            </a:r>
            <a:r>
              <a:rPr b="1" lang="en">
                <a:solidFill>
                  <a:schemeClr val="dk1"/>
                </a:solidFill>
                <a:latin typeface="Nunito"/>
                <a:ea typeface="Nunito"/>
                <a:cs typeface="Nunito"/>
                <a:sym typeface="Nunito"/>
              </a:rPr>
              <a:t>"Caladine"</a:t>
            </a:r>
            <a:r>
              <a:rPr lang="en">
                <a:solidFill>
                  <a:schemeClr val="dk1"/>
                </a:solidFill>
                <a:latin typeface="Nunito"/>
                <a:ea typeface="Nunito"/>
                <a:cs typeface="Nunito"/>
                <a:sym typeface="Nunito"/>
              </a:rPr>
              <a:t> (which is wrongly predicted by the model to be </a:t>
            </a:r>
            <a:r>
              <a:rPr b="1" lang="en">
                <a:solidFill>
                  <a:schemeClr val="dk1"/>
                </a:solidFill>
                <a:latin typeface="Nunito"/>
                <a:ea typeface="Nunito"/>
                <a:cs typeface="Nunito"/>
                <a:sym typeface="Nunito"/>
              </a:rPr>
              <a:t>Calasine</a:t>
            </a:r>
            <a:r>
              <a:rPr lang="en">
                <a:solidFill>
                  <a:schemeClr val="dk1"/>
                </a:solidFill>
                <a:latin typeface="Nunito"/>
                <a:ea typeface="Nunito"/>
                <a:cs typeface="Nunito"/>
                <a:sym typeface="Nunito"/>
              </a:rPr>
              <a:t>) is separated from the word </a:t>
            </a:r>
            <a:r>
              <a:rPr b="1" lang="en">
                <a:solidFill>
                  <a:schemeClr val="dk1"/>
                </a:solidFill>
                <a:latin typeface="Nunito"/>
                <a:ea typeface="Nunito"/>
                <a:cs typeface="Nunito"/>
                <a:sym typeface="Nunito"/>
              </a:rPr>
              <a:t>"Lotion"</a:t>
            </a:r>
            <a:r>
              <a:rPr lang="en">
                <a:solidFill>
                  <a:schemeClr val="dk1"/>
                </a:solidFill>
                <a:latin typeface="Nunito"/>
                <a:ea typeface="Nunito"/>
                <a:cs typeface="Nunito"/>
                <a:sym typeface="Nunito"/>
              </a:rPr>
              <a:t>, so this can cause the edit distance of </a:t>
            </a:r>
            <a:r>
              <a:rPr b="1" lang="en">
                <a:solidFill>
                  <a:schemeClr val="dk1"/>
                </a:solidFill>
                <a:latin typeface="Nunito"/>
                <a:ea typeface="Nunito"/>
                <a:cs typeface="Nunito"/>
                <a:sym typeface="Nunito"/>
              </a:rPr>
              <a:t>"Caladine"</a:t>
            </a:r>
            <a:r>
              <a:rPr lang="en">
                <a:solidFill>
                  <a:schemeClr val="dk1"/>
                </a:solidFill>
                <a:latin typeface="Nunito"/>
                <a:ea typeface="Nunito"/>
                <a:cs typeface="Nunito"/>
                <a:sym typeface="Nunito"/>
              </a:rPr>
              <a:t> to </a:t>
            </a:r>
            <a:r>
              <a:rPr b="1" lang="en">
                <a:solidFill>
                  <a:schemeClr val="dk1"/>
                </a:solidFill>
                <a:latin typeface="Nunito"/>
                <a:ea typeface="Nunito"/>
                <a:cs typeface="Nunito"/>
                <a:sym typeface="Nunito"/>
              </a:rPr>
              <a:t>"Caladine Lotion"</a:t>
            </a:r>
            <a:r>
              <a:rPr lang="en">
                <a:solidFill>
                  <a:schemeClr val="dk1"/>
                </a:solidFill>
                <a:latin typeface="Nunito"/>
                <a:ea typeface="Nunito"/>
                <a:cs typeface="Nunito"/>
                <a:sym typeface="Nunito"/>
              </a:rPr>
              <a:t> to be </a:t>
            </a:r>
            <a:r>
              <a:rPr b="1" lang="en">
                <a:solidFill>
                  <a:schemeClr val="dk1"/>
                </a:solidFill>
                <a:latin typeface="Nunito"/>
                <a:ea typeface="Nunito"/>
                <a:cs typeface="Nunito"/>
                <a:sym typeface="Nunito"/>
              </a:rPr>
              <a:t>further away</a:t>
            </a:r>
            <a:r>
              <a:rPr lang="en">
                <a:solidFill>
                  <a:schemeClr val="dk1"/>
                </a:solidFill>
                <a:latin typeface="Nunito"/>
                <a:ea typeface="Nunito"/>
                <a:cs typeface="Nunito"/>
                <a:sym typeface="Nunito"/>
              </a:rPr>
              <a:t>. </a:t>
            </a:r>
            <a:endParaRPr>
              <a:solidFill>
                <a:schemeClr val="dk1"/>
              </a:solidFill>
              <a:latin typeface="Nunito"/>
              <a:ea typeface="Nunito"/>
              <a:cs typeface="Nunito"/>
              <a:sym typeface="Nunito"/>
            </a:endParaRPr>
          </a:p>
          <a:p>
            <a:pPr indent="-146050" lvl="0" marL="2286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Whereas in the word </a:t>
            </a:r>
            <a:r>
              <a:rPr b="1" lang="en">
                <a:solidFill>
                  <a:schemeClr val="dk1"/>
                </a:solidFill>
                <a:latin typeface="Nunito"/>
                <a:ea typeface="Nunito"/>
                <a:cs typeface="Nunito"/>
                <a:sym typeface="Nunito"/>
              </a:rPr>
              <a:t>"Calamine"</a:t>
            </a:r>
            <a:r>
              <a:rPr lang="en">
                <a:solidFill>
                  <a:schemeClr val="dk1"/>
                </a:solidFill>
                <a:latin typeface="Nunito"/>
                <a:ea typeface="Nunito"/>
                <a:cs typeface="Nunito"/>
                <a:sym typeface="Nunito"/>
              </a:rPr>
              <a:t>, there is also the word </a:t>
            </a:r>
            <a:r>
              <a:rPr b="1" lang="en">
                <a:solidFill>
                  <a:schemeClr val="dk1"/>
                </a:solidFill>
                <a:latin typeface="Nunito"/>
                <a:ea typeface="Nunito"/>
                <a:cs typeface="Nunito"/>
                <a:sym typeface="Nunito"/>
              </a:rPr>
              <a:t>"Calamine" </a:t>
            </a:r>
            <a:r>
              <a:rPr lang="en">
                <a:solidFill>
                  <a:schemeClr val="dk1"/>
                </a:solidFill>
                <a:latin typeface="Nunito"/>
                <a:ea typeface="Nunito"/>
                <a:cs typeface="Nunito"/>
                <a:sym typeface="Nunito"/>
              </a:rPr>
              <a:t>in the database</a:t>
            </a:r>
            <a:r>
              <a:rPr lang="en">
                <a:solidFill>
                  <a:schemeClr val="dk1"/>
                </a:solidFill>
                <a:latin typeface="Nunito"/>
                <a:ea typeface="Nunito"/>
                <a:cs typeface="Nunito"/>
                <a:sym typeface="Nunito"/>
              </a:rPr>
              <a:t> so the edit distance becomes closer.</a:t>
            </a:r>
            <a:endParaRPr>
              <a:solidFill>
                <a:schemeClr val="dk1"/>
              </a:solidFill>
              <a:latin typeface="Nunito"/>
              <a:ea typeface="Nunito"/>
              <a:cs typeface="Nunito"/>
              <a:sym typeface="Nunito"/>
            </a:endParaRPr>
          </a:p>
          <a:p>
            <a:pPr indent="-146050" lvl="0" marL="2286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To solve this problem, the word </a:t>
            </a:r>
            <a:r>
              <a:rPr b="1" lang="en">
                <a:solidFill>
                  <a:schemeClr val="dk1"/>
                </a:solidFill>
                <a:latin typeface="Nunito"/>
                <a:ea typeface="Nunito"/>
                <a:cs typeface="Nunito"/>
                <a:sym typeface="Nunito"/>
              </a:rPr>
              <a:t>"Calamine"</a:t>
            </a:r>
            <a:r>
              <a:rPr lang="en">
                <a:solidFill>
                  <a:schemeClr val="dk1"/>
                </a:solidFill>
                <a:latin typeface="Nunito"/>
                <a:ea typeface="Nunito"/>
                <a:cs typeface="Nunito"/>
                <a:sym typeface="Nunito"/>
              </a:rPr>
              <a:t> can be </a:t>
            </a:r>
            <a:r>
              <a:rPr b="1" lang="en">
                <a:solidFill>
                  <a:schemeClr val="dk1"/>
                </a:solidFill>
                <a:latin typeface="Nunito"/>
                <a:ea typeface="Nunito"/>
                <a:cs typeface="Nunito"/>
                <a:sym typeface="Nunito"/>
              </a:rPr>
              <a:t>removed from the detected text</a:t>
            </a:r>
            <a:r>
              <a:rPr lang="en">
                <a:solidFill>
                  <a:schemeClr val="dk1"/>
                </a:solidFill>
                <a:latin typeface="Nunito"/>
                <a:ea typeface="Nunito"/>
                <a:cs typeface="Nunito"/>
                <a:sym typeface="Nunito"/>
              </a:rPr>
              <a:t>, so that the closest word is the correct one.</a:t>
            </a:r>
            <a:endParaRPr>
              <a:solidFill>
                <a:schemeClr val="dk1"/>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pic>
        <p:nvPicPr>
          <p:cNvPr id="165" name="Google Shape;165;p23"/>
          <p:cNvPicPr preferRelativeResize="0"/>
          <p:nvPr/>
        </p:nvPicPr>
        <p:blipFill rotWithShape="1">
          <a:blip r:embed="rId4">
            <a:alphaModFix/>
          </a:blip>
          <a:srcRect b="0" l="0" r="2960" t="0"/>
          <a:stretch/>
        </p:blipFill>
        <p:spPr>
          <a:xfrm>
            <a:off x="951750" y="1023650"/>
            <a:ext cx="6139851" cy="3163699"/>
          </a:xfrm>
          <a:prstGeom prst="rect">
            <a:avLst/>
          </a:prstGeom>
          <a:noFill/>
          <a:ln>
            <a:noFill/>
          </a:ln>
        </p:spPr>
      </p:pic>
      <p:sp>
        <p:nvSpPr>
          <p:cNvPr id="166" name="Google Shape;166;p23"/>
          <p:cNvSpPr txBox="1"/>
          <p:nvPr/>
        </p:nvSpPr>
        <p:spPr>
          <a:xfrm>
            <a:off x="722150" y="475975"/>
            <a:ext cx="678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Post Evaluation: Tricky label (2)</a:t>
            </a:r>
            <a:endParaRPr b="1" sz="2000">
              <a:solidFill>
                <a:srgbClr val="5038BC"/>
              </a:solidFill>
              <a:latin typeface="Poppins"/>
              <a:ea typeface="Poppins"/>
              <a:cs typeface="Poppins"/>
              <a:sym typeface="Poppins"/>
            </a:endParaRPr>
          </a:p>
        </p:txBody>
      </p:sp>
      <p:sp>
        <p:nvSpPr>
          <p:cNvPr id="167" name="Google Shape;167;p23"/>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p:nvPr/>
        </p:nvSpPr>
        <p:spPr>
          <a:xfrm>
            <a:off x="3935175" y="2947900"/>
            <a:ext cx="4560900" cy="1279200"/>
          </a:xfrm>
          <a:prstGeom prst="rect">
            <a:avLst/>
          </a:prstGeom>
          <a:solidFill>
            <a:srgbClr val="E6E0FE"/>
          </a:solidFill>
          <a:ln>
            <a:noFill/>
          </a:ln>
        </p:spPr>
        <p:txBody>
          <a:bodyPr anchorCtr="0" anchor="t" bIns="91425" lIns="91425" spcFirstLastPara="1" rIns="91425" wrap="square" tIns="91425">
            <a:noAutofit/>
          </a:bodyPr>
          <a:lstStyle/>
          <a:p>
            <a:pPr indent="-146050" lvl="0" marL="2286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On the drug </a:t>
            </a:r>
            <a:r>
              <a:rPr b="1" lang="en">
                <a:solidFill>
                  <a:schemeClr val="dk1"/>
                </a:solidFill>
                <a:latin typeface="Nunito"/>
                <a:ea typeface="Nunito"/>
                <a:cs typeface="Nunito"/>
                <a:sym typeface="Nunito"/>
              </a:rPr>
              <a:t>“Fungiderm”</a:t>
            </a:r>
            <a:r>
              <a:rPr lang="en">
                <a:solidFill>
                  <a:schemeClr val="dk1"/>
                </a:solidFill>
                <a:latin typeface="Nunito"/>
                <a:ea typeface="Nunito"/>
                <a:cs typeface="Nunito"/>
                <a:sym typeface="Nunito"/>
              </a:rPr>
              <a:t>, it says </a:t>
            </a:r>
            <a:r>
              <a:rPr b="1" lang="en">
                <a:solidFill>
                  <a:schemeClr val="dk1"/>
                </a:solidFill>
                <a:latin typeface="Nunito"/>
                <a:ea typeface="Nunito"/>
                <a:cs typeface="Nunito"/>
                <a:sym typeface="Nunito"/>
              </a:rPr>
              <a:t>“Clotrimazole”</a:t>
            </a:r>
            <a:r>
              <a:rPr lang="en">
                <a:solidFill>
                  <a:schemeClr val="dk1"/>
                </a:solidFill>
                <a:latin typeface="Nunito"/>
                <a:ea typeface="Nunito"/>
                <a:cs typeface="Nunito"/>
                <a:sym typeface="Nunito"/>
              </a:rPr>
              <a:t>. The problem is that </a:t>
            </a:r>
            <a:r>
              <a:rPr b="1" lang="en">
                <a:solidFill>
                  <a:schemeClr val="dk1"/>
                </a:solidFill>
                <a:latin typeface="Nunito"/>
                <a:ea typeface="Nunito"/>
                <a:cs typeface="Nunito"/>
                <a:sym typeface="Nunito"/>
              </a:rPr>
              <a:t>“Clotrimazole” </a:t>
            </a:r>
            <a:r>
              <a:rPr lang="en">
                <a:solidFill>
                  <a:schemeClr val="dk1"/>
                </a:solidFill>
                <a:latin typeface="Nunito"/>
                <a:ea typeface="Nunito"/>
                <a:cs typeface="Nunito"/>
                <a:sym typeface="Nunito"/>
              </a:rPr>
              <a:t>is a drug that is on our database so spelling correction can be off.</a:t>
            </a:r>
            <a:endParaRPr>
              <a:solidFill>
                <a:schemeClr val="dk1"/>
              </a:solidFill>
              <a:latin typeface="Nunito"/>
              <a:ea typeface="Nunito"/>
              <a:cs typeface="Nunito"/>
              <a:sym typeface="Nunito"/>
            </a:endParaRPr>
          </a:p>
          <a:p>
            <a:pPr indent="-146050" lvl="0" marL="2286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The solution is to remove </a:t>
            </a:r>
            <a:r>
              <a:rPr b="1" lang="en">
                <a:solidFill>
                  <a:schemeClr val="dk1"/>
                </a:solidFill>
                <a:latin typeface="Nunito"/>
                <a:ea typeface="Nunito"/>
                <a:cs typeface="Nunito"/>
                <a:sym typeface="Nunito"/>
              </a:rPr>
              <a:t>“Clotrimazole” </a:t>
            </a:r>
            <a:r>
              <a:rPr lang="en">
                <a:solidFill>
                  <a:schemeClr val="dk1"/>
                </a:solidFill>
                <a:latin typeface="Nunito"/>
                <a:ea typeface="Nunito"/>
                <a:cs typeface="Nunito"/>
                <a:sym typeface="Nunito"/>
              </a:rPr>
              <a:t>from the detected text</a:t>
            </a:r>
            <a:endParaRPr>
              <a:solidFill>
                <a:schemeClr val="dk1"/>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p24"/>
          <p:cNvSpPr txBox="1"/>
          <p:nvPr/>
        </p:nvSpPr>
        <p:spPr>
          <a:xfrm>
            <a:off x="722150" y="475975"/>
            <a:ext cx="678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5038BC"/>
                </a:solidFill>
                <a:latin typeface="Poppins"/>
                <a:ea typeface="Poppins"/>
                <a:cs typeface="Poppins"/>
                <a:sym typeface="Poppins"/>
              </a:rPr>
              <a:t>Post Evaluation: </a:t>
            </a:r>
            <a:r>
              <a:rPr b="1" lang="en" sz="2000">
                <a:solidFill>
                  <a:srgbClr val="5038BC"/>
                </a:solidFill>
                <a:latin typeface="Poppins"/>
                <a:ea typeface="Poppins"/>
                <a:cs typeface="Poppins"/>
                <a:sym typeface="Poppins"/>
              </a:rPr>
              <a:t>Irrelevant</a:t>
            </a:r>
            <a:r>
              <a:rPr b="1" lang="en" sz="2000">
                <a:solidFill>
                  <a:srgbClr val="5038BC"/>
                </a:solidFill>
                <a:latin typeface="Poppins"/>
                <a:ea typeface="Poppins"/>
                <a:cs typeface="Poppins"/>
                <a:sym typeface="Poppins"/>
              </a:rPr>
              <a:t> Images</a:t>
            </a:r>
            <a:endParaRPr b="1" sz="2000">
              <a:solidFill>
                <a:srgbClr val="5038BC"/>
              </a:solidFill>
              <a:latin typeface="Poppins"/>
              <a:ea typeface="Poppins"/>
              <a:cs typeface="Poppins"/>
              <a:sym typeface="Poppins"/>
            </a:endParaRPr>
          </a:p>
        </p:txBody>
      </p:sp>
      <p:sp>
        <p:nvSpPr>
          <p:cNvPr id="174" name="Google Shape;174;p24"/>
          <p:cNvSpPr/>
          <p:nvPr/>
        </p:nvSpPr>
        <p:spPr>
          <a:xfrm>
            <a:off x="520250" y="525475"/>
            <a:ext cx="125700" cy="3936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5" name="Google Shape;175;p24"/>
          <p:cNvPicPr preferRelativeResize="0"/>
          <p:nvPr/>
        </p:nvPicPr>
        <p:blipFill rotWithShape="1">
          <a:blip r:embed="rId4">
            <a:alphaModFix/>
          </a:blip>
          <a:srcRect b="0" l="0" r="14537" t="0"/>
          <a:stretch/>
        </p:blipFill>
        <p:spPr>
          <a:xfrm>
            <a:off x="1115150" y="1141275"/>
            <a:ext cx="5128251" cy="3000300"/>
          </a:xfrm>
          <a:prstGeom prst="rect">
            <a:avLst/>
          </a:prstGeom>
          <a:noFill/>
          <a:ln>
            <a:noFill/>
          </a:ln>
        </p:spPr>
      </p:pic>
      <p:sp>
        <p:nvSpPr>
          <p:cNvPr id="176" name="Google Shape;176;p24"/>
          <p:cNvSpPr/>
          <p:nvPr/>
        </p:nvSpPr>
        <p:spPr>
          <a:xfrm>
            <a:off x="4248025" y="1849400"/>
            <a:ext cx="4421700" cy="2461200"/>
          </a:xfrm>
          <a:prstGeom prst="rect">
            <a:avLst/>
          </a:prstGeom>
          <a:solidFill>
            <a:srgbClr val="E6E0FE"/>
          </a:solidFill>
          <a:ln>
            <a:noFill/>
          </a:ln>
        </p:spPr>
        <p:txBody>
          <a:bodyPr anchorCtr="0" anchor="t" bIns="91425" lIns="91425" spcFirstLastPara="1" rIns="91425" wrap="square" tIns="91425">
            <a:noAutofit/>
          </a:bodyPr>
          <a:lstStyle/>
          <a:p>
            <a:pPr indent="-133350" lvl="0" marL="228600" rtl="0" algn="l">
              <a:spcBef>
                <a:spcPts val="0"/>
              </a:spcBef>
              <a:spcAft>
                <a:spcPts val="0"/>
              </a:spcAft>
              <a:buClr>
                <a:schemeClr val="dk1"/>
              </a:buClr>
              <a:buSzPts val="1200"/>
              <a:buFont typeface="Nunito"/>
              <a:buChar char="●"/>
            </a:pPr>
            <a:r>
              <a:rPr lang="en" sz="1200">
                <a:solidFill>
                  <a:schemeClr val="dk1"/>
                </a:solidFill>
                <a:latin typeface="Nunito"/>
                <a:ea typeface="Nunito"/>
                <a:cs typeface="Nunito"/>
                <a:sym typeface="Nunito"/>
              </a:rPr>
              <a:t>It can be seen in the testing dataset that the testing data sometimes contains images that are </a:t>
            </a:r>
            <a:r>
              <a:rPr b="1" lang="en" sz="1200">
                <a:solidFill>
                  <a:schemeClr val="dk1"/>
                </a:solidFill>
                <a:latin typeface="Nunito"/>
                <a:ea typeface="Nunito"/>
                <a:cs typeface="Nunito"/>
                <a:sym typeface="Nunito"/>
              </a:rPr>
              <a:t>not relevant to the text</a:t>
            </a:r>
            <a:r>
              <a:rPr lang="en" sz="1200">
                <a:solidFill>
                  <a:schemeClr val="dk1"/>
                </a:solidFill>
                <a:latin typeface="Nunito"/>
                <a:ea typeface="Nunito"/>
                <a:cs typeface="Nunito"/>
                <a:sym typeface="Nunito"/>
              </a:rPr>
              <a:t> (in this case OCR), so it will be an </a:t>
            </a:r>
            <a:r>
              <a:rPr b="1" lang="en" sz="1200">
                <a:solidFill>
                  <a:schemeClr val="dk1"/>
                </a:solidFill>
                <a:latin typeface="Nunito"/>
                <a:ea typeface="Nunito"/>
                <a:cs typeface="Nunito"/>
                <a:sym typeface="Nunito"/>
              </a:rPr>
              <a:t>impossible task</a:t>
            </a:r>
            <a:r>
              <a:rPr lang="en" sz="1200">
                <a:solidFill>
                  <a:schemeClr val="dk1"/>
                </a:solidFill>
                <a:latin typeface="Nunito"/>
                <a:ea typeface="Nunito"/>
                <a:cs typeface="Nunito"/>
                <a:sym typeface="Nunito"/>
              </a:rPr>
              <a:t> to do. From there our team found that the testing dataset has data that has</a:t>
            </a:r>
            <a:r>
              <a:rPr b="1" lang="en" sz="1200">
                <a:solidFill>
                  <a:schemeClr val="dk1"/>
                </a:solidFill>
                <a:latin typeface="Nunito"/>
                <a:ea typeface="Nunito"/>
                <a:cs typeface="Nunito"/>
                <a:sym typeface="Nunito"/>
              </a:rPr>
              <a:t> the same label sequentially every 10 data</a:t>
            </a:r>
            <a:r>
              <a:rPr lang="en" sz="1200">
                <a:solidFill>
                  <a:schemeClr val="dk1"/>
                </a:solidFill>
                <a:latin typeface="Nunito"/>
                <a:ea typeface="Nunito"/>
                <a:cs typeface="Nunito"/>
                <a:sym typeface="Nunito"/>
              </a:rPr>
              <a:t>, so we can do </a:t>
            </a:r>
            <a:r>
              <a:rPr b="1" lang="en" sz="1200">
                <a:solidFill>
                  <a:schemeClr val="dk1"/>
                </a:solidFill>
                <a:latin typeface="Nunito"/>
                <a:ea typeface="Nunito"/>
                <a:cs typeface="Nunito"/>
                <a:sym typeface="Nunito"/>
              </a:rPr>
              <a:t>post evaluation</a:t>
            </a:r>
            <a:r>
              <a:rPr lang="en" sz="1200">
                <a:solidFill>
                  <a:schemeClr val="dk1"/>
                </a:solidFill>
                <a:latin typeface="Nunito"/>
                <a:ea typeface="Nunito"/>
                <a:cs typeface="Nunito"/>
                <a:sym typeface="Nunito"/>
              </a:rPr>
              <a:t> by obtaining the </a:t>
            </a:r>
            <a:r>
              <a:rPr b="1" lang="en" sz="1200">
                <a:solidFill>
                  <a:schemeClr val="dk1"/>
                </a:solidFill>
                <a:latin typeface="Nunito"/>
                <a:ea typeface="Nunito"/>
                <a:cs typeface="Nunito"/>
                <a:sym typeface="Nunito"/>
              </a:rPr>
              <a:t>mode of each of the 10 data </a:t>
            </a:r>
            <a:r>
              <a:rPr lang="en" sz="1200">
                <a:solidFill>
                  <a:schemeClr val="dk1"/>
                </a:solidFill>
                <a:latin typeface="Nunito"/>
                <a:ea typeface="Nunito"/>
                <a:cs typeface="Nunito"/>
                <a:sym typeface="Nunito"/>
              </a:rPr>
              <a:t>and replacing the data with the mode.</a:t>
            </a:r>
            <a:endParaRPr sz="1200">
              <a:solidFill>
                <a:schemeClr val="dk1"/>
              </a:solidFill>
              <a:latin typeface="Nunito"/>
              <a:ea typeface="Nunito"/>
              <a:cs typeface="Nunito"/>
              <a:sym typeface="Nunito"/>
            </a:endParaRPr>
          </a:p>
          <a:p>
            <a:pPr indent="-133350" lvl="0" marL="228600" rtl="0" algn="l">
              <a:spcBef>
                <a:spcPts val="0"/>
              </a:spcBef>
              <a:spcAft>
                <a:spcPts val="0"/>
              </a:spcAft>
              <a:buClr>
                <a:schemeClr val="dk1"/>
              </a:buClr>
              <a:buSzPts val="1200"/>
              <a:buFont typeface="Nunito"/>
              <a:buChar char="●"/>
            </a:pPr>
            <a:r>
              <a:rPr lang="en" sz="1200">
                <a:solidFill>
                  <a:schemeClr val="dk1"/>
                </a:solidFill>
                <a:latin typeface="Nunito"/>
                <a:ea typeface="Nunito"/>
                <a:cs typeface="Nunito"/>
                <a:sym typeface="Nunito"/>
              </a:rPr>
              <a:t>For example, as in the image on the left, where the image has no text relevant to the label. However, we as humans understand that this image is still connected to the label around it, namely </a:t>
            </a:r>
            <a:r>
              <a:rPr b="1" lang="en" sz="1200">
                <a:solidFill>
                  <a:schemeClr val="dk1"/>
                </a:solidFill>
                <a:latin typeface="Nunito"/>
                <a:ea typeface="Nunito"/>
                <a:cs typeface="Nunito"/>
                <a:sym typeface="Nunito"/>
              </a:rPr>
              <a:t>"Callusol"</a:t>
            </a:r>
            <a:r>
              <a:rPr lang="en" sz="1200">
                <a:solidFill>
                  <a:schemeClr val="dk1"/>
                </a:solidFill>
                <a:latin typeface="Nunito"/>
                <a:ea typeface="Nunito"/>
                <a:cs typeface="Nunito"/>
                <a:sym typeface="Nunito"/>
              </a:rPr>
              <a:t> which is the medicine for the above disease.</a:t>
            </a:r>
            <a:endParaRPr sz="1200">
              <a:solidFill>
                <a:schemeClr val="dk1"/>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p25"/>
          <p:cNvSpPr txBox="1"/>
          <p:nvPr/>
        </p:nvSpPr>
        <p:spPr>
          <a:xfrm>
            <a:off x="636100" y="366675"/>
            <a:ext cx="5732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t/>
            </a:r>
            <a:endParaRPr b="1" sz="800">
              <a:solidFill>
                <a:srgbClr val="434343"/>
              </a:solidFill>
              <a:latin typeface="Poppins"/>
              <a:ea typeface="Poppins"/>
              <a:cs typeface="Poppins"/>
              <a:sym typeface="Poppins"/>
            </a:endParaRPr>
          </a:p>
          <a:p>
            <a:pPr indent="0" lvl="0" marL="0" rtl="0" algn="l">
              <a:spcBef>
                <a:spcPts val="0"/>
              </a:spcBef>
              <a:spcAft>
                <a:spcPts val="0"/>
              </a:spcAft>
              <a:buNone/>
            </a:pPr>
            <a:r>
              <a:rPr b="1" lang="en" sz="2000">
                <a:solidFill>
                  <a:srgbClr val="5038BC"/>
                </a:solidFill>
                <a:latin typeface="Poppins"/>
                <a:ea typeface="Poppins"/>
                <a:cs typeface="Poppins"/>
                <a:sym typeface="Poppins"/>
              </a:rPr>
              <a:t>Modeling &amp; Results After Post Evaluation</a:t>
            </a:r>
            <a:endParaRPr b="1" sz="2000">
              <a:solidFill>
                <a:srgbClr val="5038BC"/>
              </a:solidFill>
              <a:latin typeface="Poppins"/>
              <a:ea typeface="Poppins"/>
              <a:cs typeface="Poppins"/>
              <a:sym typeface="Poppins"/>
            </a:endParaRPr>
          </a:p>
        </p:txBody>
      </p:sp>
      <p:sp>
        <p:nvSpPr>
          <p:cNvPr id="182" name="Google Shape;182;p25"/>
          <p:cNvSpPr/>
          <p:nvPr/>
        </p:nvSpPr>
        <p:spPr>
          <a:xfrm rot="5400000">
            <a:off x="1521796" y="50745"/>
            <a:ext cx="75000" cy="1846500"/>
          </a:xfrm>
          <a:prstGeom prst="roundRect">
            <a:avLst>
              <a:gd fmla="val 50000" name="adj"/>
            </a:avLst>
          </a:prstGeom>
          <a:solidFill>
            <a:srgbClr val="C424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5"/>
          <p:cNvSpPr/>
          <p:nvPr/>
        </p:nvSpPr>
        <p:spPr>
          <a:xfrm>
            <a:off x="636100" y="3440625"/>
            <a:ext cx="7634400" cy="736500"/>
          </a:xfrm>
          <a:prstGeom prst="rect">
            <a:avLst/>
          </a:prstGeom>
          <a:solidFill>
            <a:srgbClr val="E6E0FE"/>
          </a:solidFill>
          <a:ln>
            <a:noFill/>
          </a:ln>
        </p:spPr>
        <p:txBody>
          <a:bodyPr anchorCtr="0" anchor="t" bIns="91425" lIns="91425" spcFirstLastPara="1" rIns="91425" wrap="square" tIns="91425">
            <a:noAutofit/>
          </a:bodyPr>
          <a:lstStyle/>
          <a:p>
            <a:pPr indent="0" lvl="0" marL="0" rtl="0" algn="l">
              <a:spcBef>
                <a:spcPts val="0"/>
              </a:spcBef>
              <a:spcAft>
                <a:spcPts val="1000"/>
              </a:spcAft>
              <a:buClr>
                <a:srgbClr val="000000"/>
              </a:buClr>
              <a:buSzPts val="1100"/>
              <a:buFont typeface="Arial"/>
              <a:buNone/>
            </a:pPr>
            <a:r>
              <a:rPr lang="en">
                <a:solidFill>
                  <a:schemeClr val="dk1"/>
                </a:solidFill>
                <a:latin typeface="Nunito"/>
                <a:ea typeface="Nunito"/>
                <a:cs typeface="Nunito"/>
                <a:sym typeface="Nunito"/>
              </a:rPr>
              <a:t>After conducting a post-evaluation, we successfully </a:t>
            </a:r>
            <a:r>
              <a:rPr b="1" lang="en">
                <a:solidFill>
                  <a:schemeClr val="dk1"/>
                </a:solidFill>
                <a:latin typeface="Nunito"/>
                <a:ea typeface="Nunito"/>
                <a:cs typeface="Nunito"/>
                <a:sym typeface="Nunito"/>
              </a:rPr>
              <a:t>rectified all errors</a:t>
            </a:r>
            <a:r>
              <a:rPr lang="en">
                <a:solidFill>
                  <a:schemeClr val="dk1"/>
                </a:solidFill>
                <a:latin typeface="Nunito"/>
                <a:ea typeface="Nunito"/>
                <a:cs typeface="Nunito"/>
                <a:sym typeface="Nunito"/>
              </a:rPr>
              <a:t> in the dataset, resulting in a </a:t>
            </a:r>
            <a:r>
              <a:rPr b="1" lang="en">
                <a:solidFill>
                  <a:schemeClr val="dk1"/>
                </a:solidFill>
                <a:latin typeface="Nunito"/>
                <a:ea typeface="Nunito"/>
                <a:cs typeface="Nunito"/>
                <a:sym typeface="Nunito"/>
              </a:rPr>
              <a:t>flawless assessment</a:t>
            </a:r>
            <a:r>
              <a:rPr lang="en">
                <a:solidFill>
                  <a:schemeClr val="dk1"/>
                </a:solidFill>
                <a:latin typeface="Nunito"/>
                <a:ea typeface="Nunito"/>
                <a:cs typeface="Nunito"/>
                <a:sym typeface="Nunito"/>
              </a:rPr>
              <a:t> of our approach.</a:t>
            </a:r>
            <a:endParaRPr b="1">
              <a:latin typeface="Nunito"/>
              <a:ea typeface="Nunito"/>
              <a:cs typeface="Nunito"/>
              <a:sym typeface="Nunito"/>
            </a:endParaRPr>
          </a:p>
        </p:txBody>
      </p:sp>
      <p:graphicFrame>
        <p:nvGraphicFramePr>
          <p:cNvPr id="184" name="Google Shape;184;p25"/>
          <p:cNvGraphicFramePr/>
          <p:nvPr/>
        </p:nvGraphicFramePr>
        <p:xfrm>
          <a:off x="636050" y="1592125"/>
          <a:ext cx="3000000" cy="3000000"/>
        </p:xfrm>
        <a:graphic>
          <a:graphicData uri="http://schemas.openxmlformats.org/drawingml/2006/table">
            <a:tbl>
              <a:tblPr>
                <a:noFill/>
                <a:tableStyleId>{5317A125-787E-4593-885D-AA47252468CA}</a:tableStyleId>
              </a:tblPr>
              <a:tblGrid>
                <a:gridCol w="3817200"/>
                <a:gridCol w="3817200"/>
              </a:tblGrid>
              <a:tr h="381000">
                <a:tc>
                  <a:txBody>
                    <a:bodyPr/>
                    <a:lstStyle/>
                    <a:p>
                      <a:pPr indent="0" lvl="0" marL="0" rtl="0" algn="ctr">
                        <a:spcBef>
                          <a:spcPts val="0"/>
                        </a:spcBef>
                        <a:spcAft>
                          <a:spcPts val="0"/>
                        </a:spcAft>
                        <a:buNone/>
                      </a:pPr>
                      <a:r>
                        <a:rPr b="1" lang="en">
                          <a:latin typeface="Nunito"/>
                          <a:ea typeface="Nunito"/>
                          <a:cs typeface="Nunito"/>
                          <a:sym typeface="Nunito"/>
                        </a:rPr>
                        <a:t>Metrics</a:t>
                      </a:r>
                      <a:endParaRPr b="1">
                        <a:latin typeface="Nunito"/>
                        <a:ea typeface="Nunito"/>
                        <a:cs typeface="Nunito"/>
                        <a:sym typeface="Nunito"/>
                      </a:endParaRPr>
                    </a:p>
                  </a:txBody>
                  <a:tcPr marT="91425" marB="91425" marR="91425" marL="91425">
                    <a:solidFill>
                      <a:srgbClr val="F2EFFF"/>
                    </a:solidFill>
                  </a:tcPr>
                </a:tc>
                <a:tc>
                  <a:txBody>
                    <a:bodyPr/>
                    <a:lstStyle/>
                    <a:p>
                      <a:pPr indent="0" lvl="0" marL="0" rtl="0" algn="ctr">
                        <a:spcBef>
                          <a:spcPts val="0"/>
                        </a:spcBef>
                        <a:spcAft>
                          <a:spcPts val="0"/>
                        </a:spcAft>
                        <a:buNone/>
                      </a:pPr>
                      <a:r>
                        <a:rPr b="1" lang="en">
                          <a:latin typeface="Nunito"/>
                          <a:ea typeface="Nunito"/>
                          <a:cs typeface="Nunito"/>
                          <a:sym typeface="Nunito"/>
                        </a:rPr>
                        <a:t>Score</a:t>
                      </a:r>
                      <a:endParaRPr b="1">
                        <a:latin typeface="Nunito"/>
                        <a:ea typeface="Nunito"/>
                        <a:cs typeface="Nunito"/>
                        <a:sym typeface="Nunito"/>
                      </a:endParaRPr>
                    </a:p>
                  </a:txBody>
                  <a:tcPr marT="91425" marB="91425" marR="91425" marL="91425">
                    <a:solidFill>
                      <a:srgbClr val="F2EFFF"/>
                    </a:solidFill>
                  </a:tcPr>
                </a:tc>
              </a:tr>
              <a:tr h="381000">
                <a:tc>
                  <a:txBody>
                    <a:bodyPr/>
                    <a:lstStyle/>
                    <a:p>
                      <a:pPr indent="0" lvl="0" marL="0" rtl="0" algn="ctr">
                        <a:spcBef>
                          <a:spcPts val="0"/>
                        </a:spcBef>
                        <a:spcAft>
                          <a:spcPts val="0"/>
                        </a:spcAft>
                        <a:buNone/>
                      </a:pPr>
                      <a:r>
                        <a:rPr lang="en">
                          <a:latin typeface="Nunito"/>
                          <a:ea typeface="Nunito"/>
                          <a:cs typeface="Nunito"/>
                          <a:sym typeface="Nunito"/>
                        </a:rPr>
                        <a:t>Accuracy</a:t>
                      </a:r>
                      <a:endParaRPr>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a:latin typeface="Nunito"/>
                          <a:ea typeface="Nunito"/>
                          <a:cs typeface="Nunito"/>
                          <a:sym typeface="Nunito"/>
                        </a:rPr>
                        <a:t>100</a:t>
                      </a:r>
                      <a:r>
                        <a:rPr lang="en">
                          <a:latin typeface="Nunito"/>
                          <a:ea typeface="Nunito"/>
                          <a:cs typeface="Nunito"/>
                          <a:sym typeface="Nunito"/>
                        </a:rPr>
                        <a:t>%</a:t>
                      </a:r>
                      <a:endParaRPr>
                        <a:latin typeface="Nunito"/>
                        <a:ea typeface="Nunito"/>
                        <a:cs typeface="Nunito"/>
                        <a:sym typeface="Nunito"/>
                      </a:endParaRPr>
                    </a:p>
                  </a:txBody>
                  <a:tcPr marT="91425" marB="91425" marR="91425" marL="91425"/>
                </a:tc>
              </a:tr>
              <a:tr h="381000">
                <a:tc>
                  <a:txBody>
                    <a:bodyPr/>
                    <a:lstStyle/>
                    <a:p>
                      <a:pPr indent="0" lvl="0" marL="0" rtl="0" algn="ctr">
                        <a:spcBef>
                          <a:spcPts val="0"/>
                        </a:spcBef>
                        <a:spcAft>
                          <a:spcPts val="0"/>
                        </a:spcAft>
                        <a:buNone/>
                      </a:pPr>
                      <a:r>
                        <a:rPr lang="en">
                          <a:latin typeface="Nunito"/>
                          <a:ea typeface="Nunito"/>
                          <a:cs typeface="Nunito"/>
                          <a:sym typeface="Nunito"/>
                        </a:rPr>
                        <a:t>WER</a:t>
                      </a:r>
                      <a:endParaRPr>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a:latin typeface="Nunito"/>
                          <a:ea typeface="Nunito"/>
                          <a:cs typeface="Nunito"/>
                          <a:sym typeface="Nunito"/>
                        </a:rPr>
                        <a:t>0.0</a:t>
                      </a:r>
                      <a:endParaRPr>
                        <a:latin typeface="Nunito"/>
                        <a:ea typeface="Nunito"/>
                        <a:cs typeface="Nunito"/>
                        <a:sym typeface="Nunito"/>
                      </a:endParaRPr>
                    </a:p>
                  </a:txBody>
                  <a:tcPr marT="91425" marB="91425" marR="91425" marL="91425"/>
                </a:tc>
              </a:tr>
              <a:tr h="381000">
                <a:tc>
                  <a:txBody>
                    <a:bodyPr/>
                    <a:lstStyle/>
                    <a:p>
                      <a:pPr indent="0" lvl="0" marL="0" rtl="0" algn="ctr">
                        <a:spcBef>
                          <a:spcPts val="0"/>
                        </a:spcBef>
                        <a:spcAft>
                          <a:spcPts val="0"/>
                        </a:spcAft>
                        <a:buNone/>
                      </a:pPr>
                      <a:r>
                        <a:rPr lang="en">
                          <a:latin typeface="Nunito"/>
                          <a:ea typeface="Nunito"/>
                          <a:cs typeface="Nunito"/>
                          <a:sym typeface="Nunito"/>
                        </a:rPr>
                        <a:t>CER</a:t>
                      </a:r>
                      <a:endParaRPr>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a:latin typeface="Nunito"/>
                          <a:ea typeface="Nunito"/>
                          <a:cs typeface="Nunito"/>
                          <a:sym typeface="Nunito"/>
                        </a:rPr>
                        <a:t>0.0</a:t>
                      </a:r>
                      <a:endParaRPr>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6"/>
          <p:cNvPicPr preferRelativeResize="0"/>
          <p:nvPr/>
        </p:nvPicPr>
        <p:blipFill rotWithShape="1">
          <a:blip r:embed="rId3">
            <a:alphaModFix/>
          </a:blip>
          <a:srcRect b="15789" l="0" r="0" t="0"/>
          <a:stretch/>
        </p:blipFill>
        <p:spPr>
          <a:xfrm>
            <a:off x="0" y="0"/>
            <a:ext cx="9144003" cy="5143499"/>
          </a:xfrm>
          <a:prstGeom prst="rect">
            <a:avLst/>
          </a:prstGeom>
          <a:noFill/>
          <a:ln>
            <a:noFill/>
          </a:ln>
        </p:spPr>
      </p:pic>
      <p:sp>
        <p:nvSpPr>
          <p:cNvPr id="190" name="Google Shape;190;p26"/>
          <p:cNvSpPr/>
          <p:nvPr/>
        </p:nvSpPr>
        <p:spPr>
          <a:xfrm>
            <a:off x="0" y="989350"/>
            <a:ext cx="7524600" cy="4154100"/>
          </a:xfrm>
          <a:prstGeom prst="rect">
            <a:avLst/>
          </a:prstGeom>
          <a:solidFill>
            <a:srgbClr val="5038BC">
              <a:alpha val="79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6"/>
          <p:cNvSpPr txBox="1"/>
          <p:nvPr/>
        </p:nvSpPr>
        <p:spPr>
          <a:xfrm>
            <a:off x="3376400" y="2386100"/>
            <a:ext cx="3900000" cy="1062600"/>
          </a:xfrm>
          <a:prstGeom prst="rect">
            <a:avLst/>
          </a:prstGeom>
          <a:noFill/>
          <a:ln>
            <a:noFill/>
          </a:ln>
        </p:spPr>
        <p:txBody>
          <a:bodyPr anchorCtr="0" anchor="t" bIns="91425" lIns="91425" spcFirstLastPara="1" rIns="91425" wrap="square" tIns="91425">
            <a:noAutofit/>
          </a:bodyPr>
          <a:lstStyle/>
          <a:p>
            <a:pPr indent="0" lvl="0" marL="0" rtl="0" algn="r">
              <a:lnSpc>
                <a:spcPct val="80000"/>
              </a:lnSpc>
              <a:spcBef>
                <a:spcPts val="0"/>
              </a:spcBef>
              <a:spcAft>
                <a:spcPts val="0"/>
              </a:spcAft>
              <a:buNone/>
            </a:pPr>
            <a:r>
              <a:rPr b="1" lang="en" sz="4400">
                <a:solidFill>
                  <a:srgbClr val="F2EFFF"/>
                </a:solidFill>
                <a:latin typeface="Poppins"/>
                <a:ea typeface="Poppins"/>
                <a:cs typeface="Poppins"/>
                <a:sym typeface="Poppins"/>
              </a:rPr>
              <a:t>Thank</a:t>
            </a:r>
            <a:endParaRPr b="1" sz="4400">
              <a:solidFill>
                <a:srgbClr val="F2EFFF"/>
              </a:solidFill>
              <a:latin typeface="Poppins"/>
              <a:ea typeface="Poppins"/>
              <a:cs typeface="Poppins"/>
              <a:sym typeface="Poppins"/>
            </a:endParaRPr>
          </a:p>
          <a:p>
            <a:pPr indent="0" lvl="0" marL="0" rtl="0" algn="r">
              <a:lnSpc>
                <a:spcPct val="80000"/>
              </a:lnSpc>
              <a:spcBef>
                <a:spcPts val="0"/>
              </a:spcBef>
              <a:spcAft>
                <a:spcPts val="0"/>
              </a:spcAft>
              <a:buNone/>
            </a:pPr>
            <a:r>
              <a:rPr b="1" lang="en" sz="4400">
                <a:solidFill>
                  <a:srgbClr val="F2EFFF"/>
                </a:solidFill>
                <a:latin typeface="Poppins"/>
                <a:ea typeface="Poppins"/>
                <a:cs typeface="Poppins"/>
                <a:sym typeface="Poppins"/>
              </a:rPr>
              <a:t>You</a:t>
            </a:r>
            <a:endParaRPr b="1" sz="4400">
              <a:solidFill>
                <a:srgbClr val="F2EFFF"/>
              </a:solidFill>
              <a:latin typeface="Poppins"/>
              <a:ea typeface="Poppins"/>
              <a:cs typeface="Poppins"/>
              <a:sym typeface="Poppins"/>
            </a:endParaRPr>
          </a:p>
        </p:txBody>
      </p:sp>
      <p:sp>
        <p:nvSpPr>
          <p:cNvPr id="192" name="Google Shape;19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