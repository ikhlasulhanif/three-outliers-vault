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ricolage Grotesque Bold" charset="1" panose="020B0605040402000204"/>
      <p:regular r:id="rId22"/>
    </p:embeddedFont>
    <p:embeddedFont>
      <p:font typeface="Bricolage Grotesque Light" charset="1" panose="020B0605040402000204"/>
      <p:regular r:id="rId23"/>
    </p:embeddedFont>
    <p:embeddedFont>
      <p:font typeface="Bricolage Grotesque" charset="1" panose="020B0605040402000204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Canva Sans Italics" charset="1" panose="020B0503030501040103"/>
      <p:regular r:id="rId27"/>
    </p:embeddedFont>
    <p:embeddedFont>
      <p:font typeface="Bricolage Grotesque Semi-Bold" charset="1" panose="020B0605040402000204"/>
      <p:regular r:id="rId28"/>
    </p:embeddedFont>
    <p:embeddedFont>
      <p:font typeface="Pinata Marks Rough Bold" charset="1" panose="02000803060000020003"/>
      <p:regular r:id="rId29"/>
    </p:embeddedFont>
    <p:embeddedFont>
      <p:font typeface="Pinata Marks Heavy" charset="1" panose="020009030600000200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8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26409" y="8180493"/>
            <a:ext cx="1215237" cy="121523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736385" y="8831096"/>
            <a:ext cx="497506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36385" y="2332812"/>
            <a:ext cx="14268549" cy="427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66"/>
              </a:lnSpc>
            </a:pPr>
            <a:r>
              <a:rPr lang="en-US" sz="1614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Penggolongan UKT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4326401">
            <a:off x="7517219" y="-2351303"/>
            <a:ext cx="14975430" cy="12945611"/>
          </a:xfrm>
          <a:custGeom>
            <a:avLst/>
            <a:gdLst/>
            <a:ahLst/>
            <a:cxnLst/>
            <a:rect r="r" b="b" t="t" l="l"/>
            <a:pathLst>
              <a:path h="12945611" w="14975430">
                <a:moveTo>
                  <a:pt x="0" y="0"/>
                </a:moveTo>
                <a:lnTo>
                  <a:pt x="14975430" y="0"/>
                </a:lnTo>
                <a:lnTo>
                  <a:pt x="14975430" y="12945611"/>
                </a:lnTo>
                <a:lnTo>
                  <a:pt x="0" y="1294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187103">
            <a:off x="14189725" y="5259951"/>
            <a:ext cx="833395" cy="83339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9160" y="59160"/>
              <a:ext cx="694479" cy="694479"/>
            </a:xfrm>
            <a:custGeom>
              <a:avLst/>
              <a:gdLst/>
              <a:ahLst/>
              <a:cxnLst/>
              <a:rect r="r" b="b" t="t" l="l"/>
              <a:pathLst>
                <a:path h="694479" w="694479">
                  <a:moveTo>
                    <a:pt x="386527" y="25020"/>
                  </a:moveTo>
                  <a:lnTo>
                    <a:pt x="437269" y="133745"/>
                  </a:lnTo>
                  <a:cubicBezTo>
                    <a:pt x="462647" y="188123"/>
                    <a:pt x="506357" y="231833"/>
                    <a:pt x="560735" y="257211"/>
                  </a:cubicBezTo>
                  <a:lnTo>
                    <a:pt x="669460" y="307953"/>
                  </a:lnTo>
                  <a:cubicBezTo>
                    <a:pt x="684724" y="315077"/>
                    <a:pt x="694480" y="330396"/>
                    <a:pt x="694480" y="347240"/>
                  </a:cubicBezTo>
                  <a:cubicBezTo>
                    <a:pt x="694480" y="364084"/>
                    <a:pt x="684724" y="379403"/>
                    <a:pt x="669460" y="386527"/>
                  </a:cubicBezTo>
                  <a:lnTo>
                    <a:pt x="560735" y="437269"/>
                  </a:lnTo>
                  <a:cubicBezTo>
                    <a:pt x="506357" y="462647"/>
                    <a:pt x="462647" y="506357"/>
                    <a:pt x="437269" y="560735"/>
                  </a:cubicBezTo>
                  <a:lnTo>
                    <a:pt x="386527" y="669460"/>
                  </a:lnTo>
                  <a:cubicBezTo>
                    <a:pt x="379403" y="684724"/>
                    <a:pt x="364084" y="694480"/>
                    <a:pt x="347240" y="694480"/>
                  </a:cubicBezTo>
                  <a:cubicBezTo>
                    <a:pt x="330396" y="694480"/>
                    <a:pt x="315077" y="684724"/>
                    <a:pt x="307953" y="669460"/>
                  </a:cubicBezTo>
                  <a:lnTo>
                    <a:pt x="257211" y="560735"/>
                  </a:lnTo>
                  <a:cubicBezTo>
                    <a:pt x="231833" y="506357"/>
                    <a:pt x="188123" y="462647"/>
                    <a:pt x="133745" y="437269"/>
                  </a:cubicBezTo>
                  <a:lnTo>
                    <a:pt x="25020" y="386527"/>
                  </a:lnTo>
                  <a:cubicBezTo>
                    <a:pt x="9756" y="379403"/>
                    <a:pt x="0" y="364084"/>
                    <a:pt x="0" y="347240"/>
                  </a:cubicBezTo>
                  <a:cubicBezTo>
                    <a:pt x="0" y="330396"/>
                    <a:pt x="9756" y="315077"/>
                    <a:pt x="25020" y="307953"/>
                  </a:cubicBezTo>
                  <a:lnTo>
                    <a:pt x="133745" y="257211"/>
                  </a:lnTo>
                  <a:cubicBezTo>
                    <a:pt x="188123" y="231833"/>
                    <a:pt x="231833" y="188123"/>
                    <a:pt x="257211" y="133745"/>
                  </a:cubicBezTo>
                  <a:lnTo>
                    <a:pt x="307953" y="25020"/>
                  </a:lnTo>
                  <a:cubicBezTo>
                    <a:pt x="315077" y="9756"/>
                    <a:pt x="330396" y="0"/>
                    <a:pt x="347240" y="0"/>
                  </a:cubicBezTo>
                  <a:cubicBezTo>
                    <a:pt x="364084" y="0"/>
                    <a:pt x="379403" y="9756"/>
                    <a:pt x="386527" y="250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55055" y="8278588"/>
            <a:ext cx="957947" cy="1001774"/>
          </a:xfrm>
          <a:custGeom>
            <a:avLst/>
            <a:gdLst/>
            <a:ahLst/>
            <a:cxnLst/>
            <a:rect r="r" b="b" t="t" l="l"/>
            <a:pathLst>
              <a:path h="1001774" w="957947">
                <a:moveTo>
                  <a:pt x="0" y="0"/>
                </a:moveTo>
                <a:lnTo>
                  <a:pt x="957946" y="0"/>
                </a:lnTo>
                <a:lnTo>
                  <a:pt x="957946" y="1001774"/>
                </a:lnTo>
                <a:lnTo>
                  <a:pt x="0" y="1001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64104" y="685986"/>
            <a:ext cx="15192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24 September 2024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68963" y="7633882"/>
            <a:ext cx="4724942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Ikhlasul Akmal Hanif</a:t>
            </a:r>
          </a:p>
          <a:p>
            <a:pPr algn="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Eduardus Tjitrahardja</a:t>
            </a:r>
          </a:p>
          <a:p>
            <a:pPr algn="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Rahmat Bryan Naufal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08573" y="8398090"/>
            <a:ext cx="4198416" cy="80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2336" spc="-46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Three Outliers</a:t>
            </a:r>
          </a:p>
          <a:p>
            <a:pPr algn="l">
              <a:lnSpc>
                <a:spcPts val="3270"/>
              </a:lnSpc>
              <a:spcBef>
                <a:spcPct val="0"/>
              </a:spcBef>
            </a:pPr>
            <a:r>
              <a:rPr lang="en-US" sz="2336" spc="-4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Universitas Indonesia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24709" y="685986"/>
            <a:ext cx="395158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292366">
            <a:off x="15487111" y="2175201"/>
            <a:ext cx="540129" cy="5401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897" y="63897"/>
              <a:ext cx="685005" cy="685005"/>
            </a:xfrm>
            <a:custGeom>
              <a:avLst/>
              <a:gdLst/>
              <a:ahLst/>
              <a:cxnLst/>
              <a:rect r="r" b="b" t="t" l="l"/>
              <a:pathLst>
                <a:path h="685005" w="685005">
                  <a:moveTo>
                    <a:pt x="384935" y="27023"/>
                  </a:moveTo>
                  <a:lnTo>
                    <a:pt x="429386" y="122268"/>
                  </a:lnTo>
                  <a:cubicBezTo>
                    <a:pt x="456796" y="181000"/>
                    <a:pt x="504006" y="228210"/>
                    <a:pt x="562738" y="255620"/>
                  </a:cubicBezTo>
                  <a:lnTo>
                    <a:pt x="657983" y="300071"/>
                  </a:lnTo>
                  <a:cubicBezTo>
                    <a:pt x="674468" y="307764"/>
                    <a:pt x="685006" y="324310"/>
                    <a:pt x="685006" y="342503"/>
                  </a:cubicBezTo>
                  <a:cubicBezTo>
                    <a:pt x="685006" y="360696"/>
                    <a:pt x="674468" y="377242"/>
                    <a:pt x="657983" y="384935"/>
                  </a:cubicBezTo>
                  <a:lnTo>
                    <a:pt x="562738" y="429386"/>
                  </a:lnTo>
                  <a:cubicBezTo>
                    <a:pt x="504006" y="456796"/>
                    <a:pt x="456796" y="504006"/>
                    <a:pt x="429386" y="562738"/>
                  </a:cubicBezTo>
                  <a:lnTo>
                    <a:pt x="384935" y="657983"/>
                  </a:lnTo>
                  <a:cubicBezTo>
                    <a:pt x="377242" y="674468"/>
                    <a:pt x="360696" y="685006"/>
                    <a:pt x="342503" y="685006"/>
                  </a:cubicBezTo>
                  <a:cubicBezTo>
                    <a:pt x="324310" y="685006"/>
                    <a:pt x="307764" y="674468"/>
                    <a:pt x="300071" y="657983"/>
                  </a:cubicBezTo>
                  <a:lnTo>
                    <a:pt x="255620" y="562738"/>
                  </a:lnTo>
                  <a:cubicBezTo>
                    <a:pt x="228210" y="504006"/>
                    <a:pt x="181000" y="456796"/>
                    <a:pt x="122268" y="429386"/>
                  </a:cubicBezTo>
                  <a:lnTo>
                    <a:pt x="27023" y="384935"/>
                  </a:lnTo>
                  <a:cubicBezTo>
                    <a:pt x="10538" y="377242"/>
                    <a:pt x="0" y="360696"/>
                    <a:pt x="0" y="342503"/>
                  </a:cubicBezTo>
                  <a:cubicBezTo>
                    <a:pt x="0" y="324310"/>
                    <a:pt x="10538" y="307764"/>
                    <a:pt x="27023" y="300071"/>
                  </a:cubicBezTo>
                  <a:lnTo>
                    <a:pt x="122268" y="255620"/>
                  </a:lnTo>
                  <a:cubicBezTo>
                    <a:pt x="181000" y="228210"/>
                    <a:pt x="228210" y="181000"/>
                    <a:pt x="255620" y="122268"/>
                  </a:cubicBezTo>
                  <a:lnTo>
                    <a:pt x="300071" y="27023"/>
                  </a:lnTo>
                  <a:cubicBezTo>
                    <a:pt x="307764" y="10538"/>
                    <a:pt x="324310" y="0"/>
                    <a:pt x="342503" y="0"/>
                  </a:cubicBezTo>
                  <a:cubicBezTo>
                    <a:pt x="360696" y="0"/>
                    <a:pt x="377242" y="10538"/>
                    <a:pt x="384935" y="27023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88895" y="1043949"/>
            <a:ext cx="11885805" cy="170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06"/>
              </a:lnSpc>
            </a:pPr>
            <a:r>
              <a:rPr lang="en-US" sz="12834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Latar Belakang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90916" y="6803760"/>
            <a:ext cx="770761" cy="770761"/>
            <a:chOff x="0" y="0"/>
            <a:chExt cx="1027681" cy="102768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27681" cy="102768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8508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55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94993" y="294993"/>
              <a:ext cx="437695" cy="437695"/>
            </a:xfrm>
            <a:custGeom>
              <a:avLst/>
              <a:gdLst/>
              <a:ahLst/>
              <a:cxnLst/>
              <a:rect r="r" b="b" t="t" l="l"/>
              <a:pathLst>
                <a:path h="437695" w="437695">
                  <a:moveTo>
                    <a:pt x="0" y="0"/>
                  </a:moveTo>
                  <a:lnTo>
                    <a:pt x="437695" y="0"/>
                  </a:lnTo>
                  <a:lnTo>
                    <a:pt x="437695" y="437695"/>
                  </a:lnTo>
                  <a:lnTo>
                    <a:pt x="0" y="437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-872244">
            <a:off x="14067203" y="-4416504"/>
            <a:ext cx="9138730" cy="9261941"/>
          </a:xfrm>
          <a:custGeom>
            <a:avLst/>
            <a:gdLst/>
            <a:ahLst/>
            <a:cxnLst/>
            <a:rect r="r" b="b" t="t" l="l"/>
            <a:pathLst>
              <a:path h="9261941" w="9138730">
                <a:moveTo>
                  <a:pt x="0" y="0"/>
                </a:moveTo>
                <a:lnTo>
                  <a:pt x="9138729" y="0"/>
                </a:lnTo>
                <a:lnTo>
                  <a:pt x="9138729" y="9261941"/>
                </a:lnTo>
                <a:lnTo>
                  <a:pt x="0" y="9261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612084" y="5143500"/>
            <a:ext cx="1294433" cy="1294433"/>
            <a:chOff x="0" y="0"/>
            <a:chExt cx="1725910" cy="172591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25910" cy="1725910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850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272414" y="272414"/>
              <a:ext cx="1181082" cy="1181082"/>
            </a:xfrm>
            <a:custGeom>
              <a:avLst/>
              <a:gdLst/>
              <a:ahLst/>
              <a:cxnLst/>
              <a:rect r="r" b="b" t="t" l="l"/>
              <a:pathLst>
                <a:path h="1181082" w="1181082">
                  <a:moveTo>
                    <a:pt x="0" y="0"/>
                  </a:moveTo>
                  <a:lnTo>
                    <a:pt x="1181082" y="0"/>
                  </a:lnTo>
                  <a:lnTo>
                    <a:pt x="1181082" y="1181082"/>
                  </a:lnTo>
                  <a:lnTo>
                    <a:pt x="0" y="1181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35209" y="2948983"/>
            <a:ext cx="9017582" cy="2895154"/>
            <a:chOff x="0" y="0"/>
            <a:chExt cx="12023442" cy="38602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71228"/>
              <a:ext cx="4618323" cy="3717750"/>
            </a:xfrm>
            <a:custGeom>
              <a:avLst/>
              <a:gdLst/>
              <a:ahLst/>
              <a:cxnLst/>
              <a:rect r="r" b="b" t="t" l="l"/>
              <a:pathLst>
                <a:path h="3717750" w="4618323">
                  <a:moveTo>
                    <a:pt x="0" y="0"/>
                  </a:moveTo>
                  <a:lnTo>
                    <a:pt x="4618323" y="0"/>
                  </a:lnTo>
                  <a:lnTo>
                    <a:pt x="4618323" y="3717750"/>
                  </a:lnTo>
                  <a:lnTo>
                    <a:pt x="0" y="371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069213" y="0"/>
              <a:ext cx="1954229" cy="3860205"/>
            </a:xfrm>
            <a:custGeom>
              <a:avLst/>
              <a:gdLst/>
              <a:ahLst/>
              <a:cxnLst/>
              <a:rect r="r" b="b" t="t" l="l"/>
              <a:pathLst>
                <a:path h="3860205" w="1954229">
                  <a:moveTo>
                    <a:pt x="0" y="0"/>
                  </a:moveTo>
                  <a:lnTo>
                    <a:pt x="1954229" y="0"/>
                  </a:lnTo>
                  <a:lnTo>
                    <a:pt x="1954229" y="3860205"/>
                  </a:lnTo>
                  <a:lnTo>
                    <a:pt x="0" y="3860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213551" y="7574520"/>
            <a:ext cx="4753119" cy="2804340"/>
          </a:xfrm>
          <a:custGeom>
            <a:avLst/>
            <a:gdLst/>
            <a:ahLst/>
            <a:cxnLst/>
            <a:rect r="r" b="b" t="t" l="l"/>
            <a:pathLst>
              <a:path h="2804340" w="4753119">
                <a:moveTo>
                  <a:pt x="0" y="0"/>
                </a:moveTo>
                <a:lnTo>
                  <a:pt x="4753119" y="0"/>
                </a:lnTo>
                <a:lnTo>
                  <a:pt x="4753119" y="2804340"/>
                </a:lnTo>
                <a:lnTo>
                  <a:pt x="0" y="28043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552043" y="6497796"/>
            <a:ext cx="10159509" cy="276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3"/>
              </a:lnSpc>
            </a:pPr>
            <a:r>
              <a:rPr lang="en-US" sz="4091" spc="-73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menyesuaikan </a:t>
            </a:r>
            <a:r>
              <a:rPr lang="en-US" b="true" sz="4091" spc="-73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biaya pendidikan</a:t>
            </a:r>
            <a:r>
              <a:rPr lang="en-US" sz="4091" spc="-73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 dengan </a:t>
            </a:r>
            <a:r>
              <a:rPr lang="en-US" b="true" sz="4091" spc="-73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kemampuan finansial</a:t>
            </a:r>
            <a:r>
              <a:rPr lang="en-US" sz="4091" spc="-73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 mahasiswa, keluarga, atau pihak lain yang membiayai</a:t>
            </a:r>
          </a:p>
          <a:p>
            <a:pPr algn="ctr">
              <a:lnSpc>
                <a:spcPts val="5523"/>
              </a:lnSpc>
            </a:pPr>
            <a:r>
              <a:rPr lang="en-US" sz="4091" spc="-73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mahasiswa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35102" y="9648825"/>
            <a:ext cx="7152898" cy="529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  <a:spcBef>
                <a:spcPct val="0"/>
              </a:spcBef>
            </a:pPr>
            <a:r>
              <a:rPr lang="en-US" b="true" sz="3137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*</a:t>
            </a:r>
            <a:r>
              <a:rPr lang="en-US" sz="313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Kepmenristekdikti 194/M/KPT/2019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8755">
            <a:off x="12385569" y="6204300"/>
            <a:ext cx="10247579" cy="8858589"/>
          </a:xfrm>
          <a:custGeom>
            <a:avLst/>
            <a:gdLst/>
            <a:ahLst/>
            <a:cxnLst/>
            <a:rect r="r" b="b" t="t" l="l"/>
            <a:pathLst>
              <a:path h="8858589" w="10247579">
                <a:moveTo>
                  <a:pt x="0" y="0"/>
                </a:moveTo>
                <a:lnTo>
                  <a:pt x="10247579" y="0"/>
                </a:lnTo>
                <a:lnTo>
                  <a:pt x="10247579" y="8858588"/>
                </a:lnTo>
                <a:lnTo>
                  <a:pt x="0" y="8858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15726" y="2480411"/>
            <a:ext cx="3992026" cy="2430553"/>
            <a:chOff x="0" y="0"/>
            <a:chExt cx="1051398" cy="6401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1398" cy="640146"/>
            </a:xfrm>
            <a:custGeom>
              <a:avLst/>
              <a:gdLst/>
              <a:ahLst/>
              <a:cxnLst/>
              <a:rect r="r" b="b" t="t" l="l"/>
              <a:pathLst>
                <a:path h="640146" w="1051398">
                  <a:moveTo>
                    <a:pt x="98907" y="0"/>
                  </a:moveTo>
                  <a:lnTo>
                    <a:pt x="952491" y="0"/>
                  </a:lnTo>
                  <a:cubicBezTo>
                    <a:pt x="978723" y="0"/>
                    <a:pt x="1003880" y="10420"/>
                    <a:pt x="1022429" y="28969"/>
                  </a:cubicBezTo>
                  <a:cubicBezTo>
                    <a:pt x="1040977" y="47518"/>
                    <a:pt x="1051398" y="72675"/>
                    <a:pt x="1051398" y="98907"/>
                  </a:cubicBezTo>
                  <a:lnTo>
                    <a:pt x="1051398" y="541239"/>
                  </a:lnTo>
                  <a:cubicBezTo>
                    <a:pt x="1051398" y="567471"/>
                    <a:pt x="1040977" y="592628"/>
                    <a:pt x="1022429" y="611177"/>
                  </a:cubicBezTo>
                  <a:cubicBezTo>
                    <a:pt x="1003880" y="629725"/>
                    <a:pt x="978723" y="640146"/>
                    <a:pt x="952491" y="640146"/>
                  </a:cubicBezTo>
                  <a:lnTo>
                    <a:pt x="98907" y="640146"/>
                  </a:lnTo>
                  <a:cubicBezTo>
                    <a:pt x="72675" y="640146"/>
                    <a:pt x="47518" y="629725"/>
                    <a:pt x="28969" y="611177"/>
                  </a:cubicBezTo>
                  <a:cubicBezTo>
                    <a:pt x="10420" y="592628"/>
                    <a:pt x="0" y="567471"/>
                    <a:pt x="0" y="541239"/>
                  </a:cubicBezTo>
                  <a:lnTo>
                    <a:pt x="0" y="98907"/>
                  </a:lnTo>
                  <a:cubicBezTo>
                    <a:pt x="0" y="72675"/>
                    <a:pt x="10420" y="47518"/>
                    <a:pt x="28969" y="28969"/>
                  </a:cubicBezTo>
                  <a:cubicBezTo>
                    <a:pt x="47518" y="10420"/>
                    <a:pt x="72675" y="0"/>
                    <a:pt x="98907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051398" cy="697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187103">
            <a:off x="8083604" y="9334152"/>
            <a:ext cx="542845" cy="54284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4495" y="54495"/>
              <a:ext cx="703810" cy="703810"/>
            </a:xfrm>
            <a:custGeom>
              <a:avLst/>
              <a:gdLst/>
              <a:ahLst/>
              <a:cxnLst/>
              <a:rect r="r" b="b" t="t" l="l"/>
              <a:pathLst>
                <a:path h="703810" w="703810">
                  <a:moveTo>
                    <a:pt x="388094" y="23047"/>
                  </a:moveTo>
                  <a:lnTo>
                    <a:pt x="445032" y="145048"/>
                  </a:lnTo>
                  <a:cubicBezTo>
                    <a:pt x="468409" y="195138"/>
                    <a:pt x="508672" y="235401"/>
                    <a:pt x="558762" y="258778"/>
                  </a:cubicBezTo>
                  <a:lnTo>
                    <a:pt x="680763" y="315716"/>
                  </a:lnTo>
                  <a:cubicBezTo>
                    <a:pt x="694823" y="322278"/>
                    <a:pt x="703810" y="336389"/>
                    <a:pt x="703810" y="351905"/>
                  </a:cubicBezTo>
                  <a:cubicBezTo>
                    <a:pt x="703810" y="367421"/>
                    <a:pt x="694823" y="381532"/>
                    <a:pt x="680763" y="388094"/>
                  </a:cubicBezTo>
                  <a:lnTo>
                    <a:pt x="558762" y="445032"/>
                  </a:lnTo>
                  <a:cubicBezTo>
                    <a:pt x="508672" y="468409"/>
                    <a:pt x="468409" y="508672"/>
                    <a:pt x="445032" y="558762"/>
                  </a:cubicBezTo>
                  <a:lnTo>
                    <a:pt x="388094" y="680763"/>
                  </a:lnTo>
                  <a:cubicBezTo>
                    <a:pt x="381532" y="694823"/>
                    <a:pt x="367421" y="703810"/>
                    <a:pt x="351905" y="703810"/>
                  </a:cubicBezTo>
                  <a:cubicBezTo>
                    <a:pt x="336389" y="703810"/>
                    <a:pt x="322278" y="694823"/>
                    <a:pt x="315716" y="680763"/>
                  </a:cubicBezTo>
                  <a:lnTo>
                    <a:pt x="258778" y="558762"/>
                  </a:lnTo>
                  <a:cubicBezTo>
                    <a:pt x="235401" y="508672"/>
                    <a:pt x="195138" y="468409"/>
                    <a:pt x="145048" y="445032"/>
                  </a:cubicBezTo>
                  <a:lnTo>
                    <a:pt x="23047" y="388094"/>
                  </a:lnTo>
                  <a:cubicBezTo>
                    <a:pt x="8987" y="381532"/>
                    <a:pt x="0" y="367421"/>
                    <a:pt x="0" y="351905"/>
                  </a:cubicBezTo>
                  <a:cubicBezTo>
                    <a:pt x="0" y="336389"/>
                    <a:pt x="8987" y="322278"/>
                    <a:pt x="23047" y="315716"/>
                  </a:cubicBezTo>
                  <a:lnTo>
                    <a:pt x="145048" y="258778"/>
                  </a:lnTo>
                  <a:cubicBezTo>
                    <a:pt x="195138" y="235401"/>
                    <a:pt x="235401" y="195138"/>
                    <a:pt x="258778" y="145048"/>
                  </a:cubicBezTo>
                  <a:lnTo>
                    <a:pt x="315716" y="23047"/>
                  </a:lnTo>
                  <a:cubicBezTo>
                    <a:pt x="322278" y="8987"/>
                    <a:pt x="336389" y="0"/>
                    <a:pt x="351905" y="0"/>
                  </a:cubicBezTo>
                  <a:cubicBezTo>
                    <a:pt x="367421" y="0"/>
                    <a:pt x="381532" y="8987"/>
                    <a:pt x="388094" y="23047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72627" y="149082"/>
            <a:ext cx="1294433" cy="1294433"/>
            <a:chOff x="0" y="0"/>
            <a:chExt cx="1725910" cy="172591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725910" cy="172591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850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72414" y="272414"/>
              <a:ext cx="1181082" cy="1181082"/>
            </a:xfrm>
            <a:custGeom>
              <a:avLst/>
              <a:gdLst/>
              <a:ahLst/>
              <a:cxnLst/>
              <a:rect r="r" b="b" t="t" l="l"/>
              <a:pathLst>
                <a:path h="1181082" w="1181082">
                  <a:moveTo>
                    <a:pt x="0" y="0"/>
                  </a:moveTo>
                  <a:lnTo>
                    <a:pt x="1181082" y="0"/>
                  </a:lnTo>
                  <a:lnTo>
                    <a:pt x="1181082" y="1181082"/>
                  </a:lnTo>
                  <a:lnTo>
                    <a:pt x="0" y="1181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14" id="14"/>
          <p:cNvSpPr/>
          <p:nvPr/>
        </p:nvSpPr>
        <p:spPr>
          <a:xfrm flipV="true">
            <a:off x="17160902" y="9387963"/>
            <a:ext cx="402200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188446" y="2480411"/>
            <a:ext cx="3992026" cy="2430553"/>
            <a:chOff x="0" y="0"/>
            <a:chExt cx="1051398" cy="6401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398" cy="640146"/>
            </a:xfrm>
            <a:custGeom>
              <a:avLst/>
              <a:gdLst/>
              <a:ahLst/>
              <a:cxnLst/>
              <a:rect r="r" b="b" t="t" l="l"/>
              <a:pathLst>
                <a:path h="640146" w="1051398">
                  <a:moveTo>
                    <a:pt x="98907" y="0"/>
                  </a:moveTo>
                  <a:lnTo>
                    <a:pt x="952491" y="0"/>
                  </a:lnTo>
                  <a:cubicBezTo>
                    <a:pt x="978723" y="0"/>
                    <a:pt x="1003880" y="10420"/>
                    <a:pt x="1022429" y="28969"/>
                  </a:cubicBezTo>
                  <a:cubicBezTo>
                    <a:pt x="1040977" y="47518"/>
                    <a:pt x="1051398" y="72675"/>
                    <a:pt x="1051398" y="98907"/>
                  </a:cubicBezTo>
                  <a:lnTo>
                    <a:pt x="1051398" y="541239"/>
                  </a:lnTo>
                  <a:cubicBezTo>
                    <a:pt x="1051398" y="567471"/>
                    <a:pt x="1040977" y="592628"/>
                    <a:pt x="1022429" y="611177"/>
                  </a:cubicBezTo>
                  <a:cubicBezTo>
                    <a:pt x="1003880" y="629725"/>
                    <a:pt x="978723" y="640146"/>
                    <a:pt x="952491" y="640146"/>
                  </a:cubicBezTo>
                  <a:lnTo>
                    <a:pt x="98907" y="640146"/>
                  </a:lnTo>
                  <a:cubicBezTo>
                    <a:pt x="72675" y="640146"/>
                    <a:pt x="47518" y="629725"/>
                    <a:pt x="28969" y="611177"/>
                  </a:cubicBezTo>
                  <a:cubicBezTo>
                    <a:pt x="10420" y="592628"/>
                    <a:pt x="0" y="567471"/>
                    <a:pt x="0" y="541239"/>
                  </a:cubicBezTo>
                  <a:lnTo>
                    <a:pt x="0" y="98907"/>
                  </a:lnTo>
                  <a:cubicBezTo>
                    <a:pt x="0" y="72675"/>
                    <a:pt x="10420" y="47518"/>
                    <a:pt x="28969" y="28969"/>
                  </a:cubicBezTo>
                  <a:cubicBezTo>
                    <a:pt x="47518" y="10420"/>
                    <a:pt x="72675" y="0"/>
                    <a:pt x="98907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51398" cy="697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810435" y="7166193"/>
            <a:ext cx="1218816" cy="1367536"/>
          </a:xfrm>
          <a:custGeom>
            <a:avLst/>
            <a:gdLst/>
            <a:ahLst/>
            <a:cxnLst/>
            <a:rect r="r" b="b" t="t" l="l"/>
            <a:pathLst>
              <a:path h="1367536" w="1218816">
                <a:moveTo>
                  <a:pt x="0" y="0"/>
                </a:moveTo>
                <a:lnTo>
                  <a:pt x="1218817" y="0"/>
                </a:lnTo>
                <a:lnTo>
                  <a:pt x="1218817" y="1367536"/>
                </a:lnTo>
                <a:lnTo>
                  <a:pt x="0" y="1367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11704" y="1238940"/>
            <a:ext cx="6608044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5"/>
              </a:lnSpc>
            </a:pPr>
            <a:r>
              <a:rPr lang="en-US" sz="7612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Dataset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74907" y="6197593"/>
            <a:ext cx="6870567" cy="3505200"/>
            <a:chOff x="0" y="0"/>
            <a:chExt cx="9160756" cy="4673600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350031" y="3063875"/>
              <a:ext cx="8810725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23232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Informasi Pribadi Mahasiswa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4054475"/>
              <a:ext cx="8810725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23232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Kondisi Ekonomi Keluarga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8810725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23232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Kondisi Keluarga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981075"/>
              <a:ext cx="8810725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23232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Kondisi Kepemilikan dan Aset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971675"/>
              <a:ext cx="8810725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23232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Kondisi Tempat Tinggal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142066" y="2482515"/>
            <a:ext cx="3669043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5"/>
              </a:lnSpc>
            </a:pPr>
            <a:r>
              <a:rPr lang="en-US" b="true" sz="5812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Train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25254" y="3686163"/>
            <a:ext cx="337297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5"/>
              </a:lnSpc>
            </a:pPr>
            <a:r>
              <a:rPr lang="en-US" sz="511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30380 row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14785" y="2482515"/>
            <a:ext cx="3669043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5"/>
              </a:lnSpc>
            </a:pPr>
            <a:r>
              <a:rPr lang="en-US" b="true" sz="5812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Test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97974" y="3686163"/>
            <a:ext cx="337297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5"/>
              </a:lnSpc>
            </a:pPr>
            <a:r>
              <a:rPr lang="en-US" sz="511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7595 row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63349" y="5255832"/>
            <a:ext cx="291580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>
                <a:solidFill>
                  <a:srgbClr val="00BF6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Fitur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05049" y="8639929"/>
            <a:ext cx="6608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9496318" y="9371386"/>
            <a:ext cx="66080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0205049" y="7473724"/>
            <a:ext cx="66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b="true" sz="49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Golongan UKT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701351" y="5255832"/>
            <a:ext cx="324477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>
                <a:solidFill>
                  <a:srgbClr val="00BF6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Target</a:t>
            </a:r>
          </a:p>
        </p:txBody>
      </p:sp>
      <p:sp>
        <p:nvSpPr>
          <p:cNvPr name="AutoShape 41" id="41"/>
          <p:cNvSpPr/>
          <p:nvPr/>
        </p:nvSpPr>
        <p:spPr>
          <a:xfrm>
            <a:off x="1525341" y="6808515"/>
            <a:ext cx="6492240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1525341" y="7492774"/>
            <a:ext cx="6492240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525341" y="8245249"/>
            <a:ext cx="6492240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1475130" y="9076111"/>
            <a:ext cx="6492240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1475130" y="9819061"/>
            <a:ext cx="6492240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1525341" y="6141657"/>
            <a:ext cx="6492240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3227">
            <a:off x="-2015494" y="9847802"/>
            <a:ext cx="8069735" cy="8178533"/>
          </a:xfrm>
          <a:custGeom>
            <a:avLst/>
            <a:gdLst/>
            <a:ahLst/>
            <a:cxnLst/>
            <a:rect r="r" b="b" t="t" l="l"/>
            <a:pathLst>
              <a:path h="8178533" w="8069735">
                <a:moveTo>
                  <a:pt x="0" y="0"/>
                </a:moveTo>
                <a:lnTo>
                  <a:pt x="8069735" y="0"/>
                </a:lnTo>
                <a:lnTo>
                  <a:pt x="8069735" y="8178533"/>
                </a:lnTo>
                <a:lnTo>
                  <a:pt x="0" y="81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297794" y="449307"/>
            <a:ext cx="10148850" cy="10452746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3602342" y="6885931"/>
            <a:ext cx="1362477" cy="686348"/>
          </a:xfrm>
          <a:custGeom>
            <a:avLst/>
            <a:gdLst/>
            <a:ahLst/>
            <a:cxnLst/>
            <a:rect r="r" b="b" t="t" l="l"/>
            <a:pathLst>
              <a:path h="686348" w="1362477">
                <a:moveTo>
                  <a:pt x="0" y="0"/>
                </a:moveTo>
                <a:lnTo>
                  <a:pt x="1362478" y="0"/>
                </a:lnTo>
                <a:lnTo>
                  <a:pt x="1362478" y="686348"/>
                </a:lnTo>
                <a:lnTo>
                  <a:pt x="0" y="6863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97062" y="2206946"/>
            <a:ext cx="1124969" cy="973098"/>
          </a:xfrm>
          <a:custGeom>
            <a:avLst/>
            <a:gdLst/>
            <a:ahLst/>
            <a:cxnLst/>
            <a:rect r="r" b="b" t="t" l="l"/>
            <a:pathLst>
              <a:path h="973098" w="1124969">
                <a:moveTo>
                  <a:pt x="0" y="0"/>
                </a:moveTo>
                <a:lnTo>
                  <a:pt x="1124969" y="0"/>
                </a:lnTo>
                <a:lnTo>
                  <a:pt x="1124969" y="973098"/>
                </a:lnTo>
                <a:lnTo>
                  <a:pt x="0" y="9730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7284" y="1410925"/>
            <a:ext cx="7482912" cy="221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8"/>
              </a:lnSpc>
            </a:pPr>
            <a:r>
              <a:rPr lang="en-US" sz="8073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Golongan UKT Distribution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37887" y="6003083"/>
            <a:ext cx="1028700" cy="220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2"/>
              </a:lnSpc>
            </a:pPr>
            <a:r>
              <a:rPr lang="en-US" sz="13015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1704" y="4430810"/>
            <a:ext cx="7393692" cy="124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3"/>
              </a:lnSpc>
            </a:pPr>
            <a:r>
              <a:rPr lang="en-US" sz="7499" spc="-134" b="true">
                <a:solidFill>
                  <a:srgbClr val="00BF6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8</a:t>
            </a:r>
            <a:r>
              <a:rPr lang="en-US" sz="7499" spc="-134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7499" spc="-134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Kelompok UKT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9373" y="6003083"/>
            <a:ext cx="1028700" cy="220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2"/>
              </a:lnSpc>
            </a:pPr>
            <a:r>
              <a:rPr lang="en-US" sz="13015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89119" y="7909497"/>
            <a:ext cx="3188924" cy="53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1"/>
              </a:lnSpc>
            </a:pPr>
            <a:r>
              <a:rPr lang="en-US" sz="3215" spc="-57" b="true">
                <a:solidFill>
                  <a:srgbClr val="F56C7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Semakin murah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10590" y="3327394"/>
            <a:ext cx="169791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>
                <a:solidFill>
                  <a:srgbClr val="FF313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Gol 1 </a:t>
            </a:r>
            <a:r>
              <a:rPr lang="en-US" sz="1899">
                <a:solidFill>
                  <a:srgbClr val="FF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Kurang Representasi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09041" y="7417611"/>
            <a:ext cx="14736981" cy="12739482"/>
          </a:xfrm>
          <a:custGeom>
            <a:avLst/>
            <a:gdLst/>
            <a:ahLst/>
            <a:cxnLst/>
            <a:rect r="r" b="b" t="t" l="l"/>
            <a:pathLst>
              <a:path h="12739482" w="14736981">
                <a:moveTo>
                  <a:pt x="0" y="0"/>
                </a:moveTo>
                <a:lnTo>
                  <a:pt x="14736980" y="0"/>
                </a:lnTo>
                <a:lnTo>
                  <a:pt x="14736980" y="12739482"/>
                </a:lnTo>
                <a:lnTo>
                  <a:pt x="0" y="12739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187103">
            <a:off x="10142912" y="8986877"/>
            <a:ext cx="542845" cy="54284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4495" y="54495"/>
              <a:ext cx="703810" cy="703810"/>
            </a:xfrm>
            <a:custGeom>
              <a:avLst/>
              <a:gdLst/>
              <a:ahLst/>
              <a:cxnLst/>
              <a:rect r="r" b="b" t="t" l="l"/>
              <a:pathLst>
                <a:path h="703810" w="703810">
                  <a:moveTo>
                    <a:pt x="388094" y="23047"/>
                  </a:moveTo>
                  <a:lnTo>
                    <a:pt x="445032" y="145048"/>
                  </a:lnTo>
                  <a:cubicBezTo>
                    <a:pt x="468409" y="195138"/>
                    <a:pt x="508672" y="235401"/>
                    <a:pt x="558762" y="258778"/>
                  </a:cubicBezTo>
                  <a:lnTo>
                    <a:pt x="680763" y="315716"/>
                  </a:lnTo>
                  <a:cubicBezTo>
                    <a:pt x="694823" y="322278"/>
                    <a:pt x="703810" y="336389"/>
                    <a:pt x="703810" y="351905"/>
                  </a:cubicBezTo>
                  <a:cubicBezTo>
                    <a:pt x="703810" y="367421"/>
                    <a:pt x="694823" y="381532"/>
                    <a:pt x="680763" y="388094"/>
                  </a:cubicBezTo>
                  <a:lnTo>
                    <a:pt x="558762" y="445032"/>
                  </a:lnTo>
                  <a:cubicBezTo>
                    <a:pt x="508672" y="468409"/>
                    <a:pt x="468409" y="508672"/>
                    <a:pt x="445032" y="558762"/>
                  </a:cubicBezTo>
                  <a:lnTo>
                    <a:pt x="388094" y="680763"/>
                  </a:lnTo>
                  <a:cubicBezTo>
                    <a:pt x="381532" y="694823"/>
                    <a:pt x="367421" y="703810"/>
                    <a:pt x="351905" y="703810"/>
                  </a:cubicBezTo>
                  <a:cubicBezTo>
                    <a:pt x="336389" y="703810"/>
                    <a:pt x="322278" y="694823"/>
                    <a:pt x="315716" y="680763"/>
                  </a:cubicBezTo>
                  <a:lnTo>
                    <a:pt x="258778" y="558762"/>
                  </a:lnTo>
                  <a:cubicBezTo>
                    <a:pt x="235401" y="508672"/>
                    <a:pt x="195138" y="468409"/>
                    <a:pt x="145048" y="445032"/>
                  </a:cubicBezTo>
                  <a:lnTo>
                    <a:pt x="23047" y="388094"/>
                  </a:lnTo>
                  <a:cubicBezTo>
                    <a:pt x="8987" y="381532"/>
                    <a:pt x="0" y="367421"/>
                    <a:pt x="0" y="351905"/>
                  </a:cubicBezTo>
                  <a:cubicBezTo>
                    <a:pt x="0" y="336389"/>
                    <a:pt x="8987" y="322278"/>
                    <a:pt x="23047" y="315716"/>
                  </a:cubicBezTo>
                  <a:lnTo>
                    <a:pt x="145048" y="258778"/>
                  </a:lnTo>
                  <a:cubicBezTo>
                    <a:pt x="195138" y="235401"/>
                    <a:pt x="235401" y="195138"/>
                    <a:pt x="258778" y="145048"/>
                  </a:cubicBezTo>
                  <a:lnTo>
                    <a:pt x="315716" y="23047"/>
                  </a:lnTo>
                  <a:cubicBezTo>
                    <a:pt x="322278" y="8987"/>
                    <a:pt x="336389" y="0"/>
                    <a:pt x="351905" y="0"/>
                  </a:cubicBezTo>
                  <a:cubicBezTo>
                    <a:pt x="367421" y="0"/>
                    <a:pt x="381532" y="8987"/>
                    <a:pt x="388094" y="23047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1704" y="8834814"/>
            <a:ext cx="770761" cy="7707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45906" y="9078542"/>
            <a:ext cx="302356" cy="302356"/>
          </a:xfrm>
          <a:custGeom>
            <a:avLst/>
            <a:gdLst/>
            <a:ahLst/>
            <a:cxnLst/>
            <a:rect r="r" b="b" t="t" l="l"/>
            <a:pathLst>
              <a:path h="302356" w="302356">
                <a:moveTo>
                  <a:pt x="0" y="0"/>
                </a:moveTo>
                <a:lnTo>
                  <a:pt x="302356" y="0"/>
                </a:lnTo>
                <a:lnTo>
                  <a:pt x="302356" y="302356"/>
                </a:lnTo>
                <a:lnTo>
                  <a:pt x="0" y="302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17160902" y="9387963"/>
            <a:ext cx="402200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367973" y="3641142"/>
            <a:ext cx="1552054" cy="1007424"/>
          </a:xfrm>
          <a:custGeom>
            <a:avLst/>
            <a:gdLst/>
            <a:ahLst/>
            <a:cxnLst/>
            <a:rect r="r" b="b" t="t" l="l"/>
            <a:pathLst>
              <a:path h="1007424" w="1552054">
                <a:moveTo>
                  <a:pt x="0" y="0"/>
                </a:moveTo>
                <a:lnTo>
                  <a:pt x="1552054" y="0"/>
                </a:lnTo>
                <a:lnTo>
                  <a:pt x="1552054" y="1007424"/>
                </a:lnTo>
                <a:lnTo>
                  <a:pt x="0" y="10074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367973" y="5319757"/>
            <a:ext cx="1552054" cy="1007424"/>
          </a:xfrm>
          <a:custGeom>
            <a:avLst/>
            <a:gdLst/>
            <a:ahLst/>
            <a:cxnLst/>
            <a:rect r="r" b="b" t="t" l="l"/>
            <a:pathLst>
              <a:path h="1007424" w="1552054">
                <a:moveTo>
                  <a:pt x="0" y="0"/>
                </a:moveTo>
                <a:lnTo>
                  <a:pt x="1552054" y="0"/>
                </a:lnTo>
                <a:lnTo>
                  <a:pt x="1552054" y="1007424"/>
                </a:lnTo>
                <a:lnTo>
                  <a:pt x="0" y="10074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171236" y="7272737"/>
            <a:ext cx="1948123" cy="1056857"/>
          </a:xfrm>
          <a:custGeom>
            <a:avLst/>
            <a:gdLst/>
            <a:ahLst/>
            <a:cxnLst/>
            <a:rect r="r" b="b" t="t" l="l"/>
            <a:pathLst>
              <a:path h="1056857" w="1948123">
                <a:moveTo>
                  <a:pt x="0" y="0"/>
                </a:moveTo>
                <a:lnTo>
                  <a:pt x="1948123" y="0"/>
                </a:lnTo>
                <a:lnTo>
                  <a:pt x="1948123" y="1056856"/>
                </a:lnTo>
                <a:lnTo>
                  <a:pt x="0" y="1056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57284" y="1388066"/>
            <a:ext cx="1382499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5"/>
              </a:lnSpc>
            </a:pPr>
            <a:r>
              <a:rPr lang="en-US" sz="6512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Fitur mengandung isi yang serupa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  <p:sp>
        <p:nvSpPr>
          <p:cNvPr name="TextBox 21" id="21"/>
          <p:cNvSpPr txBox="true"/>
          <p:nvPr/>
        </p:nvSpPr>
        <p:spPr>
          <a:xfrm rot="-5400000">
            <a:off x="14765914" y="8652959"/>
            <a:ext cx="1204346" cy="265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5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Hutang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24184" y="3703238"/>
            <a:ext cx="6267797" cy="78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2"/>
              </a:lnSpc>
            </a:pPr>
            <a:r>
              <a:rPr lang="en-US" sz="46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Lokasi Tempat Tinggal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29974" y="3703238"/>
            <a:ext cx="1335398" cy="78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2"/>
              </a:lnSpc>
            </a:pPr>
            <a:r>
              <a:rPr lang="en-US" sz="46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Kota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79254" y="4977040"/>
            <a:ext cx="6267797" cy="159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2"/>
              </a:lnSpc>
            </a:pPr>
            <a:r>
              <a:rPr lang="en-US" sz="46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Status Kepemilikan Tempat Tinggal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10956" y="5381853"/>
            <a:ext cx="4858826" cy="78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2"/>
              </a:lnSpc>
            </a:pPr>
            <a:r>
              <a:rPr lang="en-US" sz="46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Kepemilikan Aset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75966" y="7322361"/>
            <a:ext cx="6267797" cy="78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2"/>
              </a:lnSpc>
            </a:pPr>
            <a:r>
              <a:rPr lang="en-US" sz="46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Hutang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4100" y="7322361"/>
            <a:ext cx="6825682" cy="78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2"/>
              </a:lnSpc>
            </a:pPr>
            <a:r>
              <a:rPr lang="en-US" sz="4602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Cicilan Hutang per Bulan</a:t>
            </a:r>
          </a:p>
        </p:txBody>
      </p:sp>
      <p:sp>
        <p:nvSpPr>
          <p:cNvPr name="AutoShape 28" id="28"/>
          <p:cNvSpPr/>
          <p:nvPr/>
        </p:nvSpPr>
        <p:spPr>
          <a:xfrm>
            <a:off x="711704" y="4910365"/>
            <a:ext cx="16547596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711704" y="6872539"/>
            <a:ext cx="16547596" cy="0"/>
          </a:xfrm>
          <a:prstGeom prst="line">
            <a:avLst/>
          </a:prstGeom>
          <a:ln cap="flat" w="38100">
            <a:solidFill>
              <a:srgbClr val="32323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17910">
            <a:off x="1636668" y="-5711078"/>
            <a:ext cx="25254877" cy="21831748"/>
          </a:xfrm>
          <a:custGeom>
            <a:avLst/>
            <a:gdLst/>
            <a:ahLst/>
            <a:cxnLst/>
            <a:rect r="r" b="b" t="t" l="l"/>
            <a:pathLst>
              <a:path h="21831748" w="25254877">
                <a:moveTo>
                  <a:pt x="0" y="0"/>
                </a:moveTo>
                <a:lnTo>
                  <a:pt x="25254877" y="0"/>
                </a:lnTo>
                <a:lnTo>
                  <a:pt x="25254877" y="21831748"/>
                </a:lnTo>
                <a:lnTo>
                  <a:pt x="0" y="21831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7284" y="1756190"/>
            <a:ext cx="1681901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000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Cleaning: Inconsistency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0222" y="2763524"/>
            <a:ext cx="5662154" cy="1437831"/>
            <a:chOff x="0" y="0"/>
            <a:chExt cx="7549538" cy="191710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736848" cy="1894306"/>
              <a:chOff x="0" y="0"/>
              <a:chExt cx="708083" cy="35894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8083" cy="358946"/>
              </a:xfrm>
              <a:custGeom>
                <a:avLst/>
                <a:gdLst/>
                <a:ahLst/>
                <a:cxnLst/>
                <a:rect r="r" b="b" t="t" l="l"/>
                <a:pathLst>
                  <a:path h="358946" w="708083">
                    <a:moveTo>
                      <a:pt x="146862" y="0"/>
                    </a:moveTo>
                    <a:lnTo>
                      <a:pt x="561221" y="0"/>
                    </a:lnTo>
                    <a:cubicBezTo>
                      <a:pt x="642331" y="0"/>
                      <a:pt x="708083" y="65752"/>
                      <a:pt x="708083" y="146862"/>
                    </a:cubicBezTo>
                    <a:lnTo>
                      <a:pt x="708083" y="212084"/>
                    </a:lnTo>
                    <a:cubicBezTo>
                      <a:pt x="708083" y="251034"/>
                      <a:pt x="692610" y="288389"/>
                      <a:pt x="665068" y="315931"/>
                    </a:cubicBezTo>
                    <a:cubicBezTo>
                      <a:pt x="637526" y="343473"/>
                      <a:pt x="600171" y="358946"/>
                      <a:pt x="561221" y="358946"/>
                    </a:cubicBezTo>
                    <a:lnTo>
                      <a:pt x="146862" y="358946"/>
                    </a:lnTo>
                    <a:cubicBezTo>
                      <a:pt x="107912" y="358946"/>
                      <a:pt x="70557" y="343473"/>
                      <a:pt x="43015" y="315931"/>
                    </a:cubicBezTo>
                    <a:cubicBezTo>
                      <a:pt x="15473" y="288389"/>
                      <a:pt x="0" y="251034"/>
                      <a:pt x="0" y="212084"/>
                    </a:cubicBezTo>
                    <a:lnTo>
                      <a:pt x="0" y="146862"/>
                    </a:lnTo>
                    <a:cubicBezTo>
                      <a:pt x="0" y="107912"/>
                      <a:pt x="15473" y="70557"/>
                      <a:pt x="43015" y="43015"/>
                    </a:cubicBezTo>
                    <a:cubicBezTo>
                      <a:pt x="70557" y="15473"/>
                      <a:pt x="107912" y="0"/>
                      <a:pt x="146862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708083" cy="397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S- 3, S3, S-3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4503959" y="22802"/>
              <a:ext cx="3045579" cy="1894306"/>
              <a:chOff x="0" y="0"/>
              <a:chExt cx="577097" cy="35894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77097" cy="358946"/>
              </a:xfrm>
              <a:custGeom>
                <a:avLst/>
                <a:gdLst/>
                <a:ahLst/>
                <a:cxnLst/>
                <a:rect r="r" b="b" t="t" l="l"/>
                <a:pathLst>
                  <a:path h="358946" w="577097">
                    <a:moveTo>
                      <a:pt x="179473" y="0"/>
                    </a:moveTo>
                    <a:lnTo>
                      <a:pt x="397624" y="0"/>
                    </a:lnTo>
                    <a:cubicBezTo>
                      <a:pt x="445223" y="0"/>
                      <a:pt x="490873" y="18909"/>
                      <a:pt x="524530" y="52566"/>
                    </a:cubicBezTo>
                    <a:cubicBezTo>
                      <a:pt x="558188" y="86224"/>
                      <a:pt x="577097" y="131874"/>
                      <a:pt x="577097" y="179473"/>
                    </a:cubicBezTo>
                    <a:lnTo>
                      <a:pt x="577097" y="179473"/>
                    </a:lnTo>
                    <a:cubicBezTo>
                      <a:pt x="577097" y="227072"/>
                      <a:pt x="558188" y="272722"/>
                      <a:pt x="524530" y="306379"/>
                    </a:cubicBezTo>
                    <a:cubicBezTo>
                      <a:pt x="490873" y="340037"/>
                      <a:pt x="445223" y="358946"/>
                      <a:pt x="397624" y="358946"/>
                    </a:cubicBezTo>
                    <a:lnTo>
                      <a:pt x="179473" y="358946"/>
                    </a:lnTo>
                    <a:cubicBezTo>
                      <a:pt x="131874" y="358946"/>
                      <a:pt x="86224" y="340037"/>
                      <a:pt x="52566" y="306379"/>
                    </a:cubicBezTo>
                    <a:cubicBezTo>
                      <a:pt x="18909" y="272722"/>
                      <a:pt x="0" y="227072"/>
                      <a:pt x="0" y="179473"/>
                    </a:cubicBezTo>
                    <a:lnTo>
                      <a:pt x="0" y="179473"/>
                    </a:lnTo>
                    <a:cubicBezTo>
                      <a:pt x="0" y="131874"/>
                      <a:pt x="18909" y="86224"/>
                      <a:pt x="52566" y="52566"/>
                    </a:cubicBezTo>
                    <a:cubicBezTo>
                      <a:pt x="86224" y="18909"/>
                      <a:pt x="131874" y="0"/>
                      <a:pt x="179473" y="0"/>
                    </a:cubicBezTo>
                    <a:close/>
                  </a:path>
                </a:pathLst>
              </a:custGeom>
              <a:solidFill>
                <a:srgbClr val="2F4B7C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577097" cy="397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S3</a:t>
                </a: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3736890" y="973631"/>
              <a:ext cx="767035" cy="2207"/>
            </a:xfrm>
            <a:prstGeom prst="line">
              <a:avLst/>
            </a:prstGeom>
            <a:ln cap="flat" w="52957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038530" y="2763524"/>
            <a:ext cx="9143899" cy="1437831"/>
            <a:chOff x="0" y="0"/>
            <a:chExt cx="12191865" cy="191710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034693" cy="1894306"/>
              <a:chOff x="0" y="0"/>
              <a:chExt cx="1143494" cy="35894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43494" cy="358946"/>
              </a:xfrm>
              <a:custGeom>
                <a:avLst/>
                <a:gdLst/>
                <a:ahLst/>
                <a:cxnLst/>
                <a:rect r="r" b="b" t="t" l="l"/>
                <a:pathLst>
                  <a:path h="358946" w="1143494">
                    <a:moveTo>
                      <a:pt x="90941" y="0"/>
                    </a:moveTo>
                    <a:lnTo>
                      <a:pt x="1052553" y="0"/>
                    </a:lnTo>
                    <a:cubicBezTo>
                      <a:pt x="1102778" y="0"/>
                      <a:pt x="1143494" y="40716"/>
                      <a:pt x="1143494" y="90941"/>
                    </a:cubicBezTo>
                    <a:lnTo>
                      <a:pt x="1143494" y="268005"/>
                    </a:lnTo>
                    <a:cubicBezTo>
                      <a:pt x="1143494" y="318230"/>
                      <a:pt x="1102778" y="358946"/>
                      <a:pt x="1052553" y="358946"/>
                    </a:cubicBezTo>
                    <a:lnTo>
                      <a:pt x="90941" y="358946"/>
                    </a:lnTo>
                    <a:cubicBezTo>
                      <a:pt x="40716" y="358946"/>
                      <a:pt x="0" y="318230"/>
                      <a:pt x="0" y="268005"/>
                    </a:cubicBezTo>
                    <a:lnTo>
                      <a:pt x="0" y="90941"/>
                    </a:lnTo>
                    <a:cubicBezTo>
                      <a:pt x="0" y="40716"/>
                      <a:pt x="40716" y="0"/>
                      <a:pt x="90941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143494" cy="397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-, Tidak, Tidak Ada, Tidak Dapat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273513" y="22802"/>
              <a:ext cx="4918353" cy="1894306"/>
              <a:chOff x="0" y="0"/>
              <a:chExt cx="931962" cy="35894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31962" cy="358946"/>
              </a:xfrm>
              <a:custGeom>
                <a:avLst/>
                <a:gdLst/>
                <a:ahLst/>
                <a:cxnLst/>
                <a:rect r="r" b="b" t="t" l="l"/>
                <a:pathLst>
                  <a:path h="358946" w="931962">
                    <a:moveTo>
                      <a:pt x="111582" y="0"/>
                    </a:moveTo>
                    <a:lnTo>
                      <a:pt x="820380" y="0"/>
                    </a:lnTo>
                    <a:cubicBezTo>
                      <a:pt x="849974" y="0"/>
                      <a:pt x="878355" y="11756"/>
                      <a:pt x="899281" y="32682"/>
                    </a:cubicBezTo>
                    <a:cubicBezTo>
                      <a:pt x="920206" y="53607"/>
                      <a:pt x="931962" y="81989"/>
                      <a:pt x="931962" y="111582"/>
                    </a:cubicBezTo>
                    <a:lnTo>
                      <a:pt x="931962" y="247364"/>
                    </a:lnTo>
                    <a:cubicBezTo>
                      <a:pt x="931962" y="308989"/>
                      <a:pt x="882005" y="358946"/>
                      <a:pt x="820380" y="358946"/>
                    </a:cubicBezTo>
                    <a:lnTo>
                      <a:pt x="111582" y="358946"/>
                    </a:lnTo>
                    <a:cubicBezTo>
                      <a:pt x="49957" y="358946"/>
                      <a:pt x="0" y="308989"/>
                      <a:pt x="0" y="247364"/>
                    </a:cubicBezTo>
                    <a:lnTo>
                      <a:pt x="0" y="111582"/>
                    </a:lnTo>
                    <a:cubicBezTo>
                      <a:pt x="0" y="49957"/>
                      <a:pt x="49957" y="0"/>
                      <a:pt x="111582" y="0"/>
                    </a:cubicBezTo>
                    <a:close/>
                  </a:path>
                </a:pathLst>
              </a:custGeom>
              <a:solidFill>
                <a:srgbClr val="2F4B7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931962" cy="397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Tidak</a:t>
                </a:r>
              </a:p>
            </p:txBody>
          </p:sp>
        </p:grpSp>
        <p:sp>
          <p:nvSpPr>
            <p:cNvPr name="AutoShape 19" id="19"/>
            <p:cNvSpPr/>
            <p:nvPr/>
          </p:nvSpPr>
          <p:spPr>
            <a:xfrm>
              <a:off x="6034761" y="973631"/>
              <a:ext cx="1238696" cy="2207"/>
            </a:xfrm>
            <a:prstGeom prst="line">
              <a:avLst/>
            </a:prstGeom>
            <a:ln cap="flat" w="52957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1704" y="6062358"/>
            <a:ext cx="16134081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000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Cleaning: Missing Value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16230" y="7820469"/>
            <a:ext cx="5662154" cy="1437831"/>
            <a:chOff x="0" y="0"/>
            <a:chExt cx="7549538" cy="191710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736848" cy="1894306"/>
              <a:chOff x="0" y="0"/>
              <a:chExt cx="708083" cy="35894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08083" cy="358946"/>
              </a:xfrm>
              <a:custGeom>
                <a:avLst/>
                <a:gdLst/>
                <a:ahLst/>
                <a:cxnLst/>
                <a:rect r="r" b="b" t="t" l="l"/>
                <a:pathLst>
                  <a:path h="358946" w="708083">
                    <a:moveTo>
                      <a:pt x="146862" y="0"/>
                    </a:moveTo>
                    <a:lnTo>
                      <a:pt x="561221" y="0"/>
                    </a:lnTo>
                    <a:cubicBezTo>
                      <a:pt x="642331" y="0"/>
                      <a:pt x="708083" y="65752"/>
                      <a:pt x="708083" y="146862"/>
                    </a:cubicBezTo>
                    <a:lnTo>
                      <a:pt x="708083" y="212084"/>
                    </a:lnTo>
                    <a:cubicBezTo>
                      <a:pt x="708083" y="251034"/>
                      <a:pt x="692610" y="288389"/>
                      <a:pt x="665068" y="315931"/>
                    </a:cubicBezTo>
                    <a:cubicBezTo>
                      <a:pt x="637526" y="343473"/>
                      <a:pt x="600171" y="358946"/>
                      <a:pt x="561221" y="358946"/>
                    </a:cubicBezTo>
                    <a:lnTo>
                      <a:pt x="146862" y="358946"/>
                    </a:lnTo>
                    <a:cubicBezTo>
                      <a:pt x="107912" y="358946"/>
                      <a:pt x="70557" y="343473"/>
                      <a:pt x="43015" y="315931"/>
                    </a:cubicBezTo>
                    <a:cubicBezTo>
                      <a:pt x="15473" y="288389"/>
                      <a:pt x="0" y="251034"/>
                      <a:pt x="0" y="212084"/>
                    </a:cubicBezTo>
                    <a:lnTo>
                      <a:pt x="0" y="146862"/>
                    </a:lnTo>
                    <a:cubicBezTo>
                      <a:pt x="0" y="107912"/>
                      <a:pt x="15473" y="70557"/>
                      <a:pt x="43015" y="43015"/>
                    </a:cubicBezTo>
                    <a:cubicBezTo>
                      <a:pt x="70557" y="15473"/>
                      <a:pt x="107912" y="0"/>
                      <a:pt x="146862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708083" cy="397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NaN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503959" y="22802"/>
              <a:ext cx="3045579" cy="1894306"/>
              <a:chOff x="0" y="0"/>
              <a:chExt cx="577097" cy="35894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77097" cy="358946"/>
              </a:xfrm>
              <a:custGeom>
                <a:avLst/>
                <a:gdLst/>
                <a:ahLst/>
                <a:cxnLst/>
                <a:rect r="r" b="b" t="t" l="l"/>
                <a:pathLst>
                  <a:path h="358946" w="577097">
                    <a:moveTo>
                      <a:pt x="179473" y="0"/>
                    </a:moveTo>
                    <a:lnTo>
                      <a:pt x="397624" y="0"/>
                    </a:lnTo>
                    <a:cubicBezTo>
                      <a:pt x="445223" y="0"/>
                      <a:pt x="490873" y="18909"/>
                      <a:pt x="524530" y="52566"/>
                    </a:cubicBezTo>
                    <a:cubicBezTo>
                      <a:pt x="558188" y="86224"/>
                      <a:pt x="577097" y="131874"/>
                      <a:pt x="577097" y="179473"/>
                    </a:cubicBezTo>
                    <a:lnTo>
                      <a:pt x="577097" y="179473"/>
                    </a:lnTo>
                    <a:cubicBezTo>
                      <a:pt x="577097" y="227072"/>
                      <a:pt x="558188" y="272722"/>
                      <a:pt x="524530" y="306379"/>
                    </a:cubicBezTo>
                    <a:cubicBezTo>
                      <a:pt x="490873" y="340037"/>
                      <a:pt x="445223" y="358946"/>
                      <a:pt x="397624" y="358946"/>
                    </a:cubicBezTo>
                    <a:lnTo>
                      <a:pt x="179473" y="358946"/>
                    </a:lnTo>
                    <a:cubicBezTo>
                      <a:pt x="131874" y="358946"/>
                      <a:pt x="86224" y="340037"/>
                      <a:pt x="52566" y="306379"/>
                    </a:cubicBezTo>
                    <a:cubicBezTo>
                      <a:pt x="18909" y="272722"/>
                      <a:pt x="0" y="227072"/>
                      <a:pt x="0" y="179473"/>
                    </a:cubicBezTo>
                    <a:lnTo>
                      <a:pt x="0" y="179473"/>
                    </a:lnTo>
                    <a:cubicBezTo>
                      <a:pt x="0" y="131874"/>
                      <a:pt x="18909" y="86224"/>
                      <a:pt x="52566" y="52566"/>
                    </a:cubicBezTo>
                    <a:cubicBezTo>
                      <a:pt x="86224" y="18909"/>
                      <a:pt x="131874" y="0"/>
                      <a:pt x="179473" y="0"/>
                    </a:cubicBezTo>
                    <a:close/>
                  </a:path>
                </a:pathLst>
              </a:custGeom>
              <a:solidFill>
                <a:srgbClr val="2F4B7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577097" cy="397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-1</a:t>
                </a:r>
              </a:p>
            </p:txBody>
          </p:sp>
        </p:grpSp>
        <p:sp>
          <p:nvSpPr>
            <p:cNvPr name="AutoShape 34" id="34"/>
            <p:cNvSpPr/>
            <p:nvPr/>
          </p:nvSpPr>
          <p:spPr>
            <a:xfrm>
              <a:off x="3736890" y="973631"/>
              <a:ext cx="767035" cy="2207"/>
            </a:xfrm>
            <a:prstGeom prst="line">
              <a:avLst/>
            </a:prstGeom>
            <a:ln cap="flat" w="52957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28700" y="7820469"/>
            <a:ext cx="6027338" cy="1437831"/>
            <a:chOff x="0" y="0"/>
            <a:chExt cx="8036450" cy="1917108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3977858" cy="1894306"/>
              <a:chOff x="0" y="0"/>
              <a:chExt cx="753751" cy="35894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753751" cy="358946"/>
              </a:xfrm>
              <a:custGeom>
                <a:avLst/>
                <a:gdLst/>
                <a:ahLst/>
                <a:cxnLst/>
                <a:rect r="r" b="b" t="t" l="l"/>
                <a:pathLst>
                  <a:path h="358946" w="753751">
                    <a:moveTo>
                      <a:pt x="137964" y="0"/>
                    </a:moveTo>
                    <a:lnTo>
                      <a:pt x="615788" y="0"/>
                    </a:lnTo>
                    <a:cubicBezTo>
                      <a:pt x="691983" y="0"/>
                      <a:pt x="753751" y="61768"/>
                      <a:pt x="753751" y="137964"/>
                    </a:cubicBezTo>
                    <a:lnTo>
                      <a:pt x="753751" y="220982"/>
                    </a:lnTo>
                    <a:cubicBezTo>
                      <a:pt x="753751" y="297177"/>
                      <a:pt x="691983" y="358946"/>
                      <a:pt x="615788" y="358946"/>
                    </a:cubicBezTo>
                    <a:lnTo>
                      <a:pt x="137964" y="358946"/>
                    </a:lnTo>
                    <a:cubicBezTo>
                      <a:pt x="61768" y="358946"/>
                      <a:pt x="0" y="297177"/>
                      <a:pt x="0" y="220982"/>
                    </a:cubicBezTo>
                    <a:lnTo>
                      <a:pt x="0" y="137964"/>
                    </a:lnTo>
                    <a:cubicBezTo>
                      <a:pt x="0" y="61768"/>
                      <a:pt x="61768" y="0"/>
                      <a:pt x="137964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753751" cy="397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NaN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4794445" y="22802"/>
              <a:ext cx="3242006" cy="1894306"/>
              <a:chOff x="0" y="0"/>
              <a:chExt cx="614317" cy="35894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614317" cy="358946"/>
              </a:xfrm>
              <a:custGeom>
                <a:avLst/>
                <a:gdLst/>
                <a:ahLst/>
                <a:cxnLst/>
                <a:rect r="r" b="b" t="t" l="l"/>
                <a:pathLst>
                  <a:path h="358946" w="614317">
                    <a:moveTo>
                      <a:pt x="169278" y="0"/>
                    </a:moveTo>
                    <a:lnTo>
                      <a:pt x="445039" y="0"/>
                    </a:lnTo>
                    <a:cubicBezTo>
                      <a:pt x="489934" y="0"/>
                      <a:pt x="532991" y="17835"/>
                      <a:pt x="564737" y="49580"/>
                    </a:cubicBezTo>
                    <a:cubicBezTo>
                      <a:pt x="596482" y="81326"/>
                      <a:pt x="614317" y="124383"/>
                      <a:pt x="614317" y="169278"/>
                    </a:cubicBezTo>
                    <a:lnTo>
                      <a:pt x="614317" y="189668"/>
                    </a:lnTo>
                    <a:cubicBezTo>
                      <a:pt x="614317" y="234563"/>
                      <a:pt x="596482" y="277620"/>
                      <a:pt x="564737" y="309366"/>
                    </a:cubicBezTo>
                    <a:cubicBezTo>
                      <a:pt x="532991" y="341111"/>
                      <a:pt x="489934" y="358946"/>
                      <a:pt x="445039" y="358946"/>
                    </a:cubicBezTo>
                    <a:lnTo>
                      <a:pt x="169278" y="358946"/>
                    </a:lnTo>
                    <a:cubicBezTo>
                      <a:pt x="124383" y="358946"/>
                      <a:pt x="81326" y="341111"/>
                      <a:pt x="49580" y="309366"/>
                    </a:cubicBezTo>
                    <a:cubicBezTo>
                      <a:pt x="17835" y="277620"/>
                      <a:pt x="0" y="234563"/>
                      <a:pt x="0" y="189668"/>
                    </a:cubicBezTo>
                    <a:lnTo>
                      <a:pt x="0" y="169278"/>
                    </a:lnTo>
                    <a:cubicBezTo>
                      <a:pt x="0" y="124383"/>
                      <a:pt x="17835" y="81326"/>
                      <a:pt x="49580" y="49580"/>
                    </a:cubicBezTo>
                    <a:cubicBezTo>
                      <a:pt x="81326" y="17835"/>
                      <a:pt x="124383" y="0"/>
                      <a:pt x="169278" y="0"/>
                    </a:cubicBezTo>
                    <a:close/>
                  </a:path>
                </a:pathLst>
              </a:custGeom>
              <a:solidFill>
                <a:srgbClr val="2F4B7C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614317" cy="397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0 Tanggungan Anak</a:t>
                </a:r>
              </a:p>
            </p:txBody>
          </p:sp>
        </p:grpSp>
        <p:sp>
          <p:nvSpPr>
            <p:cNvPr name="AutoShape 42" id="42"/>
            <p:cNvSpPr/>
            <p:nvPr/>
          </p:nvSpPr>
          <p:spPr>
            <a:xfrm>
              <a:off x="3977903" y="973631"/>
              <a:ext cx="816505" cy="2207"/>
            </a:xfrm>
            <a:prstGeom prst="line">
              <a:avLst/>
            </a:prstGeom>
            <a:ln cap="flat" w="52957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156039" y="7235838"/>
            <a:ext cx="6117789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0"/>
              </a:lnSpc>
            </a:pPr>
            <a:r>
              <a:rPr lang="en-US" b="true" sz="200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Heuristik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16230" y="7084708"/>
            <a:ext cx="6117789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0"/>
              </a:lnSpc>
            </a:pPr>
            <a:r>
              <a:rPr lang="en-US" b="true" sz="2000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Non-Heuristik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3227">
            <a:off x="11173716" y="-8255501"/>
            <a:ext cx="10589179" cy="10731946"/>
          </a:xfrm>
          <a:custGeom>
            <a:avLst/>
            <a:gdLst/>
            <a:ahLst/>
            <a:cxnLst/>
            <a:rect r="r" b="b" t="t" l="l"/>
            <a:pathLst>
              <a:path h="10731946" w="10589179">
                <a:moveTo>
                  <a:pt x="0" y="0"/>
                </a:moveTo>
                <a:lnTo>
                  <a:pt x="10589179" y="0"/>
                </a:lnTo>
                <a:lnTo>
                  <a:pt x="10589179" y="10731946"/>
                </a:lnTo>
                <a:lnTo>
                  <a:pt x="0" y="10731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252777" y="6452678"/>
            <a:ext cx="891189" cy="15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572625" y="2791483"/>
            <a:ext cx="7502419" cy="6067581"/>
          </a:xfrm>
          <a:custGeom>
            <a:avLst/>
            <a:gdLst/>
            <a:ahLst/>
            <a:cxnLst/>
            <a:rect r="r" b="b" t="t" l="l"/>
            <a:pathLst>
              <a:path h="6067581" w="7502419">
                <a:moveTo>
                  <a:pt x="0" y="0"/>
                </a:moveTo>
                <a:lnTo>
                  <a:pt x="7502419" y="0"/>
                </a:lnTo>
                <a:lnTo>
                  <a:pt x="7502419" y="6067581"/>
                </a:lnTo>
                <a:lnTo>
                  <a:pt x="0" y="6067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1704" y="2791483"/>
            <a:ext cx="7502419" cy="6067581"/>
          </a:xfrm>
          <a:custGeom>
            <a:avLst/>
            <a:gdLst/>
            <a:ahLst/>
            <a:cxnLst/>
            <a:rect r="r" b="b" t="t" l="l"/>
            <a:pathLst>
              <a:path h="6067581" w="7502419">
                <a:moveTo>
                  <a:pt x="0" y="0"/>
                </a:moveTo>
                <a:lnTo>
                  <a:pt x="7502419" y="0"/>
                </a:lnTo>
                <a:lnTo>
                  <a:pt x="7502419" y="6067581"/>
                </a:lnTo>
                <a:lnTo>
                  <a:pt x="0" y="6067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7284" y="1803815"/>
            <a:ext cx="16819012" cy="117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1"/>
              </a:lnSpc>
            </a:pPr>
            <a:r>
              <a:rPr lang="en-US" sz="8416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Cleaning: Outlier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50904" y="5376534"/>
            <a:ext cx="1886585" cy="77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sz="21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Remove value </a:t>
            </a:r>
          </a:p>
          <a:p>
            <a:pPr algn="ctr">
              <a:lnSpc>
                <a:spcPts val="3078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&gt; upper IQR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10800000">
            <a:off x="1624650" y="3160765"/>
            <a:ext cx="7901200" cy="5267466"/>
          </a:xfrm>
          <a:custGeom>
            <a:avLst/>
            <a:gdLst/>
            <a:ahLst/>
            <a:cxnLst/>
            <a:rect r="r" b="b" t="t" l="l"/>
            <a:pathLst>
              <a:path h="5267466" w="7901200">
                <a:moveTo>
                  <a:pt x="7901200" y="0"/>
                </a:moveTo>
                <a:lnTo>
                  <a:pt x="0" y="0"/>
                </a:lnTo>
                <a:lnTo>
                  <a:pt x="0" y="5267466"/>
                </a:lnTo>
                <a:lnTo>
                  <a:pt x="7901200" y="5267466"/>
                </a:lnTo>
                <a:lnTo>
                  <a:pt x="79012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972621">
            <a:off x="9633032" y="-915746"/>
            <a:ext cx="13087063" cy="11313199"/>
          </a:xfrm>
          <a:custGeom>
            <a:avLst/>
            <a:gdLst/>
            <a:ahLst/>
            <a:cxnLst/>
            <a:rect r="r" b="b" t="t" l="l"/>
            <a:pathLst>
              <a:path h="11313199" w="13087063">
                <a:moveTo>
                  <a:pt x="0" y="0"/>
                </a:moveTo>
                <a:lnTo>
                  <a:pt x="13087063" y="0"/>
                </a:lnTo>
                <a:lnTo>
                  <a:pt x="13087063" y="11313199"/>
                </a:lnTo>
                <a:lnTo>
                  <a:pt x="0" y="11313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1704" y="1133475"/>
            <a:ext cx="16819012" cy="11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8"/>
              </a:lnSpc>
            </a:pPr>
            <a:r>
              <a:rPr lang="en-US" sz="8073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Cleaning: </a:t>
            </a:r>
            <a:r>
              <a:rPr lang="en-US" sz="8073" b="true">
                <a:solidFill>
                  <a:srgbClr val="FF313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Too Much Nunique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23136" y="5707277"/>
            <a:ext cx="4608761" cy="61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5"/>
              </a:lnSpc>
              <a:spcBef>
                <a:spcPct val="0"/>
              </a:spcBef>
            </a:pPr>
            <a:r>
              <a:rPr lang="en-US" b="true" sz="3582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3266 Unique values!!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879488" y="6052306"/>
            <a:ext cx="891189" cy="15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3" id="13"/>
          <p:cNvSpPr txBox="true"/>
          <p:nvPr/>
        </p:nvSpPr>
        <p:spPr>
          <a:xfrm rot="0">
            <a:off x="9632695" y="6936739"/>
            <a:ext cx="8399441" cy="124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5"/>
              </a:lnSpc>
              <a:spcBef>
                <a:spcPct val="0"/>
              </a:spcBef>
            </a:pPr>
            <a:r>
              <a:rPr lang="en-US" sz="3582">
                <a:solidFill>
                  <a:srgbClr val="D82B2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Akan </a:t>
            </a:r>
            <a:r>
              <a:rPr lang="en-US" b="true" sz="3582">
                <a:solidFill>
                  <a:srgbClr val="D82B2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memakan banyak waktu</a:t>
            </a:r>
            <a:r>
              <a:rPr lang="en-US" sz="3582">
                <a:solidFill>
                  <a:srgbClr val="D82B2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untuk benar-benar membersihkannya!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240000">
            <a:off x="14924673" y="5174028"/>
            <a:ext cx="5143492" cy="4446326"/>
          </a:xfrm>
          <a:custGeom>
            <a:avLst/>
            <a:gdLst/>
            <a:ahLst/>
            <a:cxnLst/>
            <a:rect r="r" b="b" t="t" l="l"/>
            <a:pathLst>
              <a:path h="4446326" w="5143492">
                <a:moveTo>
                  <a:pt x="0" y="0"/>
                </a:moveTo>
                <a:lnTo>
                  <a:pt x="5143492" y="0"/>
                </a:lnTo>
                <a:lnTo>
                  <a:pt x="5143492" y="4446326"/>
                </a:lnTo>
                <a:lnTo>
                  <a:pt x="0" y="4446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655508"/>
            <a:ext cx="2947505" cy="1362872"/>
            <a:chOff x="0" y="0"/>
            <a:chExt cx="776298" cy="3589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6298" cy="358946"/>
            </a:xfrm>
            <a:custGeom>
              <a:avLst/>
              <a:gdLst/>
              <a:ahLst/>
              <a:cxnLst/>
              <a:rect r="r" b="b" t="t" l="l"/>
              <a:pathLst>
                <a:path h="358946" w="776298">
                  <a:moveTo>
                    <a:pt x="133957" y="0"/>
                  </a:moveTo>
                  <a:lnTo>
                    <a:pt x="642341" y="0"/>
                  </a:lnTo>
                  <a:cubicBezTo>
                    <a:pt x="677868" y="0"/>
                    <a:pt x="711941" y="14113"/>
                    <a:pt x="737063" y="39235"/>
                  </a:cubicBezTo>
                  <a:cubicBezTo>
                    <a:pt x="762184" y="64357"/>
                    <a:pt x="776298" y="98429"/>
                    <a:pt x="776298" y="133957"/>
                  </a:cubicBezTo>
                  <a:lnTo>
                    <a:pt x="776298" y="224989"/>
                  </a:lnTo>
                  <a:cubicBezTo>
                    <a:pt x="776298" y="260517"/>
                    <a:pt x="762184" y="294589"/>
                    <a:pt x="737063" y="319711"/>
                  </a:cubicBezTo>
                  <a:cubicBezTo>
                    <a:pt x="711941" y="344833"/>
                    <a:pt x="677868" y="358946"/>
                    <a:pt x="642341" y="358946"/>
                  </a:cubicBezTo>
                  <a:lnTo>
                    <a:pt x="133957" y="358946"/>
                  </a:lnTo>
                  <a:cubicBezTo>
                    <a:pt x="98429" y="358946"/>
                    <a:pt x="64357" y="344833"/>
                    <a:pt x="39235" y="319711"/>
                  </a:cubicBezTo>
                  <a:cubicBezTo>
                    <a:pt x="14113" y="294589"/>
                    <a:pt x="0" y="260517"/>
                    <a:pt x="0" y="224989"/>
                  </a:cubicBezTo>
                  <a:lnTo>
                    <a:pt x="0" y="133957"/>
                  </a:lnTo>
                  <a:cubicBezTo>
                    <a:pt x="0" y="98429"/>
                    <a:pt x="14113" y="64357"/>
                    <a:pt x="39235" y="39235"/>
                  </a:cubicBezTo>
                  <a:cubicBezTo>
                    <a:pt x="64357" y="14113"/>
                    <a:pt x="98429" y="0"/>
                    <a:pt x="133957" y="0"/>
                  </a:cubicBezTo>
                  <a:close/>
                </a:path>
              </a:pathLst>
            </a:custGeom>
            <a:solidFill>
              <a:srgbClr val="F55C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76298" cy="39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Generate N-gram (1-3)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18614" y="3671913"/>
            <a:ext cx="2947505" cy="1362872"/>
            <a:chOff x="0" y="0"/>
            <a:chExt cx="776298" cy="358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6298" cy="358946"/>
            </a:xfrm>
            <a:custGeom>
              <a:avLst/>
              <a:gdLst/>
              <a:ahLst/>
              <a:cxnLst/>
              <a:rect r="r" b="b" t="t" l="l"/>
              <a:pathLst>
                <a:path h="358946" w="776298">
                  <a:moveTo>
                    <a:pt x="133957" y="0"/>
                  </a:moveTo>
                  <a:lnTo>
                    <a:pt x="642341" y="0"/>
                  </a:lnTo>
                  <a:cubicBezTo>
                    <a:pt x="677868" y="0"/>
                    <a:pt x="711941" y="14113"/>
                    <a:pt x="737063" y="39235"/>
                  </a:cubicBezTo>
                  <a:cubicBezTo>
                    <a:pt x="762184" y="64357"/>
                    <a:pt x="776298" y="98429"/>
                    <a:pt x="776298" y="133957"/>
                  </a:cubicBezTo>
                  <a:lnTo>
                    <a:pt x="776298" y="224989"/>
                  </a:lnTo>
                  <a:cubicBezTo>
                    <a:pt x="776298" y="260517"/>
                    <a:pt x="762184" y="294589"/>
                    <a:pt x="737063" y="319711"/>
                  </a:cubicBezTo>
                  <a:cubicBezTo>
                    <a:pt x="711941" y="344833"/>
                    <a:pt x="677868" y="358946"/>
                    <a:pt x="642341" y="358946"/>
                  </a:cubicBezTo>
                  <a:lnTo>
                    <a:pt x="133957" y="358946"/>
                  </a:lnTo>
                  <a:cubicBezTo>
                    <a:pt x="98429" y="358946"/>
                    <a:pt x="64357" y="344833"/>
                    <a:pt x="39235" y="319711"/>
                  </a:cubicBezTo>
                  <a:cubicBezTo>
                    <a:pt x="14113" y="294589"/>
                    <a:pt x="0" y="260517"/>
                    <a:pt x="0" y="224989"/>
                  </a:cubicBezTo>
                  <a:lnTo>
                    <a:pt x="0" y="133957"/>
                  </a:lnTo>
                  <a:cubicBezTo>
                    <a:pt x="0" y="98429"/>
                    <a:pt x="14113" y="64357"/>
                    <a:pt x="39235" y="39235"/>
                  </a:cubicBezTo>
                  <a:cubicBezTo>
                    <a:pt x="64357" y="14113"/>
                    <a:pt x="98429" y="0"/>
                    <a:pt x="133957" y="0"/>
                  </a:cubicBezTo>
                  <a:close/>
                </a:path>
              </a:pathLst>
            </a:custGeom>
            <a:solidFill>
              <a:srgbClr val="F56C7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76298" cy="39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Hitung N-gram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389389" y="3671913"/>
            <a:ext cx="4077082" cy="1362872"/>
            <a:chOff x="0" y="0"/>
            <a:chExt cx="1073799" cy="3589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3799" cy="358946"/>
            </a:xfrm>
            <a:custGeom>
              <a:avLst/>
              <a:gdLst/>
              <a:ahLst/>
              <a:cxnLst/>
              <a:rect r="r" b="b" t="t" l="l"/>
              <a:pathLst>
                <a:path h="358946" w="1073799">
                  <a:moveTo>
                    <a:pt x="96843" y="0"/>
                  </a:moveTo>
                  <a:lnTo>
                    <a:pt x="976956" y="0"/>
                  </a:lnTo>
                  <a:cubicBezTo>
                    <a:pt x="1030441" y="0"/>
                    <a:pt x="1073799" y="43358"/>
                    <a:pt x="1073799" y="96843"/>
                  </a:cubicBezTo>
                  <a:lnTo>
                    <a:pt x="1073799" y="262103"/>
                  </a:lnTo>
                  <a:cubicBezTo>
                    <a:pt x="1073799" y="315588"/>
                    <a:pt x="1030441" y="358946"/>
                    <a:pt x="976956" y="358946"/>
                  </a:cubicBezTo>
                  <a:lnTo>
                    <a:pt x="96843" y="358946"/>
                  </a:lnTo>
                  <a:cubicBezTo>
                    <a:pt x="43358" y="358946"/>
                    <a:pt x="0" y="315588"/>
                    <a:pt x="0" y="262103"/>
                  </a:cubicBezTo>
                  <a:lnTo>
                    <a:pt x="0" y="96843"/>
                  </a:lnTo>
                  <a:cubicBezTo>
                    <a:pt x="0" y="43358"/>
                    <a:pt x="43358" y="0"/>
                    <a:pt x="96843" y="0"/>
                  </a:cubicBezTo>
                  <a:close/>
                </a:path>
              </a:pathLst>
            </a:custGeom>
            <a:solidFill>
              <a:srgbClr val="F57C7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73799" cy="39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Cari N-gram Paling Banyak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208846" y="3655508"/>
            <a:ext cx="3086100" cy="1362872"/>
            <a:chOff x="0" y="0"/>
            <a:chExt cx="812800" cy="3589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358946"/>
            </a:xfrm>
            <a:custGeom>
              <a:avLst/>
              <a:gdLst/>
              <a:ahLst/>
              <a:cxnLst/>
              <a:rect r="r" b="b" t="t" l="l"/>
              <a:pathLst>
                <a:path h="35894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31005"/>
                  </a:lnTo>
                  <a:cubicBezTo>
                    <a:pt x="812800" y="264937"/>
                    <a:pt x="799321" y="297479"/>
                    <a:pt x="775327" y="321473"/>
                  </a:cubicBezTo>
                  <a:cubicBezTo>
                    <a:pt x="751333" y="345466"/>
                    <a:pt x="718791" y="358946"/>
                    <a:pt x="684859" y="358946"/>
                  </a:cubicBezTo>
                  <a:lnTo>
                    <a:pt x="127941" y="358946"/>
                  </a:lnTo>
                  <a:cubicBezTo>
                    <a:pt x="94009" y="358946"/>
                    <a:pt x="61467" y="345466"/>
                    <a:pt x="37473" y="321473"/>
                  </a:cubicBezTo>
                  <a:cubicBezTo>
                    <a:pt x="13479" y="297479"/>
                    <a:pt x="0" y="264937"/>
                    <a:pt x="0" y="23100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68C7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39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One hot Encoding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276198" y="5745286"/>
          <a:ext cx="14226382" cy="3822002"/>
        </p:xfrm>
        <a:graphic>
          <a:graphicData uri="http://schemas.openxmlformats.org/drawingml/2006/table">
            <a:tbl>
              <a:tblPr/>
              <a:tblGrid>
                <a:gridCol w="10607569"/>
                <a:gridCol w="1221254"/>
                <a:gridCol w="1238649"/>
                <a:gridCol w="1158911"/>
              </a:tblGrid>
              <a:tr h="9660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Bahan Atap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Keramik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Batu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Batu Bata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</a:tr>
              <a:tr h="9519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Keramik Batu Bata  xsaxaksxm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19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Keramik aja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19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Keramik dan bahan lainnya seperti Batu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</a:t>
                      </a:r>
                      <a:endParaRPr lang="en-US" sz="1100"/>
                    </a:p>
                  </a:txBody>
                  <a:tcPr marL="106687" marR="106687" marT="106687" marB="106687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0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6" id="16"/>
          <p:cNvSpPr/>
          <p:nvPr/>
        </p:nvSpPr>
        <p:spPr>
          <a:xfrm>
            <a:off x="3976246" y="4355994"/>
            <a:ext cx="742335" cy="15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7647014" y="4376632"/>
            <a:ext cx="742335" cy="15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12466512" y="4352555"/>
            <a:ext cx="742335" cy="15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7407" y="1726082"/>
            <a:ext cx="16819012" cy="11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8"/>
              </a:lnSpc>
            </a:pPr>
            <a:r>
              <a:rPr lang="en-US" sz="8073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Cleaning: </a:t>
            </a:r>
            <a:r>
              <a:rPr lang="en-US" sz="8073" b="true">
                <a:solidFill>
                  <a:srgbClr val="FF313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Too Much Nunique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90638" y="6095091"/>
            <a:ext cx="294546" cy="322709"/>
          </a:xfrm>
          <a:custGeom>
            <a:avLst/>
            <a:gdLst/>
            <a:ahLst/>
            <a:cxnLst/>
            <a:rect r="r" b="b" t="t" l="l"/>
            <a:pathLst>
              <a:path h="322709" w="294546">
                <a:moveTo>
                  <a:pt x="0" y="0"/>
                </a:moveTo>
                <a:lnTo>
                  <a:pt x="294546" y="0"/>
                </a:lnTo>
                <a:lnTo>
                  <a:pt x="294546" y="322710"/>
                </a:lnTo>
                <a:lnTo>
                  <a:pt x="0" y="32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1704" y="1373280"/>
            <a:ext cx="7858446" cy="221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8"/>
              </a:lnSpc>
            </a:pPr>
            <a:r>
              <a:rPr lang="en-US" sz="8073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Baseline Comparison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9507315">
            <a:off x="-5593765" y="4493954"/>
            <a:ext cx="10589179" cy="10731946"/>
          </a:xfrm>
          <a:custGeom>
            <a:avLst/>
            <a:gdLst/>
            <a:ahLst/>
            <a:cxnLst/>
            <a:rect r="r" b="b" t="t" l="l"/>
            <a:pathLst>
              <a:path h="10731946" w="10589179">
                <a:moveTo>
                  <a:pt x="0" y="0"/>
                </a:moveTo>
                <a:lnTo>
                  <a:pt x="10589180" y="0"/>
                </a:lnTo>
                <a:lnTo>
                  <a:pt x="10589180" y="10731945"/>
                </a:lnTo>
                <a:lnTo>
                  <a:pt x="0" y="10731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20246" y="1976863"/>
            <a:ext cx="7656050" cy="7281437"/>
            <a:chOff x="0" y="0"/>
            <a:chExt cx="2016408" cy="19177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6408" cy="1917745"/>
            </a:xfrm>
            <a:custGeom>
              <a:avLst/>
              <a:gdLst/>
              <a:ahLst/>
              <a:cxnLst/>
              <a:rect r="r" b="b" t="t" l="l"/>
              <a:pathLst>
                <a:path h="1917745" w="2016408">
                  <a:moveTo>
                    <a:pt x="51572" y="0"/>
                  </a:moveTo>
                  <a:lnTo>
                    <a:pt x="1964836" y="0"/>
                  </a:lnTo>
                  <a:cubicBezTo>
                    <a:pt x="1978514" y="0"/>
                    <a:pt x="1991632" y="5433"/>
                    <a:pt x="2001303" y="15105"/>
                  </a:cubicBezTo>
                  <a:cubicBezTo>
                    <a:pt x="2010975" y="24777"/>
                    <a:pt x="2016408" y="37894"/>
                    <a:pt x="2016408" y="51572"/>
                  </a:cubicBezTo>
                  <a:lnTo>
                    <a:pt x="2016408" y="1866173"/>
                  </a:lnTo>
                  <a:cubicBezTo>
                    <a:pt x="2016408" y="1879851"/>
                    <a:pt x="2010975" y="1892968"/>
                    <a:pt x="2001303" y="1902640"/>
                  </a:cubicBezTo>
                  <a:cubicBezTo>
                    <a:pt x="1991632" y="1912311"/>
                    <a:pt x="1978514" y="1917745"/>
                    <a:pt x="1964836" y="1917745"/>
                  </a:cubicBezTo>
                  <a:lnTo>
                    <a:pt x="51572" y="1917745"/>
                  </a:lnTo>
                  <a:cubicBezTo>
                    <a:pt x="37894" y="1917745"/>
                    <a:pt x="24777" y="1912311"/>
                    <a:pt x="15105" y="1902640"/>
                  </a:cubicBezTo>
                  <a:cubicBezTo>
                    <a:pt x="5433" y="1892968"/>
                    <a:pt x="0" y="1879851"/>
                    <a:pt x="0" y="1866173"/>
                  </a:cubicBezTo>
                  <a:lnTo>
                    <a:pt x="0" y="51572"/>
                  </a:lnTo>
                  <a:cubicBezTo>
                    <a:pt x="0" y="37894"/>
                    <a:pt x="5433" y="24777"/>
                    <a:pt x="15105" y="15105"/>
                  </a:cubicBezTo>
                  <a:cubicBezTo>
                    <a:pt x="24777" y="5433"/>
                    <a:pt x="37894" y="0"/>
                    <a:pt x="51572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16408" cy="1955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56816" y="1877311"/>
            <a:ext cx="7774456" cy="7549052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3563577" y="3711204"/>
            <a:ext cx="560933" cy="29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0.457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58171" y="3458661"/>
            <a:ext cx="590848" cy="29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0.463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32662" y="3206119"/>
            <a:ext cx="570389" cy="29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0.467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2164" y="5965804"/>
            <a:ext cx="535146" cy="29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0.416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72402" y="7902965"/>
            <a:ext cx="531019" cy="29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0.381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1704" y="5175292"/>
            <a:ext cx="7778621" cy="124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5"/>
              </a:lnSpc>
            </a:pPr>
            <a:r>
              <a:rPr lang="en-US" sz="358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 Model yang</a:t>
            </a:r>
            <a:r>
              <a:rPr lang="en-US" sz="3582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terbaik</a:t>
            </a:r>
            <a:r>
              <a:rPr lang="en-US" sz="358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adalah</a:t>
            </a:r>
          </a:p>
          <a:p>
            <a:pPr algn="l">
              <a:lnSpc>
                <a:spcPts val="5015"/>
              </a:lnSpc>
              <a:spcBef>
                <a:spcPct val="0"/>
              </a:spcBef>
            </a:pPr>
            <a:r>
              <a:rPr lang="en-US" b="true" sz="3582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CatBoost, LGBM, dan XGBoost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5816" y="1373280"/>
            <a:ext cx="12322739" cy="11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8"/>
              </a:lnSpc>
            </a:pPr>
            <a:r>
              <a:rPr lang="en-US" sz="8073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Cost Sensitive Learning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4433227">
            <a:off x="12239890" y="3415406"/>
            <a:ext cx="10589179" cy="10731946"/>
          </a:xfrm>
          <a:custGeom>
            <a:avLst/>
            <a:gdLst/>
            <a:ahLst/>
            <a:cxnLst/>
            <a:rect r="r" b="b" t="t" l="l"/>
            <a:pathLst>
              <a:path h="10731946" w="10589179">
                <a:moveTo>
                  <a:pt x="0" y="0"/>
                </a:moveTo>
                <a:lnTo>
                  <a:pt x="10589179" y="0"/>
                </a:lnTo>
                <a:lnTo>
                  <a:pt x="10589179" y="10731946"/>
                </a:lnTo>
                <a:lnTo>
                  <a:pt x="0" y="10731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4578" y="4429493"/>
            <a:ext cx="2964779" cy="1908830"/>
          </a:xfrm>
          <a:custGeom>
            <a:avLst/>
            <a:gdLst/>
            <a:ahLst/>
            <a:cxnLst/>
            <a:rect r="r" b="b" t="t" l="l"/>
            <a:pathLst>
              <a:path h="1908830" w="2964779">
                <a:moveTo>
                  <a:pt x="0" y="0"/>
                </a:moveTo>
                <a:lnTo>
                  <a:pt x="2964778" y="0"/>
                </a:lnTo>
                <a:lnTo>
                  <a:pt x="2964778" y="1908830"/>
                </a:lnTo>
                <a:lnTo>
                  <a:pt x="0" y="1908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3908" y="6288872"/>
            <a:ext cx="509019" cy="372675"/>
          </a:xfrm>
          <a:custGeom>
            <a:avLst/>
            <a:gdLst/>
            <a:ahLst/>
            <a:cxnLst/>
            <a:rect r="r" b="b" t="t" l="l"/>
            <a:pathLst>
              <a:path h="372675" w="509019">
                <a:moveTo>
                  <a:pt x="0" y="0"/>
                </a:moveTo>
                <a:lnTo>
                  <a:pt x="509019" y="0"/>
                </a:lnTo>
                <a:lnTo>
                  <a:pt x="509019" y="372675"/>
                </a:lnTo>
                <a:lnTo>
                  <a:pt x="0" y="372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18985" y="6288872"/>
            <a:ext cx="138751" cy="317971"/>
          </a:xfrm>
          <a:custGeom>
            <a:avLst/>
            <a:gdLst/>
            <a:ahLst/>
            <a:cxnLst/>
            <a:rect r="r" b="b" t="t" l="l"/>
            <a:pathLst>
              <a:path h="317971" w="138751">
                <a:moveTo>
                  <a:pt x="0" y="0"/>
                </a:moveTo>
                <a:lnTo>
                  <a:pt x="138751" y="0"/>
                </a:lnTo>
                <a:lnTo>
                  <a:pt x="138751" y="317971"/>
                </a:lnTo>
                <a:lnTo>
                  <a:pt x="0" y="3179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17298" y="7150408"/>
            <a:ext cx="138751" cy="317971"/>
          </a:xfrm>
          <a:custGeom>
            <a:avLst/>
            <a:gdLst/>
            <a:ahLst/>
            <a:cxnLst/>
            <a:rect r="r" b="b" t="t" l="l"/>
            <a:pathLst>
              <a:path h="317971" w="138751">
                <a:moveTo>
                  <a:pt x="0" y="0"/>
                </a:moveTo>
                <a:lnTo>
                  <a:pt x="138751" y="0"/>
                </a:lnTo>
                <a:lnTo>
                  <a:pt x="138751" y="317971"/>
                </a:lnTo>
                <a:lnTo>
                  <a:pt x="0" y="3179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5946" y="6714829"/>
            <a:ext cx="344942" cy="338309"/>
          </a:xfrm>
          <a:custGeom>
            <a:avLst/>
            <a:gdLst/>
            <a:ahLst/>
            <a:cxnLst/>
            <a:rect r="r" b="b" t="t" l="l"/>
            <a:pathLst>
              <a:path h="338309" w="344942">
                <a:moveTo>
                  <a:pt x="0" y="0"/>
                </a:moveTo>
                <a:lnTo>
                  <a:pt x="344942" y="0"/>
                </a:lnTo>
                <a:lnTo>
                  <a:pt x="344942" y="338309"/>
                </a:lnTo>
                <a:lnTo>
                  <a:pt x="0" y="3383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6526" y="7171599"/>
            <a:ext cx="403782" cy="311391"/>
          </a:xfrm>
          <a:custGeom>
            <a:avLst/>
            <a:gdLst/>
            <a:ahLst/>
            <a:cxnLst/>
            <a:rect r="r" b="b" t="t" l="l"/>
            <a:pathLst>
              <a:path h="311391" w="403782">
                <a:moveTo>
                  <a:pt x="0" y="0"/>
                </a:moveTo>
                <a:lnTo>
                  <a:pt x="403782" y="0"/>
                </a:lnTo>
                <a:lnTo>
                  <a:pt x="403782" y="311391"/>
                </a:lnTo>
                <a:lnTo>
                  <a:pt x="0" y="3113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5946" y="7573272"/>
            <a:ext cx="403116" cy="357503"/>
          </a:xfrm>
          <a:custGeom>
            <a:avLst/>
            <a:gdLst/>
            <a:ahLst/>
            <a:cxnLst/>
            <a:rect r="r" b="b" t="t" l="l"/>
            <a:pathLst>
              <a:path h="357503" w="403116">
                <a:moveTo>
                  <a:pt x="0" y="0"/>
                </a:moveTo>
                <a:lnTo>
                  <a:pt x="403116" y="0"/>
                </a:lnTo>
                <a:lnTo>
                  <a:pt x="403116" y="357504"/>
                </a:lnTo>
                <a:lnTo>
                  <a:pt x="0" y="3575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2927" y="6250772"/>
            <a:ext cx="2646059" cy="35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3"/>
              </a:lnSpc>
            </a:pPr>
            <a:r>
              <a:rPr lang="en-US" sz="21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Weight untuk kelas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2927" y="6697067"/>
            <a:ext cx="2829463" cy="35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3"/>
              </a:lnSpc>
            </a:pPr>
            <a:r>
              <a:rPr lang="en-US" sz="21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Banyaknya </a:t>
            </a:r>
            <a:r>
              <a:rPr lang="en-US" sz="213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Instance</a:t>
            </a:r>
            <a:r>
              <a:rPr lang="en-US" sz="21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7103436"/>
            <a:ext cx="6762176" cy="35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3"/>
              </a:lnSpc>
            </a:pPr>
            <a:r>
              <a:rPr lang="en-US" sz="21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Banyaknya </a:t>
            </a:r>
            <a:r>
              <a:rPr lang="en-US" sz="213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Instance</a:t>
            </a:r>
            <a:r>
              <a:rPr lang="en-US" sz="21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pada kelas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9062" y="7554938"/>
            <a:ext cx="2478158" cy="35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3"/>
              </a:lnSpc>
            </a:pPr>
            <a:r>
              <a:rPr lang="en-US" sz="21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Jumlah label unik 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44342" y="4654065"/>
            <a:ext cx="3086100" cy="30861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19253" y="5932146"/>
            <a:ext cx="936278" cy="47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5"/>
              </a:lnSpc>
              <a:spcBef>
                <a:spcPct val="0"/>
              </a:spcBef>
            </a:pPr>
            <a:r>
              <a:rPr lang="en-US" b="true" sz="276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0.467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50816" y="4654065"/>
            <a:ext cx="3086100" cy="30861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134880" y="5932146"/>
            <a:ext cx="917972" cy="47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5"/>
              </a:lnSpc>
              <a:spcBef>
                <a:spcPct val="0"/>
              </a:spcBef>
            </a:pPr>
            <a:r>
              <a:rPr lang="en-US" b="true" sz="276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0.472</a:t>
            </a:r>
          </a:p>
        </p:txBody>
      </p:sp>
      <p:sp>
        <p:nvSpPr>
          <p:cNvPr name="AutoShape 25" id="25"/>
          <p:cNvSpPr/>
          <p:nvPr/>
        </p:nvSpPr>
        <p:spPr>
          <a:xfrm>
            <a:off x="8877372" y="6259262"/>
            <a:ext cx="1325832" cy="7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6" id="26"/>
          <p:cNvSpPr txBox="true"/>
          <p:nvPr/>
        </p:nvSpPr>
        <p:spPr>
          <a:xfrm rot="0">
            <a:off x="6352452" y="8283090"/>
            <a:ext cx="5541615" cy="49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5"/>
              </a:lnSpc>
              <a:spcBef>
                <a:spcPct val="0"/>
              </a:spcBef>
            </a:pPr>
            <a:r>
              <a:rPr lang="en-US" b="true" sz="2882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Peningkatkan yang cukup baik!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1149" y="3089660"/>
            <a:ext cx="6571655" cy="49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5"/>
              </a:lnSpc>
              <a:spcBef>
                <a:spcPct val="0"/>
              </a:spcBef>
            </a:pPr>
            <a:r>
              <a:rPr lang="en-US" b="true" sz="2882">
                <a:solidFill>
                  <a:srgbClr val="C51B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Ingat ada 1 kelas yang sangat sedikit?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224" y="3642280"/>
            <a:ext cx="7978446" cy="406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b="true" sz="2382">
                <a:solidFill>
                  <a:srgbClr val="003F5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F1 Makro sangat sensitif terhadap data minoritas!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19877" y="2676209"/>
            <a:ext cx="588433" cy="5884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31568" y="0"/>
                  </a:moveTo>
                  <a:lnTo>
                    <a:pt x="681232" y="0"/>
                  </a:lnTo>
                  <a:cubicBezTo>
                    <a:pt x="716126" y="0"/>
                    <a:pt x="749591" y="13862"/>
                    <a:pt x="774265" y="38535"/>
                  </a:cubicBezTo>
                  <a:cubicBezTo>
                    <a:pt x="798938" y="63209"/>
                    <a:pt x="812800" y="96674"/>
                    <a:pt x="812800" y="131568"/>
                  </a:cubicBezTo>
                  <a:lnTo>
                    <a:pt x="812800" y="681232"/>
                  </a:lnTo>
                  <a:cubicBezTo>
                    <a:pt x="812800" y="716126"/>
                    <a:pt x="798938" y="749591"/>
                    <a:pt x="774265" y="774265"/>
                  </a:cubicBezTo>
                  <a:cubicBezTo>
                    <a:pt x="749591" y="798938"/>
                    <a:pt x="716126" y="812800"/>
                    <a:pt x="681232" y="812800"/>
                  </a:cubicBezTo>
                  <a:lnTo>
                    <a:pt x="131568" y="812800"/>
                  </a:lnTo>
                  <a:cubicBezTo>
                    <a:pt x="96674" y="812800"/>
                    <a:pt x="63209" y="798938"/>
                    <a:pt x="38535" y="774265"/>
                  </a:cubicBezTo>
                  <a:cubicBezTo>
                    <a:pt x="13862" y="749591"/>
                    <a:pt x="0" y="716126"/>
                    <a:pt x="0" y="681232"/>
                  </a:cubicBezTo>
                  <a:lnTo>
                    <a:pt x="0" y="131568"/>
                  </a:lnTo>
                  <a:cubicBezTo>
                    <a:pt x="0" y="96674"/>
                    <a:pt x="13862" y="63209"/>
                    <a:pt x="38535" y="38535"/>
                  </a:cubicBezTo>
                  <a:cubicBezTo>
                    <a:pt x="63209" y="13862"/>
                    <a:pt x="96674" y="0"/>
                    <a:pt x="131568" y="0"/>
                  </a:cubicBezTo>
                  <a:close/>
                </a:path>
              </a:pathLst>
            </a:custGeom>
            <a:solidFill>
              <a:srgbClr val="FFFFFF">
                <a:alpha val="1372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6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456303" y="2812634"/>
            <a:ext cx="315582" cy="315582"/>
          </a:xfrm>
          <a:custGeom>
            <a:avLst/>
            <a:gdLst/>
            <a:ahLst/>
            <a:cxnLst/>
            <a:rect r="r" b="b" t="t" l="l"/>
            <a:pathLst>
              <a:path h="315582" w="315582">
                <a:moveTo>
                  <a:pt x="0" y="0"/>
                </a:moveTo>
                <a:lnTo>
                  <a:pt x="315582" y="0"/>
                </a:lnTo>
                <a:lnTo>
                  <a:pt x="315582" y="315582"/>
                </a:lnTo>
                <a:lnTo>
                  <a:pt x="0" y="315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6158620">
            <a:off x="-2944715" y="-3967792"/>
            <a:ext cx="9138730" cy="9261941"/>
          </a:xfrm>
          <a:custGeom>
            <a:avLst/>
            <a:gdLst/>
            <a:ahLst/>
            <a:cxnLst/>
            <a:rect r="r" b="b" t="t" l="l"/>
            <a:pathLst>
              <a:path h="9261941" w="9138730">
                <a:moveTo>
                  <a:pt x="0" y="0"/>
                </a:moveTo>
                <a:lnTo>
                  <a:pt x="9138730" y="0"/>
                </a:lnTo>
                <a:lnTo>
                  <a:pt x="9138730" y="9261941"/>
                </a:lnTo>
                <a:lnTo>
                  <a:pt x="0" y="9261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1704" y="1800429"/>
            <a:ext cx="9419965" cy="212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4"/>
              </a:lnSpc>
            </a:pPr>
            <a:r>
              <a:rPr lang="en-US" sz="7787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Model</a:t>
            </a:r>
          </a:p>
          <a:p>
            <a:pPr algn="l">
              <a:lnSpc>
                <a:spcPts val="8254"/>
              </a:lnSpc>
            </a:pPr>
            <a:r>
              <a:rPr lang="en-US" sz="7787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Explainability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20998" y="2613118"/>
            <a:ext cx="2526666" cy="657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9"/>
              </a:lnSpc>
            </a:pPr>
            <a:r>
              <a:rPr lang="en-US" sz="3984" spc="-71" b="true">
                <a:solidFill>
                  <a:srgbClr val="FFFFFF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Borcelle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19877" y="3897993"/>
            <a:ext cx="2015333" cy="2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  <a:spcBef>
                <a:spcPct val="0"/>
              </a:spcBef>
            </a:pPr>
            <a:r>
              <a:rPr lang="en-US" b="true" sz="151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Company Name: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19877" y="4253034"/>
            <a:ext cx="1086441" cy="22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Borcelle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19877" y="4728382"/>
            <a:ext cx="2447417" cy="2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  <a:spcBef>
                <a:spcPct val="0"/>
              </a:spcBef>
            </a:pPr>
            <a:r>
              <a:rPr lang="en-US" b="true" sz="151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Date of Incorporation: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19877" y="5083423"/>
            <a:ext cx="2172881" cy="22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December 23, 1990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19877" y="5751780"/>
            <a:ext cx="1602241" cy="2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  <a:spcBef>
                <a:spcPct val="0"/>
              </a:spcBef>
            </a:pPr>
            <a:r>
              <a:rPr lang="en-US" b="true" sz="151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Business: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19877" y="6106821"/>
            <a:ext cx="2430023" cy="89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Technology services: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Internet of Things,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Artificial Intelligence,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&amp; Blockchain.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25298" y="5751780"/>
            <a:ext cx="2053320" cy="2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  <a:spcBef>
                <a:spcPct val="0"/>
              </a:spcBef>
            </a:pPr>
            <a:r>
              <a:rPr lang="en-US" b="true" sz="151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Share Listing: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25298" y="6106821"/>
            <a:ext cx="2447417" cy="89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Company’s stock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has been listed on the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Stock Exchange since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April 24, 1995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19877" y="7551756"/>
            <a:ext cx="2273561" cy="2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  <a:spcBef>
                <a:spcPct val="0"/>
              </a:spcBef>
            </a:pPr>
            <a:r>
              <a:rPr lang="en-US" b="true" sz="151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Authorized Capital: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19877" y="7906797"/>
            <a:ext cx="2748120" cy="89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 Million Usd consisting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of 60,000,000,000 shares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 nominal value of 1 Usd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per share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25298" y="7551756"/>
            <a:ext cx="2172881" cy="2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  <a:spcBef>
                <a:spcPct val="0"/>
              </a:spcBef>
            </a:pPr>
            <a:r>
              <a:rPr lang="en-US" b="true" sz="151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Paid-Up Capital: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25298" y="7906797"/>
            <a:ext cx="2707659" cy="89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 Million Usd consisting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of 40,483,553,140 shares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with nominal value of 0,51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Usd per share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770247" y="1272218"/>
            <a:ext cx="10806049" cy="8779915"/>
          </a:xfrm>
          <a:custGeom>
            <a:avLst/>
            <a:gdLst/>
            <a:ahLst/>
            <a:cxnLst/>
            <a:rect r="r" b="b" t="t" l="l"/>
            <a:pathLst>
              <a:path h="8779915" w="10806049">
                <a:moveTo>
                  <a:pt x="0" y="0"/>
                </a:moveTo>
                <a:lnTo>
                  <a:pt x="10806049" y="0"/>
                </a:lnTo>
                <a:lnTo>
                  <a:pt x="10806049" y="8779915"/>
                </a:lnTo>
                <a:lnTo>
                  <a:pt x="0" y="87799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4117294">
            <a:off x="7026936" y="7398185"/>
            <a:ext cx="1468446" cy="4449838"/>
          </a:xfrm>
          <a:custGeom>
            <a:avLst/>
            <a:gdLst/>
            <a:ahLst/>
            <a:cxnLst/>
            <a:rect r="r" b="b" t="t" l="l"/>
            <a:pathLst>
              <a:path h="4449838" w="1468446">
                <a:moveTo>
                  <a:pt x="0" y="0"/>
                </a:moveTo>
                <a:lnTo>
                  <a:pt x="1468446" y="0"/>
                </a:lnTo>
                <a:lnTo>
                  <a:pt x="1468446" y="4449838"/>
                </a:lnTo>
                <a:lnTo>
                  <a:pt x="0" y="44498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441739" y="5304105"/>
            <a:ext cx="5975357" cy="3577063"/>
            <a:chOff x="0" y="0"/>
            <a:chExt cx="7967143" cy="4769417"/>
          </a:xfrm>
        </p:grpSpPr>
        <p:sp>
          <p:nvSpPr>
            <p:cNvPr name="TextBox 24" id="24"/>
            <p:cNvSpPr txBox="true"/>
            <p:nvPr/>
          </p:nvSpPr>
          <p:spPr>
            <a:xfrm rot="-728773">
              <a:off x="50397" y="924267"/>
              <a:ext cx="7472434" cy="96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1"/>
                </a:lnSpc>
              </a:pPr>
              <a:r>
                <a:rPr lang="en-US" b="true" sz="5590" spc="-95">
                  <a:solidFill>
                    <a:srgbClr val="FFD200"/>
                  </a:solidFill>
                  <a:latin typeface="Pinata Marks Rough Bold"/>
                  <a:ea typeface="Pinata Marks Rough Bold"/>
                  <a:cs typeface="Pinata Marks Rough Bold"/>
                  <a:sym typeface="Pinata Marks Rough Bold"/>
                </a:rPr>
                <a:t>NLP FEATURES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-728773">
              <a:off x="316576" y="2163079"/>
              <a:ext cx="7542105" cy="1833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1"/>
                </a:lnSpc>
              </a:pPr>
              <a:r>
                <a:rPr lang="en-US" b="true" sz="5590" spc="-95">
                  <a:solidFill>
                    <a:srgbClr val="2E2B30"/>
                  </a:solidFill>
                  <a:latin typeface="Pinata Marks Heavy"/>
                  <a:ea typeface="Pinata Marks Heavy"/>
                  <a:cs typeface="Pinata Marks Heavy"/>
                  <a:sym typeface="Pinata Marks Heavy"/>
                </a:rPr>
                <a:t>REALLY MAKE THE DIFFERENCES!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7284" y="3936579"/>
            <a:ext cx="7778621" cy="61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5"/>
              </a:lnSpc>
              <a:spcBef>
                <a:spcPct val="0"/>
              </a:spcBef>
            </a:pPr>
            <a:r>
              <a:rPr lang="en-US" sz="358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Feature Important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32426">
            <a:off x="4062687" y="3614266"/>
            <a:ext cx="7588879" cy="9315956"/>
          </a:xfrm>
          <a:custGeom>
            <a:avLst/>
            <a:gdLst/>
            <a:ahLst/>
            <a:cxnLst/>
            <a:rect r="r" b="b" t="t" l="l"/>
            <a:pathLst>
              <a:path h="9315956" w="7588879">
                <a:moveTo>
                  <a:pt x="0" y="0"/>
                </a:moveTo>
                <a:lnTo>
                  <a:pt x="7588879" y="0"/>
                </a:lnTo>
                <a:lnTo>
                  <a:pt x="7588879" y="9315956"/>
                </a:lnTo>
                <a:lnTo>
                  <a:pt x="0" y="931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57127" y="1504907"/>
            <a:ext cx="9719169" cy="7753393"/>
            <a:chOff x="0" y="0"/>
            <a:chExt cx="2390557" cy="19070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90557" cy="1907049"/>
            </a:xfrm>
            <a:custGeom>
              <a:avLst/>
              <a:gdLst/>
              <a:ahLst/>
              <a:cxnLst/>
              <a:rect r="r" b="b" t="t" l="l"/>
              <a:pathLst>
                <a:path h="1907049" w="2390557">
                  <a:moveTo>
                    <a:pt x="40625" y="0"/>
                  </a:moveTo>
                  <a:lnTo>
                    <a:pt x="2349933" y="0"/>
                  </a:lnTo>
                  <a:cubicBezTo>
                    <a:pt x="2360707" y="0"/>
                    <a:pt x="2371040" y="4280"/>
                    <a:pt x="2378658" y="11899"/>
                  </a:cubicBezTo>
                  <a:cubicBezTo>
                    <a:pt x="2386277" y="19517"/>
                    <a:pt x="2390557" y="29850"/>
                    <a:pt x="2390557" y="40625"/>
                  </a:cubicBezTo>
                  <a:lnTo>
                    <a:pt x="2390557" y="1866424"/>
                  </a:lnTo>
                  <a:cubicBezTo>
                    <a:pt x="2390557" y="1877198"/>
                    <a:pt x="2386277" y="1887531"/>
                    <a:pt x="2378658" y="1895150"/>
                  </a:cubicBezTo>
                  <a:cubicBezTo>
                    <a:pt x="2371040" y="1902769"/>
                    <a:pt x="2360707" y="1907049"/>
                    <a:pt x="2349933" y="1907049"/>
                  </a:cubicBezTo>
                  <a:lnTo>
                    <a:pt x="40625" y="1907049"/>
                  </a:lnTo>
                  <a:cubicBezTo>
                    <a:pt x="29850" y="1907049"/>
                    <a:pt x="19517" y="1902769"/>
                    <a:pt x="11899" y="1895150"/>
                  </a:cubicBezTo>
                  <a:cubicBezTo>
                    <a:pt x="4280" y="1887531"/>
                    <a:pt x="0" y="1877198"/>
                    <a:pt x="0" y="1866424"/>
                  </a:cubicBezTo>
                  <a:lnTo>
                    <a:pt x="0" y="40625"/>
                  </a:lnTo>
                  <a:cubicBezTo>
                    <a:pt x="0" y="29850"/>
                    <a:pt x="4280" y="19517"/>
                    <a:pt x="11899" y="11899"/>
                  </a:cubicBezTo>
                  <a:cubicBezTo>
                    <a:pt x="19517" y="4280"/>
                    <a:pt x="29850" y="0"/>
                    <a:pt x="40625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90557" cy="1945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1704" y="7227592"/>
            <a:ext cx="5950662" cy="1800694"/>
            <a:chOff x="0" y="0"/>
            <a:chExt cx="1567253" cy="4742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7253" cy="474257"/>
            </a:xfrm>
            <a:custGeom>
              <a:avLst/>
              <a:gdLst/>
              <a:ahLst/>
              <a:cxnLst/>
              <a:rect r="r" b="b" t="t" l="l"/>
              <a:pathLst>
                <a:path h="474257" w="1567253">
                  <a:moveTo>
                    <a:pt x="49439" y="0"/>
                  </a:moveTo>
                  <a:lnTo>
                    <a:pt x="1517814" y="0"/>
                  </a:lnTo>
                  <a:cubicBezTo>
                    <a:pt x="1545118" y="0"/>
                    <a:pt x="1567253" y="22134"/>
                    <a:pt x="1567253" y="49439"/>
                  </a:cubicBezTo>
                  <a:lnTo>
                    <a:pt x="1567253" y="424818"/>
                  </a:lnTo>
                  <a:cubicBezTo>
                    <a:pt x="1567253" y="437930"/>
                    <a:pt x="1562044" y="450505"/>
                    <a:pt x="1552772" y="459777"/>
                  </a:cubicBezTo>
                  <a:cubicBezTo>
                    <a:pt x="1543501" y="469048"/>
                    <a:pt x="1530926" y="474257"/>
                    <a:pt x="1517814" y="474257"/>
                  </a:cubicBezTo>
                  <a:lnTo>
                    <a:pt x="49439" y="474257"/>
                  </a:lnTo>
                  <a:cubicBezTo>
                    <a:pt x="36327" y="474257"/>
                    <a:pt x="23752" y="469048"/>
                    <a:pt x="14480" y="459777"/>
                  </a:cubicBezTo>
                  <a:cubicBezTo>
                    <a:pt x="5209" y="450505"/>
                    <a:pt x="0" y="437930"/>
                    <a:pt x="0" y="424818"/>
                  </a:cubicBezTo>
                  <a:lnTo>
                    <a:pt x="0" y="49439"/>
                  </a:lnTo>
                  <a:cubicBezTo>
                    <a:pt x="0" y="36327"/>
                    <a:pt x="5209" y="23752"/>
                    <a:pt x="14480" y="14480"/>
                  </a:cubicBezTo>
                  <a:cubicBezTo>
                    <a:pt x="23752" y="5209"/>
                    <a:pt x="36327" y="0"/>
                    <a:pt x="49439" y="0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7253" cy="512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3317524" y="7904207"/>
            <a:ext cx="1413044" cy="447464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582816" y="7904207"/>
            <a:ext cx="1413044" cy="447464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857127" y="655058"/>
            <a:ext cx="9960329" cy="9549466"/>
          </a:xfrm>
          <a:custGeom>
            <a:avLst/>
            <a:gdLst/>
            <a:ahLst/>
            <a:cxnLst/>
            <a:rect r="r" b="b" t="t" l="l"/>
            <a:pathLst>
              <a:path h="9549466" w="9960329">
                <a:moveTo>
                  <a:pt x="0" y="0"/>
                </a:moveTo>
                <a:lnTo>
                  <a:pt x="9960329" y="0"/>
                </a:lnTo>
                <a:lnTo>
                  <a:pt x="9960329" y="9549466"/>
                </a:lnTo>
                <a:lnTo>
                  <a:pt x="0" y="95494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57284" y="4512814"/>
            <a:ext cx="6343763" cy="179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5"/>
              </a:lnSpc>
            </a:pPr>
            <a:r>
              <a:rPr lang="en-US" sz="20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Metode ensemble yang mencari </a:t>
            </a:r>
            <a:r>
              <a:rPr lang="en-US" b="true" sz="2047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kombinasi linear model terbaik</a:t>
            </a:r>
            <a:r>
              <a:rPr lang="en-US" sz="20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b="true" sz="2047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secara iteratif</a:t>
            </a:r>
            <a:r>
              <a:rPr lang="en-US" sz="20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, di mana dimulai dari model terbaik dan model-model lain </a:t>
            </a:r>
            <a:r>
              <a:rPr lang="en-US" b="true" sz="2047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ditambahkan</a:t>
            </a:r>
            <a:r>
              <a:rPr lang="en-US" sz="20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dalam ensemble untuk </a:t>
            </a:r>
            <a:r>
              <a:rPr lang="en-US" b="true" sz="2047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meningkatkan performa secara bertahap</a:t>
            </a:r>
            <a:r>
              <a:rPr lang="en-US" sz="2047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1704" y="1757953"/>
            <a:ext cx="6925010" cy="244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4"/>
              </a:lnSpc>
            </a:pPr>
            <a:r>
              <a:rPr lang="en-US" sz="8807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Hill-climbing</a:t>
            </a:r>
          </a:p>
          <a:p>
            <a:pPr algn="l">
              <a:lnSpc>
                <a:spcPts val="9424"/>
              </a:lnSpc>
            </a:pPr>
            <a:r>
              <a:rPr lang="en-US" sz="8807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Ensemble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6675" y="7535154"/>
            <a:ext cx="1943296" cy="87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1"/>
              </a:lnSpc>
            </a:pPr>
            <a:r>
              <a:rPr lang="en-US" b="true" sz="5793">
                <a:solidFill>
                  <a:srgbClr val="FFFFFF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0.472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6675" y="8337555"/>
            <a:ext cx="1324949" cy="29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73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CV Before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90177" y="7535154"/>
            <a:ext cx="1960828" cy="87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1"/>
              </a:lnSpc>
            </a:pPr>
            <a:r>
              <a:rPr lang="en-US" b="true" sz="5793">
                <a:solidFill>
                  <a:srgbClr val="8CDDA5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0.475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90177" y="8337555"/>
            <a:ext cx="1693309" cy="29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73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CV After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972621">
            <a:off x="9633032" y="-915746"/>
            <a:ext cx="13087063" cy="11313199"/>
          </a:xfrm>
          <a:custGeom>
            <a:avLst/>
            <a:gdLst/>
            <a:ahLst/>
            <a:cxnLst/>
            <a:rect r="r" b="b" t="t" l="l"/>
            <a:pathLst>
              <a:path h="11313199" w="13087063">
                <a:moveTo>
                  <a:pt x="0" y="0"/>
                </a:moveTo>
                <a:lnTo>
                  <a:pt x="13087063" y="0"/>
                </a:lnTo>
                <a:lnTo>
                  <a:pt x="13087063" y="11313199"/>
                </a:lnTo>
                <a:lnTo>
                  <a:pt x="0" y="1131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711282">
            <a:off x="13738176" y="1840994"/>
            <a:ext cx="884591" cy="8845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5736" y="55736"/>
              <a:ext cx="701327" cy="701327"/>
            </a:xfrm>
            <a:custGeom>
              <a:avLst/>
              <a:gdLst/>
              <a:ahLst/>
              <a:cxnLst/>
              <a:rect r="r" b="b" t="t" l="l"/>
              <a:pathLst>
                <a:path h="701327" w="701327">
                  <a:moveTo>
                    <a:pt x="387677" y="23572"/>
                  </a:moveTo>
                  <a:lnTo>
                    <a:pt x="442966" y="142041"/>
                  </a:lnTo>
                  <a:cubicBezTo>
                    <a:pt x="466876" y="193272"/>
                    <a:pt x="508056" y="234452"/>
                    <a:pt x="559287" y="258362"/>
                  </a:cubicBezTo>
                  <a:lnTo>
                    <a:pt x="677756" y="313651"/>
                  </a:lnTo>
                  <a:cubicBezTo>
                    <a:pt x="692136" y="320362"/>
                    <a:pt x="701328" y="334795"/>
                    <a:pt x="701328" y="350664"/>
                  </a:cubicBezTo>
                  <a:cubicBezTo>
                    <a:pt x="701328" y="366533"/>
                    <a:pt x="692136" y="380966"/>
                    <a:pt x="677756" y="387677"/>
                  </a:cubicBezTo>
                  <a:lnTo>
                    <a:pt x="559287" y="442966"/>
                  </a:lnTo>
                  <a:cubicBezTo>
                    <a:pt x="508056" y="466876"/>
                    <a:pt x="466876" y="508056"/>
                    <a:pt x="442966" y="559287"/>
                  </a:cubicBezTo>
                  <a:lnTo>
                    <a:pt x="387677" y="677756"/>
                  </a:lnTo>
                  <a:cubicBezTo>
                    <a:pt x="380966" y="692136"/>
                    <a:pt x="366533" y="701328"/>
                    <a:pt x="350664" y="701328"/>
                  </a:cubicBezTo>
                  <a:cubicBezTo>
                    <a:pt x="334795" y="701328"/>
                    <a:pt x="320362" y="692136"/>
                    <a:pt x="313651" y="677756"/>
                  </a:cubicBezTo>
                  <a:lnTo>
                    <a:pt x="258362" y="559287"/>
                  </a:lnTo>
                  <a:cubicBezTo>
                    <a:pt x="234452" y="508056"/>
                    <a:pt x="193272" y="466876"/>
                    <a:pt x="142041" y="442966"/>
                  </a:cubicBezTo>
                  <a:lnTo>
                    <a:pt x="23572" y="387677"/>
                  </a:lnTo>
                  <a:cubicBezTo>
                    <a:pt x="9192" y="380966"/>
                    <a:pt x="0" y="366533"/>
                    <a:pt x="0" y="350664"/>
                  </a:cubicBezTo>
                  <a:cubicBezTo>
                    <a:pt x="0" y="334795"/>
                    <a:pt x="9192" y="320362"/>
                    <a:pt x="23572" y="313651"/>
                  </a:cubicBezTo>
                  <a:lnTo>
                    <a:pt x="142041" y="258362"/>
                  </a:lnTo>
                  <a:cubicBezTo>
                    <a:pt x="193272" y="234452"/>
                    <a:pt x="234452" y="193272"/>
                    <a:pt x="258362" y="142041"/>
                  </a:cubicBezTo>
                  <a:lnTo>
                    <a:pt x="313651" y="23572"/>
                  </a:lnTo>
                  <a:cubicBezTo>
                    <a:pt x="320362" y="9192"/>
                    <a:pt x="334795" y="0"/>
                    <a:pt x="350664" y="0"/>
                  </a:cubicBezTo>
                  <a:cubicBezTo>
                    <a:pt x="366533" y="0"/>
                    <a:pt x="380966" y="9192"/>
                    <a:pt x="387677" y="23572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21820" y="3426880"/>
            <a:ext cx="14444360" cy="5037470"/>
          </a:xfrm>
          <a:custGeom>
            <a:avLst/>
            <a:gdLst/>
            <a:ahLst/>
            <a:cxnLst/>
            <a:rect r="r" b="b" t="t" l="l"/>
            <a:pathLst>
              <a:path h="5037470" w="14444360">
                <a:moveTo>
                  <a:pt x="0" y="0"/>
                </a:moveTo>
                <a:lnTo>
                  <a:pt x="14444360" y="0"/>
                </a:lnTo>
                <a:lnTo>
                  <a:pt x="14444360" y="5037471"/>
                </a:lnTo>
                <a:lnTo>
                  <a:pt x="0" y="5037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66675" cap="rnd">
            <a:solidFill>
              <a:srgbClr val="FFB65F"/>
            </a:soli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4768318" y="1769206"/>
            <a:ext cx="894441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6999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Bonus: </a:t>
            </a:r>
            <a:r>
              <a:rPr lang="en-US" sz="69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Leaderboard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8755">
            <a:off x="218772" y="-1469150"/>
            <a:ext cx="16360354" cy="14142818"/>
          </a:xfrm>
          <a:custGeom>
            <a:avLst/>
            <a:gdLst/>
            <a:ahLst/>
            <a:cxnLst/>
            <a:rect r="r" b="b" t="t" l="l"/>
            <a:pathLst>
              <a:path h="14142818" w="16360354">
                <a:moveTo>
                  <a:pt x="0" y="0"/>
                </a:moveTo>
                <a:lnTo>
                  <a:pt x="16360354" y="0"/>
                </a:lnTo>
                <a:lnTo>
                  <a:pt x="16360354" y="14142818"/>
                </a:lnTo>
                <a:lnTo>
                  <a:pt x="0" y="14142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187103">
            <a:off x="5840829" y="9463815"/>
            <a:ext cx="542845" cy="54284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4495" y="54495"/>
              <a:ext cx="703810" cy="703810"/>
            </a:xfrm>
            <a:custGeom>
              <a:avLst/>
              <a:gdLst/>
              <a:ahLst/>
              <a:cxnLst/>
              <a:rect r="r" b="b" t="t" l="l"/>
              <a:pathLst>
                <a:path h="703810" w="703810">
                  <a:moveTo>
                    <a:pt x="388094" y="23047"/>
                  </a:moveTo>
                  <a:lnTo>
                    <a:pt x="445032" y="145048"/>
                  </a:lnTo>
                  <a:cubicBezTo>
                    <a:pt x="468409" y="195138"/>
                    <a:pt x="508672" y="235401"/>
                    <a:pt x="558762" y="258778"/>
                  </a:cubicBezTo>
                  <a:lnTo>
                    <a:pt x="680763" y="315716"/>
                  </a:lnTo>
                  <a:cubicBezTo>
                    <a:pt x="694823" y="322278"/>
                    <a:pt x="703810" y="336389"/>
                    <a:pt x="703810" y="351905"/>
                  </a:cubicBezTo>
                  <a:cubicBezTo>
                    <a:pt x="703810" y="367421"/>
                    <a:pt x="694823" y="381532"/>
                    <a:pt x="680763" y="388094"/>
                  </a:cubicBezTo>
                  <a:lnTo>
                    <a:pt x="558762" y="445032"/>
                  </a:lnTo>
                  <a:cubicBezTo>
                    <a:pt x="508672" y="468409"/>
                    <a:pt x="468409" y="508672"/>
                    <a:pt x="445032" y="558762"/>
                  </a:cubicBezTo>
                  <a:lnTo>
                    <a:pt x="388094" y="680763"/>
                  </a:lnTo>
                  <a:cubicBezTo>
                    <a:pt x="381532" y="694823"/>
                    <a:pt x="367421" y="703810"/>
                    <a:pt x="351905" y="703810"/>
                  </a:cubicBezTo>
                  <a:cubicBezTo>
                    <a:pt x="336389" y="703810"/>
                    <a:pt x="322278" y="694823"/>
                    <a:pt x="315716" y="680763"/>
                  </a:cubicBezTo>
                  <a:lnTo>
                    <a:pt x="258778" y="558762"/>
                  </a:lnTo>
                  <a:cubicBezTo>
                    <a:pt x="235401" y="508672"/>
                    <a:pt x="195138" y="468409"/>
                    <a:pt x="145048" y="445032"/>
                  </a:cubicBezTo>
                  <a:lnTo>
                    <a:pt x="23047" y="388094"/>
                  </a:lnTo>
                  <a:cubicBezTo>
                    <a:pt x="8987" y="381532"/>
                    <a:pt x="0" y="367421"/>
                    <a:pt x="0" y="351905"/>
                  </a:cubicBezTo>
                  <a:cubicBezTo>
                    <a:pt x="0" y="336389"/>
                    <a:pt x="8987" y="322278"/>
                    <a:pt x="23047" y="315716"/>
                  </a:cubicBezTo>
                  <a:lnTo>
                    <a:pt x="145048" y="258778"/>
                  </a:lnTo>
                  <a:cubicBezTo>
                    <a:pt x="195138" y="235401"/>
                    <a:pt x="235401" y="195138"/>
                    <a:pt x="258778" y="145048"/>
                  </a:cubicBezTo>
                  <a:lnTo>
                    <a:pt x="315716" y="23047"/>
                  </a:lnTo>
                  <a:cubicBezTo>
                    <a:pt x="322278" y="8987"/>
                    <a:pt x="336389" y="0"/>
                    <a:pt x="351905" y="0"/>
                  </a:cubicBezTo>
                  <a:cubicBezTo>
                    <a:pt x="367421" y="0"/>
                    <a:pt x="381532" y="8987"/>
                    <a:pt x="388094" y="23047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11704" y="1962675"/>
            <a:ext cx="86379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5"/>
              </a:lnSpc>
            </a:pPr>
            <a:r>
              <a:rPr lang="en-US" sz="6512" b="true">
                <a:solidFill>
                  <a:srgbClr val="70291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Kesimpulan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4104" y="3483139"/>
            <a:ext cx="7418554" cy="394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9"/>
              </a:lnSpc>
            </a:pP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Things that make this </a:t>
            </a:r>
            <a:r>
              <a:rPr lang="en-US" sz="3685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possible</a:t>
            </a: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:</a:t>
            </a:r>
          </a:p>
          <a:p>
            <a:pPr algn="l" marL="795636" indent="-397818" lvl="1">
              <a:lnSpc>
                <a:spcPts val="5159"/>
              </a:lnSpc>
              <a:buFont typeface="Arial"/>
              <a:buChar char="•"/>
            </a:pP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Preprocessing yang hati-hati</a:t>
            </a:r>
          </a:p>
          <a:p>
            <a:pPr algn="l" marL="795636" indent="-397818" lvl="1">
              <a:lnSpc>
                <a:spcPts val="5159"/>
              </a:lnSpc>
              <a:buFont typeface="Arial"/>
              <a:buChar char="•"/>
            </a:pP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N-gram for </a:t>
            </a:r>
            <a:r>
              <a:rPr lang="en-US" b="true" sz="3685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extremely messy</a:t>
            </a: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categorical data</a:t>
            </a:r>
          </a:p>
          <a:p>
            <a:pPr algn="l" marL="795636" indent="-397818" lvl="1">
              <a:lnSpc>
                <a:spcPts val="5159"/>
              </a:lnSpc>
              <a:buFont typeface="Arial"/>
              <a:buChar char="•"/>
            </a:pPr>
            <a:r>
              <a:rPr lang="en-US" b="true" sz="3685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Cost-sensitive</a:t>
            </a: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learning </a:t>
            </a:r>
          </a:p>
          <a:p>
            <a:pPr algn="l" marL="795636" indent="-397818" lvl="1">
              <a:lnSpc>
                <a:spcPts val="5159"/>
              </a:lnSpc>
              <a:buFont typeface="Arial"/>
              <a:buChar char="•"/>
            </a:pP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Hill Climbing </a:t>
            </a:r>
            <a:r>
              <a:rPr lang="en-US" b="true" sz="3685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Ensemble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5334" y="3549814"/>
            <a:ext cx="555039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5"/>
              </a:lnSpc>
            </a:pPr>
            <a:r>
              <a:rPr lang="en-US" sz="6512" b="true">
                <a:solidFill>
                  <a:srgbClr val="C45A3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Future 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33798" y="4984309"/>
            <a:ext cx="8637948" cy="459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636" indent="-397818" lvl="1">
              <a:lnSpc>
                <a:spcPts val="5159"/>
              </a:lnSpc>
              <a:buFont typeface="Arial"/>
              <a:buChar char="•"/>
            </a:pPr>
            <a:r>
              <a:rPr lang="en-US" b="true" sz="3685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Early-Post processing</a:t>
            </a: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, terutama pada fitur “Riwayat Beasiswa atau Bantuan Pendidikan”</a:t>
            </a:r>
          </a:p>
          <a:p>
            <a:pPr algn="l" marL="795636" indent="-397818" lvl="1">
              <a:lnSpc>
                <a:spcPts val="5159"/>
              </a:lnSpc>
              <a:buFont typeface="Arial"/>
              <a:buChar char="•"/>
            </a:pPr>
            <a:r>
              <a:rPr lang="en-US" b="true" sz="3685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Preprocessing</a:t>
            </a: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extremely messy categorical data dengan:</a:t>
            </a:r>
          </a:p>
          <a:p>
            <a:pPr algn="l" marL="1591273" indent="-530424" lvl="2">
              <a:lnSpc>
                <a:spcPts val="5159"/>
              </a:lnSpc>
              <a:buFont typeface="Arial"/>
              <a:buChar char="⚬"/>
            </a:pP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Auto-correct</a:t>
            </a:r>
          </a:p>
          <a:p>
            <a:pPr algn="l" marL="1591273" indent="-530424" lvl="2">
              <a:lnSpc>
                <a:spcPts val="5159"/>
              </a:lnSpc>
              <a:buFont typeface="Arial"/>
              <a:buChar char="⚬"/>
            </a:pP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Text E</a:t>
            </a:r>
            <a:r>
              <a:rPr lang="en-US" sz="3685">
                <a:solidFill>
                  <a:srgbClr val="3232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mbedding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52407" y="-1378056"/>
            <a:ext cx="13389562" cy="13570084"/>
          </a:xfrm>
          <a:custGeom>
            <a:avLst/>
            <a:gdLst/>
            <a:ahLst/>
            <a:cxnLst/>
            <a:rect r="r" b="b" t="t" l="l"/>
            <a:pathLst>
              <a:path h="13570084" w="13389562">
                <a:moveTo>
                  <a:pt x="0" y="0"/>
                </a:moveTo>
                <a:lnTo>
                  <a:pt x="13389562" y="0"/>
                </a:lnTo>
                <a:lnTo>
                  <a:pt x="13389562" y="13570084"/>
                </a:lnTo>
                <a:lnTo>
                  <a:pt x="0" y="13570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961947">
            <a:off x="15075602" y="6645854"/>
            <a:ext cx="915782" cy="9157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9222" y="59222"/>
              <a:ext cx="694356" cy="694356"/>
            </a:xfrm>
            <a:custGeom>
              <a:avLst/>
              <a:gdLst/>
              <a:ahLst/>
              <a:cxnLst/>
              <a:rect r="r" b="b" t="t" l="l"/>
              <a:pathLst>
                <a:path h="694356" w="694356">
                  <a:moveTo>
                    <a:pt x="386506" y="25045"/>
                  </a:moveTo>
                  <a:lnTo>
                    <a:pt x="437166" y="133595"/>
                  </a:lnTo>
                  <a:cubicBezTo>
                    <a:pt x="462570" y="188030"/>
                    <a:pt x="506326" y="231786"/>
                    <a:pt x="560761" y="257190"/>
                  </a:cubicBezTo>
                  <a:lnTo>
                    <a:pt x="669311" y="307850"/>
                  </a:lnTo>
                  <a:cubicBezTo>
                    <a:pt x="684590" y="314981"/>
                    <a:pt x="694356" y="330317"/>
                    <a:pt x="694356" y="347178"/>
                  </a:cubicBezTo>
                  <a:cubicBezTo>
                    <a:pt x="694356" y="364039"/>
                    <a:pt x="684590" y="379375"/>
                    <a:pt x="669311" y="386506"/>
                  </a:cubicBezTo>
                  <a:lnTo>
                    <a:pt x="560761" y="437166"/>
                  </a:lnTo>
                  <a:cubicBezTo>
                    <a:pt x="506326" y="462570"/>
                    <a:pt x="462570" y="506326"/>
                    <a:pt x="437166" y="560761"/>
                  </a:cubicBezTo>
                  <a:lnTo>
                    <a:pt x="386506" y="669311"/>
                  </a:lnTo>
                  <a:cubicBezTo>
                    <a:pt x="379375" y="684590"/>
                    <a:pt x="364039" y="694356"/>
                    <a:pt x="347178" y="694356"/>
                  </a:cubicBezTo>
                  <a:cubicBezTo>
                    <a:pt x="330317" y="694356"/>
                    <a:pt x="314981" y="684590"/>
                    <a:pt x="307850" y="669311"/>
                  </a:cubicBezTo>
                  <a:lnTo>
                    <a:pt x="257190" y="560761"/>
                  </a:lnTo>
                  <a:cubicBezTo>
                    <a:pt x="231786" y="506326"/>
                    <a:pt x="188030" y="462570"/>
                    <a:pt x="133595" y="437166"/>
                  </a:cubicBezTo>
                  <a:lnTo>
                    <a:pt x="25045" y="386506"/>
                  </a:lnTo>
                  <a:cubicBezTo>
                    <a:pt x="9766" y="379375"/>
                    <a:pt x="0" y="364039"/>
                    <a:pt x="0" y="347178"/>
                  </a:cubicBezTo>
                  <a:cubicBezTo>
                    <a:pt x="0" y="330317"/>
                    <a:pt x="9766" y="314981"/>
                    <a:pt x="25045" y="307850"/>
                  </a:cubicBezTo>
                  <a:lnTo>
                    <a:pt x="133595" y="257190"/>
                  </a:lnTo>
                  <a:cubicBezTo>
                    <a:pt x="188030" y="231786"/>
                    <a:pt x="231786" y="188030"/>
                    <a:pt x="257190" y="133595"/>
                  </a:cubicBezTo>
                  <a:lnTo>
                    <a:pt x="307850" y="25045"/>
                  </a:lnTo>
                  <a:cubicBezTo>
                    <a:pt x="314981" y="9766"/>
                    <a:pt x="330317" y="0"/>
                    <a:pt x="347178" y="0"/>
                  </a:cubicBezTo>
                  <a:cubicBezTo>
                    <a:pt x="364039" y="0"/>
                    <a:pt x="379375" y="9766"/>
                    <a:pt x="386506" y="25045"/>
                  </a:cubicBezTo>
                  <a:close/>
                </a:path>
              </a:pathLst>
            </a:custGeom>
            <a:solidFill>
              <a:srgbClr val="32323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49188" y="3199988"/>
            <a:ext cx="1294433" cy="12944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553498" y="3404298"/>
            <a:ext cx="885811" cy="885811"/>
          </a:xfrm>
          <a:custGeom>
            <a:avLst/>
            <a:gdLst/>
            <a:ahLst/>
            <a:cxnLst/>
            <a:rect r="r" b="b" t="t" l="l"/>
            <a:pathLst>
              <a:path h="885811" w="885811">
                <a:moveTo>
                  <a:pt x="0" y="0"/>
                </a:moveTo>
                <a:lnTo>
                  <a:pt x="885812" y="0"/>
                </a:lnTo>
                <a:lnTo>
                  <a:pt x="885812" y="885812"/>
                </a:lnTo>
                <a:lnTo>
                  <a:pt x="0" y="885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60365" y="3956440"/>
            <a:ext cx="7586205" cy="341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3"/>
              </a:lnSpc>
            </a:pPr>
            <a:r>
              <a:rPr lang="en-US" sz="14980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</a:t>
            </a:r>
          </a:p>
          <a:p>
            <a:pPr algn="l">
              <a:lnSpc>
                <a:spcPts val="12883"/>
              </a:lnSpc>
            </a:pPr>
            <a:r>
              <a:rPr lang="en-US" sz="14980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You!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1704" y="796299"/>
            <a:ext cx="91161" cy="9116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85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64104" y="685986"/>
            <a:ext cx="152109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GEMASTIK XVII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22646" y="685986"/>
            <a:ext cx="190977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323232"/>
                </a:solidFill>
                <a:latin typeface="Bricolage Grotesque Light"/>
                <a:ea typeface="Bricolage Grotesque Light"/>
                <a:cs typeface="Bricolage Grotesque Light"/>
                <a:sym typeface="Bricolage Grotesque Light"/>
              </a:rPr>
              <a:t>Three Outliers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80471" y="685986"/>
            <a:ext cx="339582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b="true" sz="1599">
                <a:solidFill>
                  <a:srgbClr val="32323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Mining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DAGRZSw-VSk</dc:identifier>
  <dcterms:modified xsi:type="dcterms:W3CDTF">2011-08-01T06:04:30Z</dcterms:modified>
  <cp:revision>1</cp:revision>
  <dc:title>GEMASTIK XVII - Three Outliers</dc:title>
</cp:coreProperties>
</file>