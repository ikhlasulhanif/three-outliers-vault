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embeddedFontLst>
    <p:embeddedFont>
      <p:font typeface="Anca Coder" panose="020B0604020202020204" charset="0"/>
      <p:regular r:id="rId39"/>
    </p:embeddedFont>
    <p:embeddedFont>
      <p:font typeface="Canva Sans" panose="020B0604020202020204" charset="0"/>
      <p:regular r:id="rId40"/>
    </p:embeddedFont>
    <p:embeddedFont>
      <p:font typeface="Canva Sans Bold" panose="020B0604020202020204" charset="0"/>
      <p:regular r:id="rId41"/>
    </p:embeddedFont>
    <p:embeddedFont>
      <p:font typeface="Canva Sans Bold Italics" panose="020B0604020202020204" charset="0"/>
      <p:regular r:id="rId42"/>
    </p:embeddedFont>
    <p:embeddedFont>
      <p:font typeface="Canva Sans Italics" panose="020B0604020202020204" charset="0"/>
      <p:regular r:id="rId43"/>
    </p:embeddedFont>
    <p:embeddedFont>
      <p:font typeface="Evolventa" panose="020B0604020202020204" charset="0"/>
      <p:regular r:id="rId44"/>
    </p:embeddedFont>
    <p:embeddedFont>
      <p:font typeface="Evolventa Bold" panose="020B0604020202020204" charset="0"/>
      <p:regular r:id="rId45"/>
    </p:embeddedFont>
    <p:embeddedFont>
      <p:font typeface="Evolventa Bold Italics" panose="020B0604020202020204" charset="0"/>
      <p:regular r:id="rId46"/>
    </p:embeddedFont>
    <p:embeddedFont>
      <p:font typeface="Evolventa Italics" panose="020B060402020202020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302D"/>
    <a:srgbClr val="665F5A"/>
    <a:srgbClr val="998F87"/>
    <a:srgbClr val="B3A79E"/>
    <a:srgbClr val="B8A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28.07.2024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9.817.355</a:t>
            </a:r>
          </a:p>
          <a:p>
            <a:r>
              <a:rPr lang="en-US"/>
              <a:t>rt 6497711</a:t>
            </a:r>
          </a:p>
          <a:p>
            <a:r>
              <a:rPr lang="en-US"/>
              <a:t>mention 2121754</a:t>
            </a:r>
          </a:p>
          <a:p>
            <a:r>
              <a:rPr lang="en-US"/>
              <a:t>reply 1197890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Pertanyaan Potensial:</a:t>
            </a:r>
          </a:p>
          <a:p>
            <a:r>
              <a:rPr lang="en-US"/>
              <a:t>Perhitungan cosine similarity untuk setiap pairs dari setiap kombinasi bisa cukup costly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Perbedaan Stance vs Civility</a:t>
            </a:r>
          </a:p>
          <a:p>
            <a:endParaRPr lang="en-US"/>
          </a:p>
          <a:p>
            <a:r>
              <a:rPr lang="en-US"/>
              <a:t>mencerminkan sikap pengguna media sosial terhadap calon presiden</a:t>
            </a:r>
          </a:p>
          <a:p>
            <a:endParaRPr lang="en-US"/>
          </a:p>
          <a:p>
            <a:r>
              <a:rPr lang="en-US"/>
              <a:t>Pro: menunjukkan dukungan terhadap calon presiden tertentu</a:t>
            </a:r>
          </a:p>
          <a:p>
            <a:r>
              <a:rPr lang="en-US"/>
              <a:t>Netral: menunjukkan ketiadaan sikap yang jelas mendukung atau menentang</a:t>
            </a:r>
          </a:p>
          <a:p>
            <a:r>
              <a:rPr lang="en-US"/>
              <a:t>Kontra: menunjukkan penentangan terhadap calon presiden tertentu.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Perbedaan Stance vs Civility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4.svg"/><Relationship Id="rId2" Type="http://schemas.openxmlformats.org/officeDocument/2006/relationships/image" Target="../media/image1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9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7.svg"/><Relationship Id="rId5" Type="http://schemas.openxmlformats.org/officeDocument/2006/relationships/image" Target="../media/image10.png"/><Relationship Id="rId10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4.png"/><Relationship Id="rId5" Type="http://schemas.openxmlformats.org/officeDocument/2006/relationships/image" Target="../media/image28.png"/><Relationship Id="rId10" Type="http://schemas.openxmlformats.org/officeDocument/2006/relationships/image" Target="../media/image35.svg"/><Relationship Id="rId4" Type="http://schemas.openxmlformats.org/officeDocument/2006/relationships/image" Target="../media/image5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svg"/><Relationship Id="rId10" Type="http://schemas.openxmlformats.org/officeDocument/2006/relationships/image" Target="../media/image43.svg"/><Relationship Id="rId4" Type="http://schemas.openxmlformats.org/officeDocument/2006/relationships/image" Target="../media/image28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5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.png"/><Relationship Id="rId15" Type="http://schemas.openxmlformats.org/officeDocument/2006/relationships/image" Target="../media/image29.svg"/><Relationship Id="rId10" Type="http://schemas.openxmlformats.org/officeDocument/2006/relationships/image" Target="../media/image50.png"/><Relationship Id="rId4" Type="http://schemas.openxmlformats.org/officeDocument/2006/relationships/image" Target="../media/image45.svg"/><Relationship Id="rId9" Type="http://schemas.openxmlformats.org/officeDocument/2006/relationships/image" Target="../media/image49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4.png"/><Relationship Id="rId7" Type="http://schemas.openxmlformats.org/officeDocument/2006/relationships/image" Target="../media/image5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.png"/><Relationship Id="rId7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44068" y="1812101"/>
            <a:ext cx="7799864" cy="3212912"/>
          </a:xfrm>
          <a:custGeom>
            <a:avLst/>
            <a:gdLst/>
            <a:ahLst/>
            <a:cxnLst/>
            <a:rect l="l" t="t" r="r" b="b"/>
            <a:pathLst>
              <a:path w="7799864" h="3212912">
                <a:moveTo>
                  <a:pt x="0" y="0"/>
                </a:moveTo>
                <a:lnTo>
                  <a:pt x="7799864" y="0"/>
                </a:lnTo>
                <a:lnTo>
                  <a:pt x="7799864" y="3212912"/>
                </a:lnTo>
                <a:lnTo>
                  <a:pt x="0" y="3212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87" t="-126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7" name="Freeform 7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93340" y="5564888"/>
            <a:ext cx="3931920" cy="3931920"/>
          </a:xfrm>
          <a:custGeom>
            <a:avLst/>
            <a:gdLst/>
            <a:ahLst/>
            <a:cxnLst/>
            <a:rect l="l" t="t" r="r" b="b"/>
            <a:pathLst>
              <a:path w="3931920" h="3931920">
                <a:moveTo>
                  <a:pt x="0" y="0"/>
                </a:moveTo>
                <a:lnTo>
                  <a:pt x="3931920" y="0"/>
                </a:lnTo>
                <a:lnTo>
                  <a:pt x="3931920" y="3931920"/>
                </a:lnTo>
                <a:lnTo>
                  <a:pt x="0" y="393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58859" y="5103037"/>
            <a:ext cx="14881860" cy="193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4367" spc="-2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Analisis Kampanye Pemilu 2024 menggunakan Jaringan </a:t>
            </a:r>
            <a:r>
              <a:rPr lang="en-US" sz="4367" spc="-2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  <a:r>
              <a:rPr lang="en-US" sz="4367" spc="-2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, </a:t>
            </a:r>
            <a:r>
              <a:rPr lang="en-US" sz="4367" spc="-2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</a:t>
            </a:r>
            <a:r>
              <a:rPr lang="en-US" sz="4367" spc="-2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Publik dan Kecenderungan </a:t>
            </a:r>
            <a:r>
              <a:rPr lang="en-US" sz="4367" spc="-2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 </a:t>
            </a:r>
            <a:r>
              <a:rPr lang="en-US" sz="4367" spc="-2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 Media Sosial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7440" y="7246051"/>
            <a:ext cx="13533120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Big Data Challenge</a:t>
            </a:r>
          </a:p>
        </p:txBody>
      </p:sp>
      <p:sp>
        <p:nvSpPr>
          <p:cNvPr id="12" name="Freeform 12"/>
          <p:cNvSpPr/>
          <p:nvPr/>
        </p:nvSpPr>
        <p:spPr>
          <a:xfrm rot="1452480">
            <a:off x="-455486" y="1709687"/>
            <a:ext cx="3417741" cy="3417741"/>
          </a:xfrm>
          <a:custGeom>
            <a:avLst/>
            <a:gdLst/>
            <a:ahLst/>
            <a:cxnLst/>
            <a:rect l="l" t="t" r="r" b="b"/>
            <a:pathLst>
              <a:path w="3417741" h="3417741">
                <a:moveTo>
                  <a:pt x="0" y="0"/>
                </a:moveTo>
                <a:lnTo>
                  <a:pt x="3417741" y="0"/>
                </a:lnTo>
                <a:lnTo>
                  <a:pt x="3417741" y="3417741"/>
                </a:lnTo>
                <a:lnTo>
                  <a:pt x="0" y="34177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117" y="7543800"/>
            <a:ext cx="2256699" cy="2998935"/>
          </a:xfrm>
          <a:custGeom>
            <a:avLst/>
            <a:gdLst/>
            <a:ahLst/>
            <a:cxnLst/>
            <a:rect l="l" t="t" r="r" b="b"/>
            <a:pathLst>
              <a:path w="2256699" h="2998935">
                <a:moveTo>
                  <a:pt x="0" y="0"/>
                </a:moveTo>
                <a:lnTo>
                  <a:pt x="2256699" y="0"/>
                </a:lnTo>
                <a:lnTo>
                  <a:pt x="2256699" y="2998935"/>
                </a:lnTo>
                <a:lnTo>
                  <a:pt x="0" y="2998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377440" y="1914525"/>
            <a:ext cx="1353312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000" spc="-2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Latar Belakang</a:t>
            </a:r>
          </a:p>
        </p:txBody>
      </p:sp>
      <p:sp>
        <p:nvSpPr>
          <p:cNvPr id="7" name="Freeform 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19" t="-246963" r="-59111" b="-353463"/>
            </a:stretch>
          </a:blipFill>
        </p:spPr>
      </p:sp>
      <p:sp>
        <p:nvSpPr>
          <p:cNvPr id="8" name="Freeform 8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7878264" y="4983480"/>
            <a:ext cx="24447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14179575" y="5850542"/>
            <a:ext cx="0" cy="11103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 flipV="1">
            <a:off x="7878264" y="7821930"/>
            <a:ext cx="24447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TextBox 13"/>
          <p:cNvSpPr txBox="1"/>
          <p:nvPr/>
        </p:nvSpPr>
        <p:spPr>
          <a:xfrm>
            <a:off x="943856" y="4366260"/>
            <a:ext cx="6677233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Platform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menjadi sarana utama di mana kandidat dan pendukung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berinteraksi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atau menggalang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dukungan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80172" y="4282320"/>
            <a:ext cx="716070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Interaksi ini tidak hanya mencerminkan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dinamika sosial politik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mengenai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dukungan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dan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publik terhadap berbagai isu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kampanye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82067" y="7185660"/>
            <a:ext cx="6677233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Keterbatasan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dataset, seperti informasi terkait akun telah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di-hash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dalam dataset kami untuk menjaga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privasi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keamanan data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6232" y="7185660"/>
            <a:ext cx="6677233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Menggunakan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Lexical Mutation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untuk menganalisis kampanye dan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untuk mengevaluasi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stance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serta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civility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pendukung di media sosial.</a:t>
            </a:r>
          </a:p>
        </p:txBody>
      </p:sp>
      <p:sp>
        <p:nvSpPr>
          <p:cNvPr id="17" name="Freeform 17"/>
          <p:cNvSpPr/>
          <p:nvPr/>
        </p:nvSpPr>
        <p:spPr>
          <a:xfrm>
            <a:off x="2548890" y="3325622"/>
            <a:ext cx="1049544" cy="590369"/>
          </a:xfrm>
          <a:custGeom>
            <a:avLst/>
            <a:gdLst/>
            <a:ahLst/>
            <a:cxnLst/>
            <a:rect l="l" t="t" r="r" b="b"/>
            <a:pathLst>
              <a:path w="1049544" h="590369">
                <a:moveTo>
                  <a:pt x="0" y="0"/>
                </a:moveTo>
                <a:lnTo>
                  <a:pt x="1049544" y="0"/>
                </a:lnTo>
                <a:lnTo>
                  <a:pt x="1049544" y="590369"/>
                </a:lnTo>
                <a:lnTo>
                  <a:pt x="0" y="5903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843942" y="2981923"/>
            <a:ext cx="1221813" cy="1221813"/>
          </a:xfrm>
          <a:custGeom>
            <a:avLst/>
            <a:gdLst/>
            <a:ahLst/>
            <a:cxnLst/>
            <a:rect l="l" t="t" r="r" b="b"/>
            <a:pathLst>
              <a:path w="1221813" h="1221813">
                <a:moveTo>
                  <a:pt x="0" y="0"/>
                </a:moveTo>
                <a:lnTo>
                  <a:pt x="1221814" y="0"/>
                </a:lnTo>
                <a:lnTo>
                  <a:pt x="1221814" y="1221814"/>
                </a:lnTo>
                <a:lnTo>
                  <a:pt x="0" y="12218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018231" y="2400300"/>
            <a:ext cx="1742967" cy="1742967"/>
          </a:xfrm>
          <a:custGeom>
            <a:avLst/>
            <a:gdLst/>
            <a:ahLst/>
            <a:cxnLst/>
            <a:rect l="l" t="t" r="r" b="b"/>
            <a:pathLst>
              <a:path w="1742967" h="1742967">
                <a:moveTo>
                  <a:pt x="0" y="0"/>
                </a:moveTo>
                <a:lnTo>
                  <a:pt x="1742968" y="0"/>
                </a:lnTo>
                <a:lnTo>
                  <a:pt x="1742968" y="1742967"/>
                </a:lnTo>
                <a:lnTo>
                  <a:pt x="0" y="1742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451865" y="8601075"/>
            <a:ext cx="1086161" cy="1086161"/>
          </a:xfrm>
          <a:custGeom>
            <a:avLst/>
            <a:gdLst/>
            <a:ahLst/>
            <a:cxnLst/>
            <a:rect l="l" t="t" r="r" b="b"/>
            <a:pathLst>
              <a:path w="1086161" h="1086161">
                <a:moveTo>
                  <a:pt x="0" y="0"/>
                </a:moveTo>
                <a:lnTo>
                  <a:pt x="1086161" y="0"/>
                </a:lnTo>
                <a:lnTo>
                  <a:pt x="1086161" y="1086161"/>
                </a:lnTo>
                <a:lnTo>
                  <a:pt x="0" y="10861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574252" y="8601075"/>
            <a:ext cx="1398939" cy="1086161"/>
          </a:xfrm>
          <a:custGeom>
            <a:avLst/>
            <a:gdLst/>
            <a:ahLst/>
            <a:cxnLst/>
            <a:rect l="l" t="t" r="r" b="b"/>
            <a:pathLst>
              <a:path w="1398939" h="1086161">
                <a:moveTo>
                  <a:pt x="0" y="0"/>
                </a:moveTo>
                <a:lnTo>
                  <a:pt x="1398940" y="0"/>
                </a:lnTo>
                <a:lnTo>
                  <a:pt x="1398940" y="1086161"/>
                </a:lnTo>
                <a:lnTo>
                  <a:pt x="0" y="10861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57930" y="6409150"/>
            <a:ext cx="7034960" cy="3719735"/>
          </a:xfrm>
          <a:custGeom>
            <a:avLst/>
            <a:gdLst/>
            <a:ahLst/>
            <a:cxnLst/>
            <a:rect l="l" t="t" r="r" b="b"/>
            <a:pathLst>
              <a:path w="7034960" h="3719735">
                <a:moveTo>
                  <a:pt x="0" y="0"/>
                </a:moveTo>
                <a:lnTo>
                  <a:pt x="7034960" y="0"/>
                </a:lnTo>
                <a:lnTo>
                  <a:pt x="7034960" y="3719735"/>
                </a:lnTo>
                <a:lnTo>
                  <a:pt x="0" y="3719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972628" y="2789443"/>
            <a:ext cx="6568440" cy="321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200" spc="-12">
                <a:solidFill>
                  <a:srgbClr val="B71F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Saintifik</a:t>
            </a:r>
          </a:p>
          <a:p>
            <a:pPr algn="ctr">
              <a:lnSpc>
                <a:spcPts val="3023"/>
              </a:lnSpc>
            </a:pPr>
            <a:endParaRPr lang="en-US" sz="3200" spc="-12">
              <a:solidFill>
                <a:srgbClr val="B71F25"/>
              </a:solidFill>
              <a:latin typeface="Evolventa Bold"/>
              <a:ea typeface="Evolventa Bold"/>
              <a:cs typeface="Evolventa Bold"/>
              <a:sym typeface="Evolventa Bold"/>
            </a:endParaRPr>
          </a:p>
          <a:p>
            <a:pPr algn="l">
              <a:lnSpc>
                <a:spcPts val="3023"/>
              </a:lnSpc>
            </a:pP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Mengembangkan 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metode analisis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memanfaatkan metode </a:t>
            </a:r>
            <a:r>
              <a:rPr lang="en-US" sz="2799" spc="-13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  <a:r>
              <a:rPr lang="en-US" sz="2799" spc="-13">
                <a:solidFill>
                  <a:srgbClr val="000000"/>
                </a:solidFill>
                <a:latin typeface="Evolventa Italics"/>
                <a:ea typeface="Evolventa Italics"/>
                <a:cs typeface="Evolventa Italics"/>
                <a:sym typeface="Evolventa Italics"/>
              </a:rPr>
              <a:t>, </a:t>
            </a:r>
            <a:r>
              <a:rPr lang="en-US" sz="2799" spc="-13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</a:t>
            </a:r>
            <a:r>
              <a:rPr lang="en-US" sz="2799" spc="-13">
                <a:solidFill>
                  <a:srgbClr val="000000"/>
                </a:solidFill>
                <a:latin typeface="Evolventa Italics"/>
                <a:ea typeface="Evolventa Italics"/>
                <a:cs typeface="Evolventa Italics"/>
                <a:sym typeface="Evolventa Italics"/>
              </a:rPr>
              <a:t>, 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dan </a:t>
            </a:r>
            <a:r>
              <a:rPr lang="en-US" sz="2799" spc="-13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yang masih 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belum umum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digunakan di 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analisis Pemilu Indonesia 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untuk studi di masa depan</a:t>
            </a:r>
          </a:p>
        </p:txBody>
      </p:sp>
      <p:sp>
        <p:nvSpPr>
          <p:cNvPr id="8" name="Freeform 8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19" t="-246963" r="-59111" b="-353463"/>
            </a:stretch>
          </a:blipFill>
        </p:spPr>
      </p:sp>
      <p:sp>
        <p:nvSpPr>
          <p:cNvPr id="9" name="Freeform 9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74320" y="1754071"/>
            <a:ext cx="2087880" cy="2204096"/>
          </a:xfrm>
          <a:custGeom>
            <a:avLst/>
            <a:gdLst/>
            <a:ahLst/>
            <a:cxnLst/>
            <a:rect l="l" t="t" r="r" b="b"/>
            <a:pathLst>
              <a:path w="2087880" h="2204096">
                <a:moveTo>
                  <a:pt x="0" y="0"/>
                </a:moveTo>
                <a:lnTo>
                  <a:pt x="2087880" y="0"/>
                </a:lnTo>
                <a:lnTo>
                  <a:pt x="2087880" y="2204095"/>
                </a:lnTo>
                <a:lnTo>
                  <a:pt x="0" y="22040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77440" y="1914525"/>
            <a:ext cx="1353312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000" spc="-2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Kontribusi &amp; Manfaat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69693" y="2789443"/>
            <a:ext cx="8092440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200" spc="-12">
                <a:solidFill>
                  <a:srgbClr val="B71F25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Praktis</a:t>
            </a:r>
          </a:p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Peserta Pemilu 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dapat memahami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peran 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dan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dampak dalam media sosial 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terhadap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Pemilu Indonesia.</a:t>
            </a:r>
          </a:p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Peserta Pemilu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dapat memahami tentang  pentingnya menjaga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sikap 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dan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kesopanan </a:t>
            </a:r>
            <a:r>
              <a:rPr lang="en-US" sz="2799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dalam </a:t>
            </a:r>
            <a:r>
              <a:rPr lang="en-US" sz="2799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dinamika media sosial.</a:t>
            </a:r>
          </a:p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Pihak tertentu (seperti Pemerintah) dapat memanfaatkan hasil penelitian ini untuk 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mencegah pelanggaran di media sosial</a:t>
            </a:r>
            <a:r>
              <a:rPr lang="en-US" sz="2799" spc="-13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</a:t>
            </a:r>
            <a:r>
              <a:rPr lang="en-US" sz="2799" spc="-1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mengganggu keberlangsungan Pemilu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377440" y="1558125"/>
            <a:ext cx="13533120" cy="154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spc="-4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Metodologi</a:t>
            </a:r>
          </a:p>
        </p:txBody>
      </p:sp>
      <p:sp>
        <p:nvSpPr>
          <p:cNvPr id="5" name="Freeform 5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39541" y="3404064"/>
            <a:ext cx="10408919" cy="5707557"/>
          </a:xfrm>
          <a:custGeom>
            <a:avLst/>
            <a:gdLst/>
            <a:ahLst/>
            <a:cxnLst/>
            <a:rect l="l" t="t" r="r" b="b"/>
            <a:pathLst>
              <a:path w="10408919" h="5707557">
                <a:moveTo>
                  <a:pt x="0" y="0"/>
                </a:moveTo>
                <a:lnTo>
                  <a:pt x="10408918" y="0"/>
                </a:lnTo>
                <a:lnTo>
                  <a:pt x="10408918" y="5707557"/>
                </a:lnTo>
                <a:lnTo>
                  <a:pt x="0" y="5707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5" name="Freeform 5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70192" y="2285187"/>
            <a:ext cx="5410321" cy="72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3"/>
              </a:lnSpc>
            </a:pPr>
            <a:r>
              <a:rPr lang="en-US" sz="4198" spc="-2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Pemrosesan Dataset</a:t>
            </a:r>
          </a:p>
        </p:txBody>
      </p:sp>
      <p:sp>
        <p:nvSpPr>
          <p:cNvPr id="7" name="Freeform 7"/>
          <p:cNvSpPr/>
          <p:nvPr/>
        </p:nvSpPr>
        <p:spPr>
          <a:xfrm>
            <a:off x="11042198" y="2288860"/>
            <a:ext cx="1275609" cy="717530"/>
          </a:xfrm>
          <a:custGeom>
            <a:avLst/>
            <a:gdLst/>
            <a:ahLst/>
            <a:cxnLst/>
            <a:rect l="l" t="t" r="r" b="b"/>
            <a:pathLst>
              <a:path w="1275609" h="717530">
                <a:moveTo>
                  <a:pt x="0" y="0"/>
                </a:moveTo>
                <a:lnTo>
                  <a:pt x="1275610" y="0"/>
                </a:lnTo>
                <a:lnTo>
                  <a:pt x="1275610" y="717530"/>
                </a:lnTo>
                <a:lnTo>
                  <a:pt x="0" y="717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921" y="1793864"/>
            <a:ext cx="5291468" cy="6126714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414600" y="3529370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E08B"/>
            </a:solidFill>
            <a:ln w="47625" cap="rnd">
              <a:solidFill>
                <a:srgbClr val="FEBB8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Text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Preprocessing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Mentions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Hashtags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Prefiks ”RT”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Alamat URL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Non-alphanumeric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05600" y="3529370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6F598"/>
            </a:solidFill>
            <a:ln w="47625" cap="rnd">
              <a:solidFill>
                <a:srgbClr val="C0CF75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Down Sampling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(Filtering)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Jenis cuitan </a:t>
              </a:r>
              <a:r>
                <a:rPr lang="en-US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bukan Retweet (rt)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Jumlah retweet</a:t>
              </a:r>
              <a:r>
                <a:rPr lang="en-US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&gt; 10</a:t>
              </a:r>
            </a:p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Drop </a:t>
              </a:r>
              <a:r>
                <a:rPr lang="en-US" sz="1899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duplicate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5070828" y="5072420"/>
            <a:ext cx="13437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>
            <a:off x="9500700" y="5072420"/>
            <a:ext cx="11049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AutoShape 17"/>
          <p:cNvSpPr/>
          <p:nvPr/>
        </p:nvSpPr>
        <p:spPr>
          <a:xfrm>
            <a:off x="13691700" y="5072420"/>
            <a:ext cx="94689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Freeform 18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541339" y="7495374"/>
            <a:ext cx="5229952" cy="1762926"/>
            <a:chOff x="0" y="0"/>
            <a:chExt cx="1377436" cy="4643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7436" cy="464310"/>
            </a:xfrm>
            <a:custGeom>
              <a:avLst/>
              <a:gdLst/>
              <a:ahLst/>
              <a:cxnLst/>
              <a:rect l="l" t="t" r="r" b="b"/>
              <a:pathLst>
                <a:path w="1377436" h="464310">
                  <a:moveTo>
                    <a:pt x="75496" y="0"/>
                  </a:moveTo>
                  <a:lnTo>
                    <a:pt x="1301940" y="0"/>
                  </a:lnTo>
                  <a:cubicBezTo>
                    <a:pt x="1343635" y="0"/>
                    <a:pt x="1377436" y="33800"/>
                    <a:pt x="1377436" y="75496"/>
                  </a:cubicBezTo>
                  <a:lnTo>
                    <a:pt x="1377436" y="388814"/>
                  </a:lnTo>
                  <a:cubicBezTo>
                    <a:pt x="1377436" y="430509"/>
                    <a:pt x="1343635" y="464310"/>
                    <a:pt x="1301940" y="464310"/>
                  </a:cubicBezTo>
                  <a:lnTo>
                    <a:pt x="75496" y="464310"/>
                  </a:lnTo>
                  <a:cubicBezTo>
                    <a:pt x="33800" y="464310"/>
                    <a:pt x="0" y="430509"/>
                    <a:pt x="0" y="388814"/>
                  </a:cubicBezTo>
                  <a:lnTo>
                    <a:pt x="0" y="75496"/>
                  </a:lnTo>
                  <a:cubicBezTo>
                    <a:pt x="0" y="33800"/>
                    <a:pt x="33800" y="0"/>
                    <a:pt x="754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494548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77436" cy="502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Keren Acara Desak Anies menjadi tren disemua kalangan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9415" y="7495374"/>
            <a:ext cx="5385900" cy="1762926"/>
            <a:chOff x="0" y="0"/>
            <a:chExt cx="7181200" cy="2350568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181200" cy="2350568"/>
              <a:chOff x="0" y="0"/>
              <a:chExt cx="1418509" cy="46431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18509" cy="464310"/>
              </a:xfrm>
              <a:custGeom>
                <a:avLst/>
                <a:gdLst/>
                <a:ahLst/>
                <a:cxnLst/>
                <a:rect l="l" t="t" r="r" b="b"/>
                <a:pathLst>
                  <a:path w="1418509" h="464310">
                    <a:moveTo>
                      <a:pt x="73310" y="0"/>
                    </a:moveTo>
                    <a:lnTo>
                      <a:pt x="1345199" y="0"/>
                    </a:lnTo>
                    <a:cubicBezTo>
                      <a:pt x="1364642" y="0"/>
                      <a:pt x="1383289" y="7724"/>
                      <a:pt x="1397037" y="21472"/>
                    </a:cubicBezTo>
                    <a:cubicBezTo>
                      <a:pt x="1410785" y="35220"/>
                      <a:pt x="1418509" y="53867"/>
                      <a:pt x="1418509" y="73310"/>
                    </a:cubicBezTo>
                    <a:lnTo>
                      <a:pt x="1418509" y="391000"/>
                    </a:lnTo>
                    <a:cubicBezTo>
                      <a:pt x="1418509" y="431488"/>
                      <a:pt x="1385687" y="464310"/>
                      <a:pt x="1345199" y="464310"/>
                    </a:cubicBezTo>
                    <a:lnTo>
                      <a:pt x="73310" y="464310"/>
                    </a:lnTo>
                    <a:cubicBezTo>
                      <a:pt x="53867" y="464310"/>
                      <a:pt x="35220" y="456586"/>
                      <a:pt x="21472" y="442838"/>
                    </a:cubicBezTo>
                    <a:cubicBezTo>
                      <a:pt x="7724" y="429090"/>
                      <a:pt x="0" y="410443"/>
                      <a:pt x="0" y="391000"/>
                    </a:cubicBezTo>
                    <a:lnTo>
                      <a:pt x="0" y="73310"/>
                    </a:lnTo>
                    <a:cubicBezTo>
                      <a:pt x="0" y="32822"/>
                      <a:pt x="32822" y="0"/>
                      <a:pt x="7331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494548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418509" cy="5024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RT @gmjx+2DBwpNOSTtw2qA+2MYo Keren Acara Desak Anies menjadi tren disemua kalangan #AMINAjaDulu Ã°ÂŸÂ‘Â https://t.co/SjBWxsl2tr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21305" y="161535"/>
              <a:ext cx="5247694" cy="630063"/>
              <a:chOff x="-4056" y="-77072"/>
              <a:chExt cx="3164491" cy="37994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-4056" y="-77072"/>
                <a:ext cx="3160435" cy="302871"/>
              </a:xfrm>
              <a:custGeom>
                <a:avLst/>
                <a:gdLst/>
                <a:ahLst/>
                <a:cxnLst/>
                <a:rect l="l" t="t" r="r" b="b"/>
                <a:pathLst>
                  <a:path w="3160435" h="302871">
                    <a:moveTo>
                      <a:pt x="0" y="0"/>
                    </a:moveTo>
                    <a:lnTo>
                      <a:pt x="3160435" y="0"/>
                    </a:lnTo>
                    <a:lnTo>
                      <a:pt x="3160435" y="302871"/>
                    </a:lnTo>
                    <a:lnTo>
                      <a:pt x="0" y="302871"/>
                    </a:lnTo>
                    <a:close/>
                  </a:path>
                </a:pathLst>
              </a:custGeom>
              <a:solidFill>
                <a:srgbClr val="D6312D">
                  <a:alpha val="28627"/>
                </a:srgbClr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3160435" cy="3409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719195" y="1015451"/>
              <a:ext cx="1677667" cy="592371"/>
              <a:chOff x="0" y="-54343"/>
              <a:chExt cx="1011676" cy="35721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1664" y="-54343"/>
                <a:ext cx="950012" cy="302871"/>
              </a:xfrm>
              <a:custGeom>
                <a:avLst/>
                <a:gdLst/>
                <a:ahLst/>
                <a:cxnLst/>
                <a:rect l="l" t="t" r="r" b="b"/>
                <a:pathLst>
                  <a:path w="950012" h="302871">
                    <a:moveTo>
                      <a:pt x="0" y="0"/>
                    </a:moveTo>
                    <a:lnTo>
                      <a:pt x="950012" y="0"/>
                    </a:lnTo>
                    <a:lnTo>
                      <a:pt x="950012" y="302871"/>
                    </a:lnTo>
                    <a:lnTo>
                      <a:pt x="0" y="302871"/>
                    </a:lnTo>
                    <a:close/>
                  </a:path>
                </a:pathLst>
              </a:custGeom>
              <a:solidFill>
                <a:srgbClr val="D6312D">
                  <a:alpha val="28627"/>
                </a:srgbClr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950012" cy="3409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67418" y="1543512"/>
              <a:ext cx="3658021" cy="630063"/>
              <a:chOff x="-4056" y="-77072"/>
              <a:chExt cx="2205878" cy="37994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-4056" y="-77072"/>
                <a:ext cx="2201822" cy="302871"/>
              </a:xfrm>
              <a:custGeom>
                <a:avLst/>
                <a:gdLst/>
                <a:ahLst/>
                <a:cxnLst/>
                <a:rect l="l" t="t" r="r" b="b"/>
                <a:pathLst>
                  <a:path w="2201822" h="302871">
                    <a:moveTo>
                      <a:pt x="0" y="0"/>
                    </a:moveTo>
                    <a:lnTo>
                      <a:pt x="2201822" y="0"/>
                    </a:lnTo>
                    <a:lnTo>
                      <a:pt x="2201822" y="302871"/>
                    </a:lnTo>
                    <a:lnTo>
                      <a:pt x="0" y="302871"/>
                    </a:lnTo>
                    <a:close/>
                  </a:path>
                </a:pathLst>
              </a:custGeom>
              <a:solidFill>
                <a:srgbClr val="D6312D">
                  <a:alpha val="28627"/>
                </a:srgbClr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01822" cy="3409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18380" y="161535"/>
              <a:ext cx="462339" cy="630063"/>
              <a:chOff x="-4059" y="-77072"/>
              <a:chExt cx="278803" cy="37994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4059" y="-77072"/>
                <a:ext cx="274744" cy="302871"/>
              </a:xfrm>
              <a:custGeom>
                <a:avLst/>
                <a:gdLst/>
                <a:ahLst/>
                <a:cxnLst/>
                <a:rect l="l" t="t" r="r" b="b"/>
                <a:pathLst>
                  <a:path w="274744" h="302871">
                    <a:moveTo>
                      <a:pt x="0" y="0"/>
                    </a:moveTo>
                    <a:lnTo>
                      <a:pt x="274744" y="0"/>
                    </a:lnTo>
                    <a:lnTo>
                      <a:pt x="274744" y="302871"/>
                    </a:lnTo>
                    <a:lnTo>
                      <a:pt x="0" y="302871"/>
                    </a:lnTo>
                    <a:close/>
                  </a:path>
                </a:pathLst>
              </a:custGeom>
              <a:solidFill>
                <a:srgbClr val="D6312D">
                  <a:alpha val="28627"/>
                </a:srgbClr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74744" cy="3409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335841" y="1015451"/>
              <a:ext cx="2439256" cy="592371"/>
              <a:chOff x="0" y="-54343"/>
              <a:chExt cx="1470933" cy="35721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7549" y="-54343"/>
                <a:ext cx="1403384" cy="302871"/>
              </a:xfrm>
              <a:custGeom>
                <a:avLst/>
                <a:gdLst/>
                <a:ahLst/>
                <a:cxnLst/>
                <a:rect l="l" t="t" r="r" b="b"/>
                <a:pathLst>
                  <a:path w="1403384" h="302871">
                    <a:moveTo>
                      <a:pt x="0" y="0"/>
                    </a:moveTo>
                    <a:lnTo>
                      <a:pt x="1403384" y="0"/>
                    </a:lnTo>
                    <a:lnTo>
                      <a:pt x="1403384" y="302871"/>
                    </a:lnTo>
                    <a:lnTo>
                      <a:pt x="0" y="302871"/>
                    </a:lnTo>
                    <a:close/>
                  </a:path>
                </a:pathLst>
              </a:custGeom>
              <a:solidFill>
                <a:srgbClr val="D6312D">
                  <a:alpha val="28627"/>
                </a:srgbClr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403384" cy="3409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1" name="Freeform 41"/>
          <p:cNvSpPr/>
          <p:nvPr/>
        </p:nvSpPr>
        <p:spPr>
          <a:xfrm rot="-6971955">
            <a:off x="8468391" y="7838298"/>
            <a:ext cx="569872" cy="1077077"/>
          </a:xfrm>
          <a:custGeom>
            <a:avLst/>
            <a:gdLst/>
            <a:ahLst/>
            <a:cxnLst/>
            <a:rect l="l" t="t" r="r" b="b"/>
            <a:pathLst>
              <a:path w="569872" h="1077077">
                <a:moveTo>
                  <a:pt x="0" y="0"/>
                </a:moveTo>
                <a:lnTo>
                  <a:pt x="569872" y="0"/>
                </a:lnTo>
                <a:lnTo>
                  <a:pt x="569872" y="1077078"/>
                </a:lnTo>
                <a:lnTo>
                  <a:pt x="0" y="1077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2211782" y="4774439"/>
            <a:ext cx="1750357" cy="50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sz="29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9.817.355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796600" y="4793489"/>
            <a:ext cx="2388308" cy="50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sz="29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17.182 cuitan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631446" y="2224299"/>
            <a:ext cx="4014300" cy="846652"/>
            <a:chOff x="0" y="0"/>
            <a:chExt cx="5352400" cy="11288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52400" cy="1128870"/>
            </a:xfrm>
            <a:custGeom>
              <a:avLst/>
              <a:gdLst/>
              <a:ahLst/>
              <a:cxnLst/>
              <a:rect l="l" t="t" r="r" b="b"/>
              <a:pathLst>
                <a:path w="5352400" h="1128870">
                  <a:moveTo>
                    <a:pt x="0" y="0"/>
                  </a:moveTo>
                  <a:lnTo>
                    <a:pt x="5352400" y="0"/>
                  </a:lnTo>
                  <a:lnTo>
                    <a:pt x="5352400" y="1128870"/>
                  </a:lnTo>
                  <a:lnTo>
                    <a:pt x="0" y="112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w="47625" cap="sq">
              <a:solidFill>
                <a:srgbClr val="CF3838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213491"/>
              <a:ext cx="4238366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dirty="0" err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Januari</a:t>
              </a:r>
              <a:r>
                <a:rPr lang="en-US" sz="2899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2024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247236" y="1908184"/>
            <a:ext cx="179352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Metodologi: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5" name="Freeform 5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383113" y="2350462"/>
            <a:ext cx="4019341" cy="577996"/>
            <a:chOff x="0" y="0"/>
            <a:chExt cx="1668209" cy="239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8209" cy="239894"/>
            </a:xfrm>
            <a:custGeom>
              <a:avLst/>
              <a:gdLst/>
              <a:ahLst/>
              <a:cxnLst/>
              <a:rect l="l" t="t" r="r" b="b"/>
              <a:pathLst>
                <a:path w="1668209" h="239894">
                  <a:moveTo>
                    <a:pt x="0" y="0"/>
                  </a:moveTo>
                  <a:lnTo>
                    <a:pt x="1668209" y="0"/>
                  </a:lnTo>
                  <a:lnTo>
                    <a:pt x="1668209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FAF56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68209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2864159">
            <a:off x="13417493" y="2416298"/>
            <a:ext cx="590540" cy="913796"/>
          </a:xfrm>
          <a:custGeom>
            <a:avLst/>
            <a:gdLst/>
            <a:ahLst/>
            <a:cxnLst/>
            <a:rect l="l" t="t" r="r" b="b"/>
            <a:pathLst>
              <a:path w="590540" h="913796">
                <a:moveTo>
                  <a:pt x="0" y="0"/>
                </a:moveTo>
                <a:lnTo>
                  <a:pt x="590540" y="0"/>
                </a:lnTo>
                <a:lnTo>
                  <a:pt x="590540" y="913795"/>
                </a:lnTo>
                <a:lnTo>
                  <a:pt x="0" y="913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20702" y="3130958"/>
            <a:ext cx="4020803" cy="1840354"/>
            <a:chOff x="0" y="0"/>
            <a:chExt cx="1603636" cy="7339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3636" cy="733997"/>
            </a:xfrm>
            <a:custGeom>
              <a:avLst/>
              <a:gdLst/>
              <a:ahLst/>
              <a:cxnLst/>
              <a:rect l="l" t="t" r="r" b="b"/>
              <a:pathLst>
                <a:path w="1603636" h="733997">
                  <a:moveTo>
                    <a:pt x="98199" y="0"/>
                  </a:moveTo>
                  <a:lnTo>
                    <a:pt x="1505437" y="0"/>
                  </a:lnTo>
                  <a:cubicBezTo>
                    <a:pt x="1531481" y="0"/>
                    <a:pt x="1556458" y="10346"/>
                    <a:pt x="1574874" y="28762"/>
                  </a:cubicBezTo>
                  <a:cubicBezTo>
                    <a:pt x="1593290" y="47178"/>
                    <a:pt x="1603636" y="72155"/>
                    <a:pt x="1603636" y="98199"/>
                  </a:cubicBezTo>
                  <a:lnTo>
                    <a:pt x="1603636" y="635798"/>
                  </a:lnTo>
                  <a:cubicBezTo>
                    <a:pt x="1603636" y="661842"/>
                    <a:pt x="1593290" y="686819"/>
                    <a:pt x="1574874" y="705235"/>
                  </a:cubicBezTo>
                  <a:cubicBezTo>
                    <a:pt x="1556458" y="723651"/>
                    <a:pt x="1531481" y="733997"/>
                    <a:pt x="1505437" y="733997"/>
                  </a:cubicBezTo>
                  <a:lnTo>
                    <a:pt x="98199" y="733997"/>
                  </a:lnTo>
                  <a:cubicBezTo>
                    <a:pt x="72155" y="733997"/>
                    <a:pt x="47178" y="723651"/>
                    <a:pt x="28762" y="705235"/>
                  </a:cubicBezTo>
                  <a:cubicBezTo>
                    <a:pt x="10346" y="686819"/>
                    <a:pt x="0" y="661842"/>
                    <a:pt x="0" y="635798"/>
                  </a:cubicBezTo>
                  <a:lnTo>
                    <a:pt x="0" y="98199"/>
                  </a:lnTo>
                  <a:cubicBezTo>
                    <a:pt x="0" y="72155"/>
                    <a:pt x="10346" y="47178"/>
                    <a:pt x="28762" y="28762"/>
                  </a:cubicBezTo>
                  <a:cubicBezTo>
                    <a:pt x="47178" y="10346"/>
                    <a:pt x="72155" y="0"/>
                    <a:pt x="98199" y="0"/>
                  </a:cubicBezTo>
                  <a:close/>
                </a:path>
              </a:pathLst>
            </a:custGeom>
            <a:solidFill>
              <a:srgbClr val="78C679"/>
            </a:solidFill>
            <a:ln w="47625" cap="rnd">
              <a:solidFill>
                <a:srgbClr val="4D924E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03636" cy="78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Teks cuitan diproses menjadi </a:t>
              </a:r>
              <a:r>
                <a:rPr lang="en-US" sz="20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embeddings </a:t>
              </a: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dengan </a:t>
              </a:r>
              <a:r>
                <a:rPr lang="en-US" sz="20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E5</a:t>
              </a: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875410" y="2352371"/>
            <a:ext cx="10537179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Konstruksi Jaringan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9270" y="3338033"/>
            <a:ext cx="899363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Konten yang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diubah, diparafrasekan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atau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diubah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namun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tetap mempertahankan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pesan dasar yang sama</a:t>
            </a:r>
          </a:p>
        </p:txBody>
      </p:sp>
      <p:sp>
        <p:nvSpPr>
          <p:cNvPr id="15" name="Freeform 15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20702" y="5294406"/>
            <a:ext cx="4020803" cy="1840354"/>
            <a:chOff x="0" y="0"/>
            <a:chExt cx="1603636" cy="7339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03636" cy="733997"/>
            </a:xfrm>
            <a:custGeom>
              <a:avLst/>
              <a:gdLst/>
              <a:ahLst/>
              <a:cxnLst/>
              <a:rect l="l" t="t" r="r" b="b"/>
              <a:pathLst>
                <a:path w="1603636" h="733997">
                  <a:moveTo>
                    <a:pt x="98199" y="0"/>
                  </a:moveTo>
                  <a:lnTo>
                    <a:pt x="1505437" y="0"/>
                  </a:lnTo>
                  <a:cubicBezTo>
                    <a:pt x="1531481" y="0"/>
                    <a:pt x="1556458" y="10346"/>
                    <a:pt x="1574874" y="28762"/>
                  </a:cubicBezTo>
                  <a:cubicBezTo>
                    <a:pt x="1593290" y="47178"/>
                    <a:pt x="1603636" y="72155"/>
                    <a:pt x="1603636" y="98199"/>
                  </a:cubicBezTo>
                  <a:lnTo>
                    <a:pt x="1603636" y="635798"/>
                  </a:lnTo>
                  <a:cubicBezTo>
                    <a:pt x="1603636" y="661842"/>
                    <a:pt x="1593290" y="686819"/>
                    <a:pt x="1574874" y="705235"/>
                  </a:cubicBezTo>
                  <a:cubicBezTo>
                    <a:pt x="1556458" y="723651"/>
                    <a:pt x="1531481" y="733997"/>
                    <a:pt x="1505437" y="733997"/>
                  </a:cubicBezTo>
                  <a:lnTo>
                    <a:pt x="98199" y="733997"/>
                  </a:lnTo>
                  <a:cubicBezTo>
                    <a:pt x="72155" y="733997"/>
                    <a:pt x="47178" y="723651"/>
                    <a:pt x="28762" y="705235"/>
                  </a:cubicBezTo>
                  <a:cubicBezTo>
                    <a:pt x="10346" y="686819"/>
                    <a:pt x="0" y="661842"/>
                    <a:pt x="0" y="635798"/>
                  </a:cubicBezTo>
                  <a:lnTo>
                    <a:pt x="0" y="98199"/>
                  </a:lnTo>
                  <a:cubicBezTo>
                    <a:pt x="0" y="72155"/>
                    <a:pt x="10346" y="47178"/>
                    <a:pt x="28762" y="28762"/>
                  </a:cubicBezTo>
                  <a:cubicBezTo>
                    <a:pt x="47178" y="10346"/>
                    <a:pt x="72155" y="0"/>
                    <a:pt x="98199" y="0"/>
                  </a:cubicBezTo>
                  <a:close/>
                </a:path>
              </a:pathLst>
            </a:custGeom>
            <a:solidFill>
              <a:srgbClr val="ADDD8E"/>
            </a:solidFill>
            <a:ln w="47625" cap="rnd">
              <a:solidFill>
                <a:srgbClr val="65C43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603636" cy="781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Membuat </a:t>
              </a:r>
              <a:r>
                <a:rPr lang="en-US" sz="20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pair </a:t>
              </a: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kombinasi cuitan dan komputasi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  <a:r>
                <a:rPr lang="en-US" sz="20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osine similarity</a:t>
              </a:r>
              <a:r>
                <a:rPr lang="en-US" sz="2000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-</a:t>
              </a: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nya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0702" y="7570346"/>
            <a:ext cx="4020803" cy="1840354"/>
            <a:chOff x="0" y="0"/>
            <a:chExt cx="1603636" cy="7339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03636" cy="733997"/>
            </a:xfrm>
            <a:custGeom>
              <a:avLst/>
              <a:gdLst/>
              <a:ahLst/>
              <a:cxnLst/>
              <a:rect l="l" t="t" r="r" b="b"/>
              <a:pathLst>
                <a:path w="1603636" h="733997">
                  <a:moveTo>
                    <a:pt x="98199" y="0"/>
                  </a:moveTo>
                  <a:lnTo>
                    <a:pt x="1505437" y="0"/>
                  </a:lnTo>
                  <a:cubicBezTo>
                    <a:pt x="1531481" y="0"/>
                    <a:pt x="1556458" y="10346"/>
                    <a:pt x="1574874" y="28762"/>
                  </a:cubicBezTo>
                  <a:cubicBezTo>
                    <a:pt x="1593290" y="47178"/>
                    <a:pt x="1603636" y="72155"/>
                    <a:pt x="1603636" y="98199"/>
                  </a:cubicBezTo>
                  <a:lnTo>
                    <a:pt x="1603636" y="635798"/>
                  </a:lnTo>
                  <a:cubicBezTo>
                    <a:pt x="1603636" y="661842"/>
                    <a:pt x="1593290" y="686819"/>
                    <a:pt x="1574874" y="705235"/>
                  </a:cubicBezTo>
                  <a:cubicBezTo>
                    <a:pt x="1556458" y="723651"/>
                    <a:pt x="1531481" y="733997"/>
                    <a:pt x="1505437" y="733997"/>
                  </a:cubicBezTo>
                  <a:lnTo>
                    <a:pt x="98199" y="733997"/>
                  </a:lnTo>
                  <a:cubicBezTo>
                    <a:pt x="72155" y="733997"/>
                    <a:pt x="47178" y="723651"/>
                    <a:pt x="28762" y="705235"/>
                  </a:cubicBezTo>
                  <a:cubicBezTo>
                    <a:pt x="10346" y="686819"/>
                    <a:pt x="0" y="661842"/>
                    <a:pt x="0" y="635798"/>
                  </a:cubicBezTo>
                  <a:lnTo>
                    <a:pt x="0" y="98199"/>
                  </a:lnTo>
                  <a:cubicBezTo>
                    <a:pt x="0" y="72155"/>
                    <a:pt x="10346" y="47178"/>
                    <a:pt x="28762" y="28762"/>
                  </a:cubicBezTo>
                  <a:cubicBezTo>
                    <a:pt x="47178" y="10346"/>
                    <a:pt x="72155" y="0"/>
                    <a:pt x="98199" y="0"/>
                  </a:cubicBezTo>
                  <a:close/>
                </a:path>
              </a:pathLst>
            </a:custGeom>
            <a:solidFill>
              <a:srgbClr val="D9F0A3"/>
            </a:solidFill>
            <a:ln w="47625" cap="rnd">
              <a:solidFill>
                <a:srgbClr val="99D594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603636" cy="762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Membangun </a:t>
              </a:r>
              <a:r>
                <a:rPr lang="en-US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Nodes </a:t>
              </a: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dan </a:t>
              </a:r>
              <a:r>
                <a:rPr lang="en-US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Edges </a:t>
              </a: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dari </a:t>
              </a:r>
              <a:r>
                <a:rPr lang="en-US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Graf</a:t>
              </a: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dengan </a:t>
              </a:r>
              <a:r>
                <a:rPr lang="en-US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threshold </a:t>
              </a: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(0.925) dan melakukan </a:t>
              </a:r>
              <a:r>
                <a:rPr lang="en-US" sz="1800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community detection</a:t>
              </a:r>
              <a:r>
                <a:rPr lang="en-US" sz="1800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</a:t>
              </a: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menggunakan algoritma</a:t>
              </a:r>
              <a:r>
                <a:rPr lang="en-US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Louvain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247236" y="1908184"/>
            <a:ext cx="179352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Metodologi: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931103" y="4971312"/>
            <a:ext cx="0" cy="32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2931103" y="7134760"/>
            <a:ext cx="0" cy="4355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4" name="Group 25">
            <a:extLst>
              <a:ext uri="{FF2B5EF4-FFF2-40B4-BE49-F238E27FC236}">
                <a16:creationId xmlns:a16="http://schemas.microsoft.com/office/drawing/2014/main" id="{D245A030-091B-9C19-CE51-3DA1AAE33190}"/>
              </a:ext>
            </a:extLst>
          </p:cNvPr>
          <p:cNvGrpSpPr/>
          <p:nvPr/>
        </p:nvGrpSpPr>
        <p:grpSpPr>
          <a:xfrm>
            <a:off x="5589270" y="4503897"/>
            <a:ext cx="12034088" cy="5150174"/>
            <a:chOff x="0" y="0"/>
            <a:chExt cx="4460529" cy="1908953"/>
          </a:xfrm>
        </p:grpSpPr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C22017E4-4A9A-9DFE-4A27-F68956C34725}"/>
                </a:ext>
              </a:extLst>
            </p:cNvPr>
            <p:cNvSpPr/>
            <p:nvPr/>
          </p:nvSpPr>
          <p:spPr>
            <a:xfrm>
              <a:off x="0" y="0"/>
              <a:ext cx="4460529" cy="1908952"/>
            </a:xfrm>
            <a:custGeom>
              <a:avLst/>
              <a:gdLst/>
              <a:ahLst/>
              <a:cxnLst/>
              <a:rect l="l" t="t" r="r" b="b"/>
              <a:pathLst>
                <a:path w="4460529" h="1908952">
                  <a:moveTo>
                    <a:pt x="32810" y="0"/>
                  </a:moveTo>
                  <a:lnTo>
                    <a:pt x="4427719" y="0"/>
                  </a:lnTo>
                  <a:cubicBezTo>
                    <a:pt x="4445840" y="0"/>
                    <a:pt x="4460529" y="14690"/>
                    <a:pt x="4460529" y="32810"/>
                  </a:cubicBezTo>
                  <a:lnTo>
                    <a:pt x="4460529" y="1876142"/>
                  </a:lnTo>
                  <a:cubicBezTo>
                    <a:pt x="4460529" y="1894263"/>
                    <a:pt x="4445840" y="1908952"/>
                    <a:pt x="4427719" y="1908952"/>
                  </a:cubicBezTo>
                  <a:lnTo>
                    <a:pt x="32810" y="1908952"/>
                  </a:lnTo>
                  <a:cubicBezTo>
                    <a:pt x="24108" y="1908952"/>
                    <a:pt x="15763" y="1905496"/>
                    <a:pt x="9610" y="1899343"/>
                  </a:cubicBezTo>
                  <a:cubicBezTo>
                    <a:pt x="3457" y="1893190"/>
                    <a:pt x="0" y="1884844"/>
                    <a:pt x="0" y="1876142"/>
                  </a:cubicBezTo>
                  <a:lnTo>
                    <a:pt x="0" y="32810"/>
                  </a:lnTo>
                  <a:cubicBezTo>
                    <a:pt x="0" y="14690"/>
                    <a:pt x="14690" y="0"/>
                    <a:pt x="32810" y="0"/>
                  </a:cubicBezTo>
                  <a:close/>
                </a:path>
              </a:pathLst>
            </a:custGeom>
            <a:solidFill>
              <a:srgbClr val="FFEEE1"/>
            </a:solidFill>
            <a:ln w="47625" cap="rnd">
              <a:solidFill>
                <a:srgbClr val="FFD7BA"/>
              </a:solidFill>
              <a:prstDash val="solid"/>
              <a:round/>
            </a:ln>
          </p:spPr>
        </p:sp>
        <p:sp>
          <p:nvSpPr>
            <p:cNvPr id="56" name="TextBox 27">
              <a:extLst>
                <a:ext uri="{FF2B5EF4-FFF2-40B4-BE49-F238E27FC236}">
                  <a16:creationId xmlns:a16="http://schemas.microsoft.com/office/drawing/2014/main" id="{60C432BF-3C0A-75B4-CA13-52AF4C00DEFF}"/>
                </a:ext>
              </a:extLst>
            </p:cNvPr>
            <p:cNvSpPr txBox="1"/>
            <p:nvPr/>
          </p:nvSpPr>
          <p:spPr>
            <a:xfrm>
              <a:off x="0" y="-47625"/>
              <a:ext cx="4460529" cy="1956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7" name="Group 28">
            <a:extLst>
              <a:ext uri="{FF2B5EF4-FFF2-40B4-BE49-F238E27FC236}">
                <a16:creationId xmlns:a16="http://schemas.microsoft.com/office/drawing/2014/main" id="{BE82A4A6-7720-7E27-BE41-1EF0956C2DE6}"/>
              </a:ext>
            </a:extLst>
          </p:cNvPr>
          <p:cNvGrpSpPr/>
          <p:nvPr/>
        </p:nvGrpSpPr>
        <p:grpSpPr>
          <a:xfrm>
            <a:off x="9383113" y="4682118"/>
            <a:ext cx="3548363" cy="1444114"/>
            <a:chOff x="0" y="0"/>
            <a:chExt cx="1415210" cy="575963"/>
          </a:xfrm>
        </p:grpSpPr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AE48A467-67BA-4719-4CC2-D45D191127DD}"/>
                </a:ext>
              </a:extLst>
            </p:cNvPr>
            <p:cNvSpPr/>
            <p:nvPr/>
          </p:nvSpPr>
          <p:spPr>
            <a:xfrm>
              <a:off x="0" y="0"/>
              <a:ext cx="1415210" cy="575963"/>
            </a:xfrm>
            <a:custGeom>
              <a:avLst/>
              <a:gdLst/>
              <a:ahLst/>
              <a:cxnLst/>
              <a:rect l="l" t="t" r="r" b="b"/>
              <a:pathLst>
                <a:path w="1415210" h="575963">
                  <a:moveTo>
                    <a:pt x="111273" y="0"/>
                  </a:moveTo>
                  <a:lnTo>
                    <a:pt x="1303937" y="0"/>
                  </a:lnTo>
                  <a:cubicBezTo>
                    <a:pt x="1365391" y="0"/>
                    <a:pt x="1415210" y="49819"/>
                    <a:pt x="1415210" y="111273"/>
                  </a:cubicBezTo>
                  <a:lnTo>
                    <a:pt x="1415210" y="464689"/>
                  </a:lnTo>
                  <a:cubicBezTo>
                    <a:pt x="1415210" y="526144"/>
                    <a:pt x="1365391" y="575963"/>
                    <a:pt x="1303937" y="575963"/>
                  </a:cubicBezTo>
                  <a:lnTo>
                    <a:pt x="111273" y="575963"/>
                  </a:lnTo>
                  <a:cubicBezTo>
                    <a:pt x="49819" y="575963"/>
                    <a:pt x="0" y="526144"/>
                    <a:pt x="0" y="464689"/>
                  </a:cubicBezTo>
                  <a:lnTo>
                    <a:pt x="0" y="111273"/>
                  </a:lnTo>
                  <a:cubicBezTo>
                    <a:pt x="0" y="49819"/>
                    <a:pt x="49819" y="0"/>
                    <a:pt x="111273" y="0"/>
                  </a:cubicBezTo>
                  <a:close/>
                </a:path>
              </a:pathLst>
            </a:custGeom>
            <a:solidFill>
              <a:srgbClr val="9ECAE1"/>
            </a:solidFill>
            <a:ln w="47625" cap="rnd">
              <a:solidFill>
                <a:srgbClr val="6BAED6"/>
              </a:solidFill>
              <a:prstDash val="solid"/>
              <a:round/>
            </a:ln>
          </p:spPr>
        </p:sp>
        <p:sp>
          <p:nvSpPr>
            <p:cNvPr id="59" name="TextBox 30">
              <a:extLst>
                <a:ext uri="{FF2B5EF4-FFF2-40B4-BE49-F238E27FC236}">
                  <a16:creationId xmlns:a16="http://schemas.microsoft.com/office/drawing/2014/main" id="{688AFC1C-B08B-D8E6-FAE8-EE4AAF96815C}"/>
                </a:ext>
              </a:extLst>
            </p:cNvPr>
            <p:cNvSpPr txBox="1"/>
            <p:nvPr/>
          </p:nvSpPr>
          <p:spPr>
            <a:xfrm>
              <a:off x="0" y="-28575"/>
              <a:ext cx="1415210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Program Susu Gratis Tuai Kecaman Prabowo Beberkan Bakal Impor 1 5 Juta Sapi dari India</a:t>
              </a:r>
            </a:p>
          </p:txBody>
        </p:sp>
      </p:grpSp>
      <p:grpSp>
        <p:nvGrpSpPr>
          <p:cNvPr id="60" name="Group 31">
            <a:extLst>
              <a:ext uri="{FF2B5EF4-FFF2-40B4-BE49-F238E27FC236}">
                <a16:creationId xmlns:a16="http://schemas.microsoft.com/office/drawing/2014/main" id="{32A92912-BBB9-E9BD-8197-E1D3C7DD745A}"/>
              </a:ext>
            </a:extLst>
          </p:cNvPr>
          <p:cNvGrpSpPr/>
          <p:nvPr/>
        </p:nvGrpSpPr>
        <p:grpSpPr>
          <a:xfrm>
            <a:off x="5825229" y="6126232"/>
            <a:ext cx="2969468" cy="1444114"/>
            <a:chOff x="0" y="0"/>
            <a:chExt cx="1184327" cy="575963"/>
          </a:xfrm>
        </p:grpSpPr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2F743645-B24C-5948-0174-7259F36B2F55}"/>
                </a:ext>
              </a:extLst>
            </p:cNvPr>
            <p:cNvSpPr/>
            <p:nvPr/>
          </p:nvSpPr>
          <p:spPr>
            <a:xfrm>
              <a:off x="0" y="0"/>
              <a:ext cx="1184327" cy="575963"/>
            </a:xfrm>
            <a:custGeom>
              <a:avLst/>
              <a:gdLst/>
              <a:ahLst/>
              <a:cxnLst/>
              <a:rect l="l" t="t" r="r" b="b"/>
              <a:pathLst>
                <a:path w="1184327" h="575963">
                  <a:moveTo>
                    <a:pt x="132966" y="0"/>
                  </a:moveTo>
                  <a:lnTo>
                    <a:pt x="1051361" y="0"/>
                  </a:lnTo>
                  <a:cubicBezTo>
                    <a:pt x="1124796" y="0"/>
                    <a:pt x="1184327" y="59531"/>
                    <a:pt x="1184327" y="132966"/>
                  </a:cubicBezTo>
                  <a:lnTo>
                    <a:pt x="1184327" y="442997"/>
                  </a:lnTo>
                  <a:cubicBezTo>
                    <a:pt x="1184327" y="516432"/>
                    <a:pt x="1124796" y="575963"/>
                    <a:pt x="1051361" y="575963"/>
                  </a:cubicBezTo>
                  <a:lnTo>
                    <a:pt x="132966" y="575963"/>
                  </a:lnTo>
                  <a:cubicBezTo>
                    <a:pt x="59531" y="575963"/>
                    <a:pt x="0" y="516432"/>
                    <a:pt x="0" y="442997"/>
                  </a:cubicBezTo>
                  <a:lnTo>
                    <a:pt x="0" y="132966"/>
                  </a:lnTo>
                  <a:cubicBezTo>
                    <a:pt x="0" y="59531"/>
                    <a:pt x="59531" y="0"/>
                    <a:pt x="132966" y="0"/>
                  </a:cubicBezTo>
                  <a:close/>
                </a:path>
              </a:pathLst>
            </a:custGeom>
            <a:solidFill>
              <a:srgbClr val="9ECAE1"/>
            </a:solidFill>
            <a:ln w="47625" cap="rnd">
              <a:solidFill>
                <a:srgbClr val="6BAED6"/>
              </a:solidFill>
              <a:prstDash val="solid"/>
              <a:round/>
            </a:ln>
          </p:spPr>
        </p:sp>
        <p:sp>
          <p:nvSpPr>
            <p:cNvPr id="62" name="TextBox 33">
              <a:extLst>
                <a:ext uri="{FF2B5EF4-FFF2-40B4-BE49-F238E27FC236}">
                  <a16:creationId xmlns:a16="http://schemas.microsoft.com/office/drawing/2014/main" id="{3896221C-2B67-9048-F645-A26E3ABF4661}"/>
                </a:ext>
              </a:extLst>
            </p:cNvPr>
            <p:cNvSpPr txBox="1"/>
            <p:nvPr/>
          </p:nvSpPr>
          <p:spPr>
            <a:xfrm>
              <a:off x="0" y="-28575"/>
              <a:ext cx="1184327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Prabowo Buka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Opsi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Impor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 5 Juta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Sapi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Buat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Program Susu Gratis Anak</a:t>
              </a:r>
            </a:p>
          </p:txBody>
        </p:sp>
      </p:grpSp>
      <p:grpSp>
        <p:nvGrpSpPr>
          <p:cNvPr id="63" name="Group 34">
            <a:extLst>
              <a:ext uri="{FF2B5EF4-FFF2-40B4-BE49-F238E27FC236}">
                <a16:creationId xmlns:a16="http://schemas.microsoft.com/office/drawing/2014/main" id="{2E32B7FB-FC62-B952-3957-EE2A62B524F3}"/>
              </a:ext>
            </a:extLst>
          </p:cNvPr>
          <p:cNvGrpSpPr/>
          <p:nvPr/>
        </p:nvGrpSpPr>
        <p:grpSpPr>
          <a:xfrm>
            <a:off x="7020516" y="8103746"/>
            <a:ext cx="3548363" cy="1444114"/>
            <a:chOff x="0" y="0"/>
            <a:chExt cx="1415210" cy="575963"/>
          </a:xfrm>
        </p:grpSpPr>
        <p:sp>
          <p:nvSpPr>
            <p:cNvPr id="64" name="Freeform 35">
              <a:extLst>
                <a:ext uri="{FF2B5EF4-FFF2-40B4-BE49-F238E27FC236}">
                  <a16:creationId xmlns:a16="http://schemas.microsoft.com/office/drawing/2014/main" id="{BFB1DA65-943B-E9C9-A557-E4916C4BE707}"/>
                </a:ext>
              </a:extLst>
            </p:cNvPr>
            <p:cNvSpPr/>
            <p:nvPr/>
          </p:nvSpPr>
          <p:spPr>
            <a:xfrm>
              <a:off x="0" y="0"/>
              <a:ext cx="1415210" cy="575963"/>
            </a:xfrm>
            <a:custGeom>
              <a:avLst/>
              <a:gdLst/>
              <a:ahLst/>
              <a:cxnLst/>
              <a:rect l="l" t="t" r="r" b="b"/>
              <a:pathLst>
                <a:path w="1415210" h="575963">
                  <a:moveTo>
                    <a:pt x="111273" y="0"/>
                  </a:moveTo>
                  <a:lnTo>
                    <a:pt x="1303937" y="0"/>
                  </a:lnTo>
                  <a:cubicBezTo>
                    <a:pt x="1365391" y="0"/>
                    <a:pt x="1415210" y="49819"/>
                    <a:pt x="1415210" y="111273"/>
                  </a:cubicBezTo>
                  <a:lnTo>
                    <a:pt x="1415210" y="464689"/>
                  </a:lnTo>
                  <a:cubicBezTo>
                    <a:pt x="1415210" y="526144"/>
                    <a:pt x="1365391" y="575963"/>
                    <a:pt x="1303937" y="575963"/>
                  </a:cubicBezTo>
                  <a:lnTo>
                    <a:pt x="111273" y="575963"/>
                  </a:lnTo>
                  <a:cubicBezTo>
                    <a:pt x="49819" y="575963"/>
                    <a:pt x="0" y="526144"/>
                    <a:pt x="0" y="464689"/>
                  </a:cubicBezTo>
                  <a:lnTo>
                    <a:pt x="0" y="111273"/>
                  </a:lnTo>
                  <a:cubicBezTo>
                    <a:pt x="0" y="49819"/>
                    <a:pt x="49819" y="0"/>
                    <a:pt x="111273" y="0"/>
                  </a:cubicBezTo>
                  <a:close/>
                </a:path>
              </a:pathLst>
            </a:custGeom>
            <a:solidFill>
              <a:srgbClr val="9ECAE1"/>
            </a:solidFill>
            <a:ln w="47625" cap="rnd">
              <a:solidFill>
                <a:srgbClr val="6BAED6"/>
              </a:solidFill>
              <a:prstDash val="solid"/>
              <a:round/>
            </a:ln>
          </p:spPr>
        </p:sp>
        <p:sp>
          <p:nvSpPr>
            <p:cNvPr id="65" name="TextBox 36">
              <a:extLst>
                <a:ext uri="{FF2B5EF4-FFF2-40B4-BE49-F238E27FC236}">
                  <a16:creationId xmlns:a16="http://schemas.microsoft.com/office/drawing/2014/main" id="{63EC7FEB-AE61-4F2F-A70D-4E7AFC5E7BAB}"/>
                </a:ext>
              </a:extLst>
            </p:cNvPr>
            <p:cNvSpPr txBox="1"/>
            <p:nvPr/>
          </p:nvSpPr>
          <p:spPr>
            <a:xfrm>
              <a:off x="0" y="-28575"/>
              <a:ext cx="1415210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Program yang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nggak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masuk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akal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terlalu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mengada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Prabowo Buka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Opsi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Impor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 5 Juta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Sapi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Buat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Program Susu Gratis Anak</a:t>
              </a:r>
            </a:p>
          </p:txBody>
        </p:sp>
      </p:grpSp>
      <p:grpSp>
        <p:nvGrpSpPr>
          <p:cNvPr id="66" name="Group 37">
            <a:extLst>
              <a:ext uri="{FF2B5EF4-FFF2-40B4-BE49-F238E27FC236}">
                <a16:creationId xmlns:a16="http://schemas.microsoft.com/office/drawing/2014/main" id="{697EE256-82F3-EECE-88F1-A94B130A1117}"/>
              </a:ext>
            </a:extLst>
          </p:cNvPr>
          <p:cNvGrpSpPr/>
          <p:nvPr/>
        </p:nvGrpSpPr>
        <p:grpSpPr>
          <a:xfrm>
            <a:off x="11920403" y="8103746"/>
            <a:ext cx="3905448" cy="1444114"/>
            <a:chOff x="0" y="0"/>
            <a:chExt cx="1557628" cy="575963"/>
          </a:xfrm>
        </p:grpSpPr>
        <p:sp>
          <p:nvSpPr>
            <p:cNvPr id="67" name="Freeform 38">
              <a:extLst>
                <a:ext uri="{FF2B5EF4-FFF2-40B4-BE49-F238E27FC236}">
                  <a16:creationId xmlns:a16="http://schemas.microsoft.com/office/drawing/2014/main" id="{AC24E2ED-C13D-028C-F302-E40F29BBA2F3}"/>
                </a:ext>
              </a:extLst>
            </p:cNvPr>
            <p:cNvSpPr/>
            <p:nvPr/>
          </p:nvSpPr>
          <p:spPr>
            <a:xfrm>
              <a:off x="0" y="0"/>
              <a:ext cx="1557628" cy="575963"/>
            </a:xfrm>
            <a:custGeom>
              <a:avLst/>
              <a:gdLst/>
              <a:ahLst/>
              <a:cxnLst/>
              <a:rect l="l" t="t" r="r" b="b"/>
              <a:pathLst>
                <a:path w="1557628" h="575963">
                  <a:moveTo>
                    <a:pt x="101099" y="0"/>
                  </a:moveTo>
                  <a:lnTo>
                    <a:pt x="1456529" y="0"/>
                  </a:lnTo>
                  <a:cubicBezTo>
                    <a:pt x="1483342" y="0"/>
                    <a:pt x="1509057" y="10651"/>
                    <a:pt x="1528017" y="29611"/>
                  </a:cubicBezTo>
                  <a:cubicBezTo>
                    <a:pt x="1546976" y="48571"/>
                    <a:pt x="1557628" y="74286"/>
                    <a:pt x="1557628" y="101099"/>
                  </a:cubicBezTo>
                  <a:lnTo>
                    <a:pt x="1557628" y="474863"/>
                  </a:lnTo>
                  <a:cubicBezTo>
                    <a:pt x="1557628" y="530699"/>
                    <a:pt x="1512364" y="575963"/>
                    <a:pt x="1456529" y="575963"/>
                  </a:cubicBezTo>
                  <a:lnTo>
                    <a:pt x="101099" y="575963"/>
                  </a:lnTo>
                  <a:cubicBezTo>
                    <a:pt x="45264" y="575963"/>
                    <a:pt x="0" y="530699"/>
                    <a:pt x="0" y="474863"/>
                  </a:cubicBezTo>
                  <a:lnTo>
                    <a:pt x="0" y="101099"/>
                  </a:lnTo>
                  <a:cubicBezTo>
                    <a:pt x="0" y="45264"/>
                    <a:pt x="45264" y="0"/>
                    <a:pt x="101099" y="0"/>
                  </a:cubicBezTo>
                  <a:close/>
                </a:path>
              </a:pathLst>
            </a:custGeom>
            <a:solidFill>
              <a:srgbClr val="9ECAE1"/>
            </a:solidFill>
            <a:ln w="47625" cap="rnd">
              <a:solidFill>
                <a:srgbClr val="6BAED6"/>
              </a:solidFill>
              <a:prstDash val="solid"/>
              <a:round/>
            </a:ln>
          </p:spPr>
        </p:sp>
        <p:sp>
          <p:nvSpPr>
            <p:cNvPr id="68" name="TextBox 39">
              <a:extLst>
                <a:ext uri="{FF2B5EF4-FFF2-40B4-BE49-F238E27FC236}">
                  <a16:creationId xmlns:a16="http://schemas.microsoft.com/office/drawing/2014/main" id="{FBF5E5F6-3F49-B336-E468-032157A307B2}"/>
                </a:ext>
              </a:extLst>
            </p:cNvPr>
            <p:cNvSpPr txBox="1"/>
            <p:nvPr/>
          </p:nvSpPr>
          <p:spPr>
            <a:xfrm>
              <a:off x="0" y="-28575"/>
              <a:ext cx="1557628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Prabowo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Subianto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mengakui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program susu gratis yang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dicanangkannya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harus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diwujudkan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dengan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mengimpor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1 5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juta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sapi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dari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India</a:t>
              </a:r>
            </a:p>
          </p:txBody>
        </p:sp>
      </p:grpSp>
      <p:grpSp>
        <p:nvGrpSpPr>
          <p:cNvPr id="69" name="Group 40">
            <a:extLst>
              <a:ext uri="{FF2B5EF4-FFF2-40B4-BE49-F238E27FC236}">
                <a16:creationId xmlns:a16="http://schemas.microsoft.com/office/drawing/2014/main" id="{E351DA3B-BC95-E5E3-992F-B5495A65AC6B}"/>
              </a:ext>
            </a:extLst>
          </p:cNvPr>
          <p:cNvGrpSpPr/>
          <p:nvPr/>
        </p:nvGrpSpPr>
        <p:grpSpPr>
          <a:xfrm>
            <a:off x="13522607" y="5669586"/>
            <a:ext cx="3905448" cy="1933328"/>
            <a:chOff x="0" y="-28575"/>
            <a:chExt cx="1557628" cy="771078"/>
          </a:xfrm>
        </p:grpSpPr>
        <p:sp>
          <p:nvSpPr>
            <p:cNvPr id="70" name="Freeform 41">
              <a:extLst>
                <a:ext uri="{FF2B5EF4-FFF2-40B4-BE49-F238E27FC236}">
                  <a16:creationId xmlns:a16="http://schemas.microsoft.com/office/drawing/2014/main" id="{C3074A29-D549-AEB6-81FD-F6445914ABC0}"/>
                </a:ext>
              </a:extLst>
            </p:cNvPr>
            <p:cNvSpPr/>
            <p:nvPr/>
          </p:nvSpPr>
          <p:spPr>
            <a:xfrm>
              <a:off x="0" y="0"/>
              <a:ext cx="1557628" cy="742503"/>
            </a:xfrm>
            <a:custGeom>
              <a:avLst/>
              <a:gdLst/>
              <a:ahLst/>
              <a:cxnLst/>
              <a:rect l="l" t="t" r="r" b="b"/>
              <a:pathLst>
                <a:path w="1557628" h="742503">
                  <a:moveTo>
                    <a:pt x="101099" y="0"/>
                  </a:moveTo>
                  <a:lnTo>
                    <a:pt x="1456529" y="0"/>
                  </a:lnTo>
                  <a:cubicBezTo>
                    <a:pt x="1483342" y="0"/>
                    <a:pt x="1509057" y="10651"/>
                    <a:pt x="1528017" y="29611"/>
                  </a:cubicBezTo>
                  <a:cubicBezTo>
                    <a:pt x="1546976" y="48571"/>
                    <a:pt x="1557628" y="74286"/>
                    <a:pt x="1557628" y="101099"/>
                  </a:cubicBezTo>
                  <a:lnTo>
                    <a:pt x="1557628" y="641404"/>
                  </a:lnTo>
                  <a:cubicBezTo>
                    <a:pt x="1557628" y="697239"/>
                    <a:pt x="1512364" y="742503"/>
                    <a:pt x="1456529" y="742503"/>
                  </a:cubicBezTo>
                  <a:lnTo>
                    <a:pt x="101099" y="742503"/>
                  </a:lnTo>
                  <a:cubicBezTo>
                    <a:pt x="45264" y="742503"/>
                    <a:pt x="0" y="697239"/>
                    <a:pt x="0" y="641404"/>
                  </a:cubicBezTo>
                  <a:lnTo>
                    <a:pt x="0" y="101099"/>
                  </a:lnTo>
                  <a:cubicBezTo>
                    <a:pt x="0" y="45264"/>
                    <a:pt x="45264" y="0"/>
                    <a:pt x="101099" y="0"/>
                  </a:cubicBezTo>
                  <a:close/>
                </a:path>
              </a:pathLst>
            </a:custGeom>
            <a:solidFill>
              <a:srgbClr val="9ECAE1"/>
            </a:solidFill>
            <a:ln w="47625" cap="rnd">
              <a:solidFill>
                <a:srgbClr val="6BAED6"/>
              </a:solidFill>
              <a:prstDash val="solid"/>
              <a:round/>
            </a:ln>
          </p:spPr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35B2FCDC-67E3-75EF-2D2C-9660B709113E}"/>
                </a:ext>
              </a:extLst>
            </p:cNvPr>
            <p:cNvSpPr txBox="1"/>
            <p:nvPr/>
          </p:nvSpPr>
          <p:spPr>
            <a:xfrm>
              <a:off x="0" y="-28575"/>
              <a:ext cx="1557628" cy="771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Program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import fee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gerombolan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Prabowo Gibran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Ratusan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milyar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sekali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masuk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Kalau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sepanjang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tahun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tinggal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dikali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Program Susu Gratis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Tuai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Kecaman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Prabowo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Beberkan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Bakal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Impor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 5 Juta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Sapi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dari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India</a:t>
              </a:r>
            </a:p>
          </p:txBody>
        </p:sp>
      </p:grpSp>
      <p:sp>
        <p:nvSpPr>
          <p:cNvPr id="72" name="AutoShape 43">
            <a:extLst>
              <a:ext uri="{FF2B5EF4-FFF2-40B4-BE49-F238E27FC236}">
                <a16:creationId xmlns:a16="http://schemas.microsoft.com/office/drawing/2014/main" id="{4FE5CBB5-541F-A941-C4EB-B8B3449918DB}"/>
              </a:ext>
            </a:extLst>
          </p:cNvPr>
          <p:cNvSpPr/>
          <p:nvPr/>
        </p:nvSpPr>
        <p:spPr>
          <a:xfrm flipH="1">
            <a:off x="7309963" y="5404175"/>
            <a:ext cx="2073149" cy="722057"/>
          </a:xfrm>
          <a:prstGeom prst="line">
            <a:avLst/>
          </a:prstGeom>
          <a:ln w="38100" cap="flat">
            <a:solidFill>
              <a:srgbClr val="000000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AutoShape 44">
            <a:extLst>
              <a:ext uri="{FF2B5EF4-FFF2-40B4-BE49-F238E27FC236}">
                <a16:creationId xmlns:a16="http://schemas.microsoft.com/office/drawing/2014/main" id="{42174F57-1153-32C8-20FC-45B05714BA9B}"/>
              </a:ext>
            </a:extLst>
          </p:cNvPr>
          <p:cNvSpPr/>
          <p:nvPr/>
        </p:nvSpPr>
        <p:spPr>
          <a:xfrm flipH="1" flipV="1">
            <a:off x="7309963" y="7570346"/>
            <a:ext cx="1484734" cy="5334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AutoShape 45">
            <a:extLst>
              <a:ext uri="{FF2B5EF4-FFF2-40B4-BE49-F238E27FC236}">
                <a16:creationId xmlns:a16="http://schemas.microsoft.com/office/drawing/2014/main" id="{2B128940-D7CB-5934-85B2-4E2859570B87}"/>
              </a:ext>
            </a:extLst>
          </p:cNvPr>
          <p:cNvSpPr/>
          <p:nvPr/>
        </p:nvSpPr>
        <p:spPr>
          <a:xfrm flipH="1">
            <a:off x="8794697" y="6848289"/>
            <a:ext cx="4727910" cy="0"/>
          </a:xfrm>
          <a:prstGeom prst="line">
            <a:avLst/>
          </a:prstGeom>
          <a:ln w="38100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AutoShape 46">
            <a:extLst>
              <a:ext uri="{FF2B5EF4-FFF2-40B4-BE49-F238E27FC236}">
                <a16:creationId xmlns:a16="http://schemas.microsoft.com/office/drawing/2014/main" id="{CBF0E74F-1518-0080-1220-79506E9615AB}"/>
              </a:ext>
            </a:extLst>
          </p:cNvPr>
          <p:cNvSpPr/>
          <p:nvPr/>
        </p:nvSpPr>
        <p:spPr>
          <a:xfrm flipH="1" flipV="1">
            <a:off x="8794697" y="6848289"/>
            <a:ext cx="5078430" cy="1255457"/>
          </a:xfrm>
          <a:prstGeom prst="line">
            <a:avLst/>
          </a:prstGeom>
          <a:ln w="38100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" name="AutoShape 47">
            <a:extLst>
              <a:ext uri="{FF2B5EF4-FFF2-40B4-BE49-F238E27FC236}">
                <a16:creationId xmlns:a16="http://schemas.microsoft.com/office/drawing/2014/main" id="{10B99385-F34A-C355-A598-73F0B7270586}"/>
              </a:ext>
            </a:extLst>
          </p:cNvPr>
          <p:cNvSpPr/>
          <p:nvPr/>
        </p:nvSpPr>
        <p:spPr>
          <a:xfrm flipH="1">
            <a:off x="8794697" y="6126232"/>
            <a:ext cx="2362597" cy="1977514"/>
          </a:xfrm>
          <a:prstGeom prst="line">
            <a:avLst/>
          </a:prstGeom>
          <a:ln w="3810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48">
            <a:extLst>
              <a:ext uri="{FF2B5EF4-FFF2-40B4-BE49-F238E27FC236}">
                <a16:creationId xmlns:a16="http://schemas.microsoft.com/office/drawing/2014/main" id="{250EFB54-0B4B-0C40-AE2A-28A4FF66E108}"/>
              </a:ext>
            </a:extLst>
          </p:cNvPr>
          <p:cNvSpPr/>
          <p:nvPr/>
        </p:nvSpPr>
        <p:spPr>
          <a:xfrm flipH="1">
            <a:off x="8794697" y="6848289"/>
            <a:ext cx="4727910" cy="1255457"/>
          </a:xfrm>
          <a:prstGeom prst="line">
            <a:avLst/>
          </a:prstGeom>
          <a:ln w="38100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" name="AutoShape 49">
            <a:extLst>
              <a:ext uri="{FF2B5EF4-FFF2-40B4-BE49-F238E27FC236}">
                <a16:creationId xmlns:a16="http://schemas.microsoft.com/office/drawing/2014/main" id="{D47A85A1-6CAD-06A7-70BE-23D6F57C9CCA}"/>
              </a:ext>
            </a:extLst>
          </p:cNvPr>
          <p:cNvSpPr/>
          <p:nvPr/>
        </p:nvSpPr>
        <p:spPr>
          <a:xfrm flipH="1" flipV="1">
            <a:off x="11157294" y="6126232"/>
            <a:ext cx="2715833" cy="1977514"/>
          </a:xfrm>
          <a:prstGeom prst="line">
            <a:avLst/>
          </a:prstGeom>
          <a:ln w="38100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" name="AutoShape 50">
            <a:extLst>
              <a:ext uri="{FF2B5EF4-FFF2-40B4-BE49-F238E27FC236}">
                <a16:creationId xmlns:a16="http://schemas.microsoft.com/office/drawing/2014/main" id="{372574FF-8C34-BF75-106C-5FF674CF7013}"/>
              </a:ext>
            </a:extLst>
          </p:cNvPr>
          <p:cNvSpPr/>
          <p:nvPr/>
        </p:nvSpPr>
        <p:spPr>
          <a:xfrm>
            <a:off x="12931476" y="5404175"/>
            <a:ext cx="2543855" cy="292871"/>
          </a:xfrm>
          <a:prstGeom prst="line">
            <a:avLst/>
          </a:prstGeom>
          <a:ln w="38100" cap="flat">
            <a:solidFill>
              <a:srgbClr val="000000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1">
            <a:extLst>
              <a:ext uri="{FF2B5EF4-FFF2-40B4-BE49-F238E27FC236}">
                <a16:creationId xmlns:a16="http://schemas.microsoft.com/office/drawing/2014/main" id="{FBA9295B-F5A4-91B0-E07F-E79CBB05EEDB}"/>
              </a:ext>
            </a:extLst>
          </p:cNvPr>
          <p:cNvSpPr/>
          <p:nvPr/>
        </p:nvSpPr>
        <p:spPr>
          <a:xfrm flipH="1">
            <a:off x="13873127" y="7602914"/>
            <a:ext cx="1602204" cy="500832"/>
          </a:xfrm>
          <a:prstGeom prst="line">
            <a:avLst/>
          </a:prstGeom>
          <a:ln w="38100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52">
            <a:extLst>
              <a:ext uri="{FF2B5EF4-FFF2-40B4-BE49-F238E27FC236}">
                <a16:creationId xmlns:a16="http://schemas.microsoft.com/office/drawing/2014/main" id="{18C5485F-81B6-EED6-C7DD-C0B9CB43E84B}"/>
              </a:ext>
            </a:extLst>
          </p:cNvPr>
          <p:cNvSpPr/>
          <p:nvPr/>
        </p:nvSpPr>
        <p:spPr>
          <a:xfrm flipH="1">
            <a:off x="10568879" y="8825803"/>
            <a:ext cx="1351524" cy="0"/>
          </a:xfrm>
          <a:prstGeom prst="line">
            <a:avLst/>
          </a:prstGeom>
          <a:ln w="38100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TextBox 53">
            <a:extLst>
              <a:ext uri="{FF2B5EF4-FFF2-40B4-BE49-F238E27FC236}">
                <a16:creationId xmlns:a16="http://schemas.microsoft.com/office/drawing/2014/main" id="{12281D2E-9E88-1BCB-816C-32E7FE4256D1}"/>
              </a:ext>
            </a:extLst>
          </p:cNvPr>
          <p:cNvSpPr txBox="1"/>
          <p:nvPr/>
        </p:nvSpPr>
        <p:spPr>
          <a:xfrm>
            <a:off x="5970927" y="4790654"/>
            <a:ext cx="144571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Contoh Graf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21CBF3-916C-CB95-DC3C-868C485753E4}"/>
              </a:ext>
            </a:extLst>
          </p:cNvPr>
          <p:cNvSpPr txBox="1"/>
          <p:nvPr/>
        </p:nvSpPr>
        <p:spPr>
          <a:xfrm rot="20462569">
            <a:off x="8169330" y="5522408"/>
            <a:ext cx="588623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3302D"/>
                </a:solidFill>
                <a:latin typeface="Canva Sans" panose="020B0604020202020204" charset="0"/>
              </a:rPr>
              <a:t>0.96</a:t>
            </a:r>
            <a:endParaRPr lang="en-ID" sz="1400" dirty="0">
              <a:solidFill>
                <a:srgbClr val="33302D"/>
              </a:solidFill>
              <a:latin typeface="Canva Sans" panose="020B060402020202020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00FEE72-F63A-E6B2-C5A2-D9DF3127EECF}"/>
              </a:ext>
            </a:extLst>
          </p:cNvPr>
          <p:cNvSpPr txBox="1"/>
          <p:nvPr/>
        </p:nvSpPr>
        <p:spPr>
          <a:xfrm rot="1012791">
            <a:off x="7761224" y="7669230"/>
            <a:ext cx="582211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nva Sans" panose="020B0604020202020204" charset="0"/>
              </a:rPr>
              <a:t>0.98</a:t>
            </a:r>
            <a:endParaRPr lang="en-ID" sz="1400" dirty="0">
              <a:solidFill>
                <a:srgbClr val="000000"/>
              </a:solidFill>
              <a:latin typeface="Canva Sans" panose="020B060402020202020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536919-5F5B-F03E-AE9F-17F4709B7F1C}"/>
              </a:ext>
            </a:extLst>
          </p:cNvPr>
          <p:cNvSpPr txBox="1"/>
          <p:nvPr/>
        </p:nvSpPr>
        <p:spPr>
          <a:xfrm rot="18827823">
            <a:off x="9103824" y="7437445"/>
            <a:ext cx="579005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65F5A"/>
                </a:solidFill>
                <a:latin typeface="Canva Sans" panose="020B0604020202020204" charset="0"/>
              </a:rPr>
              <a:t>0.95</a:t>
            </a:r>
            <a:endParaRPr lang="en-ID" sz="1400" dirty="0">
              <a:solidFill>
                <a:srgbClr val="665F5A"/>
              </a:solidFill>
              <a:latin typeface="Canva Sans" panose="020B060402020202020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B0D08C-B2B9-3A53-A5C8-4CB8FC8852A2}"/>
              </a:ext>
            </a:extLst>
          </p:cNvPr>
          <p:cNvSpPr txBox="1"/>
          <p:nvPr/>
        </p:nvSpPr>
        <p:spPr>
          <a:xfrm rot="851653">
            <a:off x="10199673" y="7110973"/>
            <a:ext cx="577402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3A79E"/>
                </a:solidFill>
                <a:latin typeface="Canva Sans" panose="020B0604020202020204" charset="0"/>
              </a:rPr>
              <a:t>0.93</a:t>
            </a:r>
            <a:endParaRPr lang="en-ID" sz="1400" dirty="0">
              <a:solidFill>
                <a:srgbClr val="B3A79E"/>
              </a:solidFill>
              <a:latin typeface="Canva Sans" panose="020B060402020202020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D9986D2-E9E2-DB0E-C5DA-4D62547CE638}"/>
              </a:ext>
            </a:extLst>
          </p:cNvPr>
          <p:cNvSpPr txBox="1"/>
          <p:nvPr/>
        </p:nvSpPr>
        <p:spPr>
          <a:xfrm>
            <a:off x="10843069" y="6676006"/>
            <a:ext cx="577402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8ACA2"/>
                </a:solidFill>
                <a:latin typeface="Canva Sans" panose="020B0604020202020204" charset="0"/>
              </a:rPr>
              <a:t>0.93</a:t>
            </a:r>
            <a:endParaRPr lang="en-ID" sz="1400" dirty="0">
              <a:solidFill>
                <a:srgbClr val="B8ACA2"/>
              </a:solidFill>
              <a:latin typeface="Canva Sans" panose="020B060402020202020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00EFB1-240C-2B2D-7E0F-9F3F283CDD73}"/>
              </a:ext>
            </a:extLst>
          </p:cNvPr>
          <p:cNvSpPr txBox="1"/>
          <p:nvPr/>
        </p:nvSpPr>
        <p:spPr>
          <a:xfrm rot="20633004">
            <a:off x="11652245" y="7069706"/>
            <a:ext cx="582211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98F87"/>
                </a:solidFill>
                <a:latin typeface="Canva Sans" panose="020B0604020202020204" charset="0"/>
              </a:rPr>
              <a:t>0.94</a:t>
            </a:r>
            <a:endParaRPr lang="en-ID" sz="1400" dirty="0">
              <a:solidFill>
                <a:srgbClr val="998F87"/>
              </a:solidFill>
              <a:latin typeface="Canva Sans" panose="020B060402020202020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EC5F682-65B9-1D37-53FC-8C6BA39EB9FC}"/>
              </a:ext>
            </a:extLst>
          </p:cNvPr>
          <p:cNvSpPr txBox="1"/>
          <p:nvPr/>
        </p:nvSpPr>
        <p:spPr>
          <a:xfrm rot="2350114">
            <a:off x="12828786" y="7384030"/>
            <a:ext cx="582211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98F87"/>
                </a:solidFill>
                <a:latin typeface="Canva Sans" panose="020B0604020202020204" charset="0"/>
              </a:rPr>
              <a:t>0.94</a:t>
            </a:r>
            <a:endParaRPr lang="en-ID" sz="1400" dirty="0">
              <a:solidFill>
                <a:srgbClr val="998F87"/>
              </a:solidFill>
              <a:latin typeface="Canva Sans" panose="020B060402020202020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3EC7E0-FE01-33CA-5386-047F6F239C8E}"/>
              </a:ext>
            </a:extLst>
          </p:cNvPr>
          <p:cNvSpPr txBox="1"/>
          <p:nvPr/>
        </p:nvSpPr>
        <p:spPr>
          <a:xfrm>
            <a:off x="10885804" y="8671913"/>
            <a:ext cx="577402" cy="307777"/>
          </a:xfrm>
          <a:prstGeom prst="rect">
            <a:avLst/>
          </a:prstGeom>
          <a:solidFill>
            <a:srgbClr val="FFEEE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3A79E"/>
                </a:solidFill>
                <a:latin typeface="Canva Sans" panose="020B0604020202020204" charset="0"/>
              </a:rPr>
              <a:t>0.93</a:t>
            </a:r>
            <a:endParaRPr lang="en-ID" sz="1400" dirty="0">
              <a:solidFill>
                <a:srgbClr val="B3A79E"/>
              </a:solidFill>
              <a:latin typeface="Canva Sans" panose="020B060402020202020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CF92E23-83F7-2A5C-BEEE-5BCE5EDB8319}"/>
              </a:ext>
            </a:extLst>
          </p:cNvPr>
          <p:cNvSpPr txBox="1"/>
          <p:nvPr/>
        </p:nvSpPr>
        <p:spPr>
          <a:xfrm rot="21123208">
            <a:off x="14376069" y="7714437"/>
            <a:ext cx="577402" cy="307777"/>
          </a:xfrm>
          <a:prstGeom prst="rect">
            <a:avLst/>
          </a:prstGeom>
          <a:solidFill>
            <a:srgbClr val="FFEEE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B3A79E"/>
                </a:solidFill>
                <a:latin typeface="Canva Sans" panose="020B0604020202020204" charset="0"/>
              </a:rPr>
              <a:t>0.93</a:t>
            </a:r>
            <a:endParaRPr lang="en-ID" sz="1400" dirty="0">
              <a:solidFill>
                <a:srgbClr val="B3A79E"/>
              </a:solidFill>
              <a:latin typeface="Canva Sans" panose="020B060402020202020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6F294B4-FD21-E7F6-E373-89E3EEA7E610}"/>
              </a:ext>
            </a:extLst>
          </p:cNvPr>
          <p:cNvSpPr txBox="1"/>
          <p:nvPr/>
        </p:nvSpPr>
        <p:spPr>
          <a:xfrm rot="501477">
            <a:off x="13493986" y="5332160"/>
            <a:ext cx="624927" cy="307777"/>
          </a:xfrm>
          <a:prstGeom prst="rect">
            <a:avLst/>
          </a:prstGeom>
          <a:solidFill>
            <a:srgbClr val="FFEEE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3302D"/>
                </a:solidFill>
                <a:latin typeface="Canva Sans" panose="020B0604020202020204" charset="0"/>
              </a:rPr>
              <a:t>0.96</a:t>
            </a:r>
            <a:endParaRPr lang="en-ID" sz="1400" dirty="0">
              <a:solidFill>
                <a:srgbClr val="33302D"/>
              </a:solidFill>
              <a:latin typeface="Canva Sans" panose="020B06040202020202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8190" y="1760697"/>
            <a:ext cx="16865168" cy="7893374"/>
            <a:chOff x="0" y="0"/>
            <a:chExt cx="6251207" cy="2925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51207" cy="2925741"/>
            </a:xfrm>
            <a:custGeom>
              <a:avLst/>
              <a:gdLst/>
              <a:ahLst/>
              <a:cxnLst/>
              <a:rect l="l" t="t" r="r" b="b"/>
              <a:pathLst>
                <a:path w="6251207" h="2925741">
                  <a:moveTo>
                    <a:pt x="23411" y="0"/>
                  </a:moveTo>
                  <a:lnTo>
                    <a:pt x="6227795" y="0"/>
                  </a:lnTo>
                  <a:cubicBezTo>
                    <a:pt x="6240725" y="0"/>
                    <a:pt x="6251207" y="10482"/>
                    <a:pt x="6251207" y="23411"/>
                  </a:cubicBezTo>
                  <a:lnTo>
                    <a:pt x="6251207" y="2902330"/>
                  </a:lnTo>
                  <a:cubicBezTo>
                    <a:pt x="6251207" y="2915259"/>
                    <a:pt x="6240725" y="2925741"/>
                    <a:pt x="6227795" y="2925741"/>
                  </a:cubicBezTo>
                  <a:lnTo>
                    <a:pt x="23411" y="2925741"/>
                  </a:lnTo>
                  <a:cubicBezTo>
                    <a:pt x="10482" y="2925741"/>
                    <a:pt x="0" y="2915259"/>
                    <a:pt x="0" y="2902330"/>
                  </a:cubicBezTo>
                  <a:lnTo>
                    <a:pt x="0" y="23411"/>
                  </a:lnTo>
                  <a:cubicBezTo>
                    <a:pt x="0" y="10482"/>
                    <a:pt x="10482" y="0"/>
                    <a:pt x="23411" y="0"/>
                  </a:cubicBezTo>
                  <a:close/>
                </a:path>
              </a:pathLst>
            </a:custGeom>
            <a:solidFill>
              <a:srgbClr val="FFEEE1"/>
            </a:solidFill>
            <a:ln w="47625" cap="rnd">
              <a:solidFill>
                <a:srgbClr val="FFD7BA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251207" cy="2973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1103174" y="4008914"/>
            <a:ext cx="274915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Contoh Graf Kampanye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03174" y="2499679"/>
            <a:ext cx="12442179" cy="1012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23E8A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 Kluster</a:t>
            </a: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= </a:t>
            </a:r>
            <a:r>
              <a:rPr lang="en-US" sz="3598" spc="-14">
                <a:solidFill>
                  <a:srgbClr val="D90429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1 Kampanye </a:t>
            </a:r>
          </a:p>
          <a:p>
            <a:pPr algn="l">
              <a:lnSpc>
                <a:spcPts val="3240"/>
              </a:lnSpc>
            </a:pPr>
            <a:r>
              <a:rPr lang="en-US" sz="3000" spc="-1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Suatu </a:t>
            </a:r>
            <a:r>
              <a:rPr lang="en-US" sz="3000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kumpulan cuitan</a:t>
            </a:r>
            <a:r>
              <a:rPr lang="en-US" sz="3000" spc="-1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memiliki</a:t>
            </a:r>
            <a:r>
              <a:rPr lang="en-US" sz="3000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makna semantik</a:t>
            </a:r>
            <a:r>
              <a:rPr lang="en-US" sz="3000" spc="-14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</a:t>
            </a:r>
            <a:r>
              <a:rPr lang="en-US" sz="3000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serupa</a:t>
            </a:r>
          </a:p>
        </p:txBody>
      </p:sp>
      <p:grpSp>
        <p:nvGrpSpPr>
          <p:cNvPr id="61" name="Group 10">
            <a:extLst>
              <a:ext uri="{FF2B5EF4-FFF2-40B4-BE49-F238E27FC236}">
                <a16:creationId xmlns:a16="http://schemas.microsoft.com/office/drawing/2014/main" id="{5DC48CEE-B7A0-065F-389C-F564F54E35AC}"/>
              </a:ext>
            </a:extLst>
          </p:cNvPr>
          <p:cNvGrpSpPr/>
          <p:nvPr/>
        </p:nvGrpSpPr>
        <p:grpSpPr>
          <a:xfrm>
            <a:off x="3087674" y="5004179"/>
            <a:ext cx="3220096" cy="3220096"/>
            <a:chOff x="0" y="0"/>
            <a:chExt cx="812800" cy="812800"/>
          </a:xfrm>
        </p:grpSpPr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0ECACCA3-0DED-5DB1-2CC7-470F9EC9BC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FC8F8">
                <a:alpha val="49804"/>
              </a:srgbClr>
            </a:solidFill>
          </p:spPr>
        </p:sp>
        <p:sp>
          <p:nvSpPr>
            <p:cNvPr id="63" name="TextBox 12">
              <a:extLst>
                <a:ext uri="{FF2B5EF4-FFF2-40B4-BE49-F238E27FC236}">
                  <a16:creationId xmlns:a16="http://schemas.microsoft.com/office/drawing/2014/main" id="{50445E35-1955-E76C-69A3-F2580FABF8C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9804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100% Unik</a:t>
              </a:r>
            </a:p>
          </p:txBody>
        </p:sp>
      </p:grpSp>
      <p:grpSp>
        <p:nvGrpSpPr>
          <p:cNvPr id="64" name="Group 13">
            <a:extLst>
              <a:ext uri="{FF2B5EF4-FFF2-40B4-BE49-F238E27FC236}">
                <a16:creationId xmlns:a16="http://schemas.microsoft.com/office/drawing/2014/main" id="{4D9E767C-2000-E2E9-5514-4E91000853F1}"/>
              </a:ext>
            </a:extLst>
          </p:cNvPr>
          <p:cNvGrpSpPr/>
          <p:nvPr/>
        </p:nvGrpSpPr>
        <p:grpSpPr>
          <a:xfrm>
            <a:off x="5642410" y="5419761"/>
            <a:ext cx="3548363" cy="1444114"/>
            <a:chOff x="0" y="0"/>
            <a:chExt cx="1415210" cy="575963"/>
          </a:xfrm>
        </p:grpSpPr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8A0008EA-99D2-53D4-AB4B-8E42CC913BD4}"/>
                </a:ext>
              </a:extLst>
            </p:cNvPr>
            <p:cNvSpPr/>
            <p:nvPr/>
          </p:nvSpPr>
          <p:spPr>
            <a:xfrm>
              <a:off x="0" y="0"/>
              <a:ext cx="1415210" cy="575963"/>
            </a:xfrm>
            <a:custGeom>
              <a:avLst/>
              <a:gdLst/>
              <a:ahLst/>
              <a:cxnLst/>
              <a:rect l="l" t="t" r="r" b="b"/>
              <a:pathLst>
                <a:path w="1415210" h="575963">
                  <a:moveTo>
                    <a:pt x="111273" y="0"/>
                  </a:moveTo>
                  <a:lnTo>
                    <a:pt x="1303937" y="0"/>
                  </a:lnTo>
                  <a:cubicBezTo>
                    <a:pt x="1365391" y="0"/>
                    <a:pt x="1415210" y="49819"/>
                    <a:pt x="1415210" y="111273"/>
                  </a:cubicBezTo>
                  <a:lnTo>
                    <a:pt x="1415210" y="464689"/>
                  </a:lnTo>
                  <a:cubicBezTo>
                    <a:pt x="1415210" y="526144"/>
                    <a:pt x="1365391" y="575963"/>
                    <a:pt x="1303937" y="575963"/>
                  </a:cubicBezTo>
                  <a:lnTo>
                    <a:pt x="111273" y="575963"/>
                  </a:lnTo>
                  <a:cubicBezTo>
                    <a:pt x="49819" y="575963"/>
                    <a:pt x="0" y="526144"/>
                    <a:pt x="0" y="464689"/>
                  </a:cubicBezTo>
                  <a:lnTo>
                    <a:pt x="0" y="111273"/>
                  </a:lnTo>
                  <a:cubicBezTo>
                    <a:pt x="0" y="49819"/>
                    <a:pt x="49819" y="0"/>
                    <a:pt x="111273" y="0"/>
                  </a:cubicBezTo>
                  <a:close/>
                </a:path>
              </a:pathLst>
            </a:custGeom>
            <a:solidFill>
              <a:srgbClr val="7FC8F8"/>
            </a:solidFill>
            <a:ln w="47625" cap="rnd">
              <a:solidFill>
                <a:srgbClr val="5AA9E6"/>
              </a:solidFill>
              <a:prstDash val="solid"/>
              <a:round/>
            </a:ln>
          </p:spPr>
        </p:sp>
        <p:sp>
          <p:nvSpPr>
            <p:cNvPr id="66" name="TextBox 15">
              <a:extLst>
                <a:ext uri="{FF2B5EF4-FFF2-40B4-BE49-F238E27FC236}">
                  <a16:creationId xmlns:a16="http://schemas.microsoft.com/office/drawing/2014/main" id="{5DA5D6C8-A8E5-8128-E703-0FE20AA4F4E2}"/>
                </a:ext>
              </a:extLst>
            </p:cNvPr>
            <p:cNvSpPr txBox="1"/>
            <p:nvPr/>
          </p:nvSpPr>
          <p:spPr>
            <a:xfrm>
              <a:off x="0" y="-28575"/>
              <a:ext cx="1415210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Alasan saya dukung Prabowo karena saya percaya dengan bisa nepatin janji program kerjanya</a:t>
              </a:r>
            </a:p>
          </p:txBody>
        </p:sp>
      </p:grpSp>
      <p:grpSp>
        <p:nvGrpSpPr>
          <p:cNvPr id="67" name="Group 16">
            <a:extLst>
              <a:ext uri="{FF2B5EF4-FFF2-40B4-BE49-F238E27FC236}">
                <a16:creationId xmlns:a16="http://schemas.microsoft.com/office/drawing/2014/main" id="{A3C9B035-6CF4-370A-D12F-5C0302AFEAA7}"/>
              </a:ext>
            </a:extLst>
          </p:cNvPr>
          <p:cNvGrpSpPr/>
          <p:nvPr/>
        </p:nvGrpSpPr>
        <p:grpSpPr>
          <a:xfrm>
            <a:off x="821721" y="5637101"/>
            <a:ext cx="2969468" cy="1444114"/>
            <a:chOff x="0" y="0"/>
            <a:chExt cx="1184327" cy="575963"/>
          </a:xfrm>
        </p:grpSpPr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94058C22-DB25-64EB-72B7-84EBF98EED8B}"/>
                </a:ext>
              </a:extLst>
            </p:cNvPr>
            <p:cNvSpPr/>
            <p:nvPr/>
          </p:nvSpPr>
          <p:spPr>
            <a:xfrm>
              <a:off x="0" y="0"/>
              <a:ext cx="1184327" cy="575963"/>
            </a:xfrm>
            <a:custGeom>
              <a:avLst/>
              <a:gdLst/>
              <a:ahLst/>
              <a:cxnLst/>
              <a:rect l="l" t="t" r="r" b="b"/>
              <a:pathLst>
                <a:path w="1184327" h="575963">
                  <a:moveTo>
                    <a:pt x="132966" y="0"/>
                  </a:moveTo>
                  <a:lnTo>
                    <a:pt x="1051361" y="0"/>
                  </a:lnTo>
                  <a:cubicBezTo>
                    <a:pt x="1124796" y="0"/>
                    <a:pt x="1184327" y="59531"/>
                    <a:pt x="1184327" y="132966"/>
                  </a:cubicBezTo>
                  <a:lnTo>
                    <a:pt x="1184327" y="442997"/>
                  </a:lnTo>
                  <a:cubicBezTo>
                    <a:pt x="1184327" y="516432"/>
                    <a:pt x="1124796" y="575963"/>
                    <a:pt x="1051361" y="575963"/>
                  </a:cubicBezTo>
                  <a:lnTo>
                    <a:pt x="132966" y="575963"/>
                  </a:lnTo>
                  <a:cubicBezTo>
                    <a:pt x="59531" y="575963"/>
                    <a:pt x="0" y="516432"/>
                    <a:pt x="0" y="442997"/>
                  </a:cubicBezTo>
                  <a:lnTo>
                    <a:pt x="0" y="132966"/>
                  </a:lnTo>
                  <a:cubicBezTo>
                    <a:pt x="0" y="59531"/>
                    <a:pt x="59531" y="0"/>
                    <a:pt x="132966" y="0"/>
                  </a:cubicBezTo>
                  <a:close/>
                </a:path>
              </a:pathLst>
            </a:custGeom>
            <a:solidFill>
              <a:srgbClr val="7FC8F8"/>
            </a:solidFill>
            <a:ln w="47625" cap="rnd">
              <a:solidFill>
                <a:srgbClr val="5AA9E6"/>
              </a:solidFill>
              <a:prstDash val="solid"/>
              <a:round/>
            </a:ln>
          </p:spPr>
        </p:sp>
        <p:sp>
          <p:nvSpPr>
            <p:cNvPr id="69" name="TextBox 18">
              <a:extLst>
                <a:ext uri="{FF2B5EF4-FFF2-40B4-BE49-F238E27FC236}">
                  <a16:creationId xmlns:a16="http://schemas.microsoft.com/office/drawing/2014/main" id="{41FD8619-4A00-7398-DEDB-F573BD3498F0}"/>
                </a:ext>
              </a:extLst>
            </p:cNvPr>
            <p:cNvSpPr txBox="1"/>
            <p:nvPr/>
          </p:nvSpPr>
          <p:spPr>
            <a:xfrm>
              <a:off x="0" y="-28575"/>
              <a:ext cx="1184327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Omongan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Pak Prabowo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itu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bisa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dipegang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jadi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program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kerjanya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pasti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bisa</a:t>
              </a:r>
              <a:r>
                <a:rPr lang="en-US" sz="15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ditepati</a:t>
              </a:r>
              <a:endParaRPr lang="en-US" sz="1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70" name="AutoShape 19">
            <a:extLst>
              <a:ext uri="{FF2B5EF4-FFF2-40B4-BE49-F238E27FC236}">
                <a16:creationId xmlns:a16="http://schemas.microsoft.com/office/drawing/2014/main" id="{547D5E06-80BF-1BDB-DF96-2FCC47021397}"/>
              </a:ext>
            </a:extLst>
          </p:cNvPr>
          <p:cNvSpPr/>
          <p:nvPr/>
        </p:nvSpPr>
        <p:spPr>
          <a:xfrm flipH="1">
            <a:off x="3791189" y="6141818"/>
            <a:ext cx="1851222" cy="217340"/>
          </a:xfrm>
          <a:prstGeom prst="line">
            <a:avLst/>
          </a:prstGeom>
          <a:ln w="38100" cap="flat">
            <a:solidFill>
              <a:srgbClr val="000000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" name="AutoShape 20">
            <a:extLst>
              <a:ext uri="{FF2B5EF4-FFF2-40B4-BE49-F238E27FC236}">
                <a16:creationId xmlns:a16="http://schemas.microsoft.com/office/drawing/2014/main" id="{F09972A7-B04B-FD08-29F0-8F1E087B5D2E}"/>
              </a:ext>
            </a:extLst>
          </p:cNvPr>
          <p:cNvSpPr/>
          <p:nvPr/>
        </p:nvSpPr>
        <p:spPr>
          <a:xfrm flipH="1" flipV="1">
            <a:off x="3791189" y="6359158"/>
            <a:ext cx="1223067" cy="16074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2" name="Group 21">
            <a:extLst>
              <a:ext uri="{FF2B5EF4-FFF2-40B4-BE49-F238E27FC236}">
                <a16:creationId xmlns:a16="http://schemas.microsoft.com/office/drawing/2014/main" id="{1EC8028C-1520-B2C9-5279-E483EA3C9B5D}"/>
              </a:ext>
            </a:extLst>
          </p:cNvPr>
          <p:cNvGrpSpPr/>
          <p:nvPr/>
        </p:nvGrpSpPr>
        <p:grpSpPr>
          <a:xfrm>
            <a:off x="3240074" y="7966586"/>
            <a:ext cx="3548363" cy="1444114"/>
            <a:chOff x="0" y="0"/>
            <a:chExt cx="1415210" cy="575963"/>
          </a:xfrm>
        </p:grpSpPr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C59CAC1E-8B7B-2477-4E1E-273E8EF57070}"/>
                </a:ext>
              </a:extLst>
            </p:cNvPr>
            <p:cNvSpPr/>
            <p:nvPr/>
          </p:nvSpPr>
          <p:spPr>
            <a:xfrm>
              <a:off x="0" y="0"/>
              <a:ext cx="1415210" cy="575963"/>
            </a:xfrm>
            <a:custGeom>
              <a:avLst/>
              <a:gdLst/>
              <a:ahLst/>
              <a:cxnLst/>
              <a:rect l="l" t="t" r="r" b="b"/>
              <a:pathLst>
                <a:path w="1415210" h="575963">
                  <a:moveTo>
                    <a:pt x="111273" y="0"/>
                  </a:moveTo>
                  <a:lnTo>
                    <a:pt x="1303937" y="0"/>
                  </a:lnTo>
                  <a:cubicBezTo>
                    <a:pt x="1365391" y="0"/>
                    <a:pt x="1415210" y="49819"/>
                    <a:pt x="1415210" y="111273"/>
                  </a:cubicBezTo>
                  <a:lnTo>
                    <a:pt x="1415210" y="464689"/>
                  </a:lnTo>
                  <a:cubicBezTo>
                    <a:pt x="1415210" y="526144"/>
                    <a:pt x="1365391" y="575963"/>
                    <a:pt x="1303937" y="575963"/>
                  </a:cubicBezTo>
                  <a:lnTo>
                    <a:pt x="111273" y="575963"/>
                  </a:lnTo>
                  <a:cubicBezTo>
                    <a:pt x="49819" y="575963"/>
                    <a:pt x="0" y="526144"/>
                    <a:pt x="0" y="464689"/>
                  </a:cubicBezTo>
                  <a:lnTo>
                    <a:pt x="0" y="111273"/>
                  </a:lnTo>
                  <a:cubicBezTo>
                    <a:pt x="0" y="49819"/>
                    <a:pt x="49819" y="0"/>
                    <a:pt x="111273" y="0"/>
                  </a:cubicBezTo>
                  <a:close/>
                </a:path>
              </a:pathLst>
            </a:custGeom>
            <a:solidFill>
              <a:srgbClr val="7FC8F8"/>
            </a:solidFill>
            <a:ln w="47625" cap="rnd">
              <a:solidFill>
                <a:srgbClr val="5AA9E6"/>
              </a:solidFill>
              <a:prstDash val="solid"/>
              <a:round/>
            </a:ln>
          </p:spPr>
        </p:sp>
        <p:sp>
          <p:nvSpPr>
            <p:cNvPr id="74" name="TextBox 23">
              <a:extLst>
                <a:ext uri="{FF2B5EF4-FFF2-40B4-BE49-F238E27FC236}">
                  <a16:creationId xmlns:a16="http://schemas.microsoft.com/office/drawing/2014/main" id="{9DF7FFE1-296B-90E7-1167-2D45BD671356}"/>
                </a:ext>
              </a:extLst>
            </p:cNvPr>
            <p:cNvSpPr txBox="1"/>
            <p:nvPr/>
          </p:nvSpPr>
          <p:spPr>
            <a:xfrm>
              <a:off x="0" y="-28575"/>
              <a:ext cx="1415210" cy="604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gw yakin Prabowo mampu menepati janji janji di program kerjanya</a:t>
              </a:r>
            </a:p>
          </p:txBody>
        </p:sp>
      </p:grpSp>
      <p:sp>
        <p:nvSpPr>
          <p:cNvPr id="75" name="AutoShape 24">
            <a:extLst>
              <a:ext uri="{FF2B5EF4-FFF2-40B4-BE49-F238E27FC236}">
                <a16:creationId xmlns:a16="http://schemas.microsoft.com/office/drawing/2014/main" id="{386D8CA1-970D-A629-D303-8617831E4011}"/>
              </a:ext>
            </a:extLst>
          </p:cNvPr>
          <p:cNvSpPr/>
          <p:nvPr/>
        </p:nvSpPr>
        <p:spPr>
          <a:xfrm flipV="1">
            <a:off x="5014256" y="6141818"/>
            <a:ext cx="628154" cy="18247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6" name="Group 25">
            <a:extLst>
              <a:ext uri="{FF2B5EF4-FFF2-40B4-BE49-F238E27FC236}">
                <a16:creationId xmlns:a16="http://schemas.microsoft.com/office/drawing/2014/main" id="{13783FAA-F12C-DDF3-AAE8-FEA8933BBB8C}"/>
              </a:ext>
            </a:extLst>
          </p:cNvPr>
          <p:cNvGrpSpPr/>
          <p:nvPr/>
        </p:nvGrpSpPr>
        <p:grpSpPr>
          <a:xfrm>
            <a:off x="11097271" y="2228112"/>
            <a:ext cx="6329669" cy="4738804"/>
            <a:chOff x="0" y="0"/>
            <a:chExt cx="8439559" cy="6318406"/>
          </a:xfrm>
        </p:grpSpPr>
        <p:grpSp>
          <p:nvGrpSpPr>
            <p:cNvPr id="77" name="Group 26">
              <a:extLst>
                <a:ext uri="{FF2B5EF4-FFF2-40B4-BE49-F238E27FC236}">
                  <a16:creationId xmlns:a16="http://schemas.microsoft.com/office/drawing/2014/main" id="{845F2A47-B3BE-51EF-CAA0-DD1E1691217D}"/>
                </a:ext>
              </a:extLst>
            </p:cNvPr>
            <p:cNvGrpSpPr/>
            <p:nvPr/>
          </p:nvGrpSpPr>
          <p:grpSpPr>
            <a:xfrm>
              <a:off x="3230019" y="962743"/>
              <a:ext cx="4293461" cy="4293461"/>
              <a:chOff x="0" y="0"/>
              <a:chExt cx="812800" cy="812800"/>
            </a:xfrm>
          </p:grpSpPr>
          <p:sp>
            <p:nvSpPr>
              <p:cNvPr id="90" name="Freeform 27">
                <a:extLst>
                  <a:ext uri="{FF2B5EF4-FFF2-40B4-BE49-F238E27FC236}">
                    <a16:creationId xmlns:a16="http://schemas.microsoft.com/office/drawing/2014/main" id="{3BEAD921-E7BB-EADB-5A73-ED2F80431EF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8FAB">
                  <a:alpha val="49804"/>
                </a:srgbClr>
              </a:solidFill>
            </p:spPr>
          </p:sp>
          <p:sp>
            <p:nvSpPr>
              <p:cNvPr id="91" name="TextBox 28">
                <a:extLst>
                  <a:ext uri="{FF2B5EF4-FFF2-40B4-BE49-F238E27FC236}">
                    <a16:creationId xmlns:a16="http://schemas.microsoft.com/office/drawing/2014/main" id="{A522B7EC-3EC4-7664-0586-AF499F5F86B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>
                        <a:alpha val="49804"/>
                      </a:srgbClr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0% Unik</a:t>
                </a:r>
              </a:p>
            </p:txBody>
          </p:sp>
        </p:grpSp>
        <p:grpSp>
          <p:nvGrpSpPr>
            <p:cNvPr id="78" name="Group 29">
              <a:extLst>
                <a:ext uri="{FF2B5EF4-FFF2-40B4-BE49-F238E27FC236}">
                  <a16:creationId xmlns:a16="http://schemas.microsoft.com/office/drawing/2014/main" id="{524E057E-CFC6-8340-3519-4FC21BC9505A}"/>
                </a:ext>
              </a:extLst>
            </p:cNvPr>
            <p:cNvGrpSpPr/>
            <p:nvPr/>
          </p:nvGrpSpPr>
          <p:grpSpPr>
            <a:xfrm>
              <a:off x="4521208" y="0"/>
              <a:ext cx="3918351" cy="1925485"/>
              <a:chOff x="0" y="0"/>
              <a:chExt cx="1172081" cy="575963"/>
            </a:xfrm>
          </p:grpSpPr>
          <p:sp>
            <p:nvSpPr>
              <p:cNvPr id="88" name="Freeform 30">
                <a:extLst>
                  <a:ext uri="{FF2B5EF4-FFF2-40B4-BE49-F238E27FC236}">
                    <a16:creationId xmlns:a16="http://schemas.microsoft.com/office/drawing/2014/main" id="{1055420B-E020-FE52-1927-7A2BDC11EDE4}"/>
                  </a:ext>
                </a:extLst>
              </p:cNvPr>
              <p:cNvSpPr/>
              <p:nvPr/>
            </p:nvSpPr>
            <p:spPr>
              <a:xfrm>
                <a:off x="0" y="0"/>
                <a:ext cx="1172081" cy="575963"/>
              </a:xfrm>
              <a:custGeom>
                <a:avLst/>
                <a:gdLst/>
                <a:ahLst/>
                <a:cxnLst/>
                <a:rect l="l" t="t" r="r" b="b"/>
                <a:pathLst>
                  <a:path w="1172081" h="575963">
                    <a:moveTo>
                      <a:pt x="134355" y="0"/>
                    </a:moveTo>
                    <a:lnTo>
                      <a:pt x="1037726" y="0"/>
                    </a:lnTo>
                    <a:cubicBezTo>
                      <a:pt x="1073359" y="0"/>
                      <a:pt x="1107532" y="14155"/>
                      <a:pt x="1132729" y="39352"/>
                    </a:cubicBezTo>
                    <a:cubicBezTo>
                      <a:pt x="1157925" y="64548"/>
                      <a:pt x="1172081" y="98722"/>
                      <a:pt x="1172081" y="134355"/>
                    </a:cubicBezTo>
                    <a:lnTo>
                      <a:pt x="1172081" y="441607"/>
                    </a:lnTo>
                    <a:cubicBezTo>
                      <a:pt x="1172081" y="477241"/>
                      <a:pt x="1157925" y="511414"/>
                      <a:pt x="1132729" y="536611"/>
                    </a:cubicBezTo>
                    <a:cubicBezTo>
                      <a:pt x="1107532" y="561807"/>
                      <a:pt x="1073359" y="575963"/>
                      <a:pt x="1037726" y="575963"/>
                    </a:cubicBezTo>
                    <a:lnTo>
                      <a:pt x="134355" y="575963"/>
                    </a:lnTo>
                    <a:cubicBezTo>
                      <a:pt x="98722" y="575963"/>
                      <a:pt x="64548" y="561807"/>
                      <a:pt x="39352" y="536611"/>
                    </a:cubicBezTo>
                    <a:cubicBezTo>
                      <a:pt x="14155" y="511414"/>
                      <a:pt x="0" y="477241"/>
                      <a:pt x="0" y="441607"/>
                    </a:cubicBezTo>
                    <a:lnTo>
                      <a:pt x="0" y="134355"/>
                    </a:lnTo>
                    <a:cubicBezTo>
                      <a:pt x="0" y="98722"/>
                      <a:pt x="14155" y="64548"/>
                      <a:pt x="39352" y="39352"/>
                    </a:cubicBezTo>
                    <a:cubicBezTo>
                      <a:pt x="64548" y="14155"/>
                      <a:pt x="98722" y="0"/>
                      <a:pt x="134355" y="0"/>
                    </a:cubicBezTo>
                    <a:close/>
                  </a:path>
                </a:pathLst>
              </a:custGeom>
              <a:solidFill>
                <a:srgbClr val="FF8FAB"/>
              </a:solidFill>
              <a:ln w="47625" cap="rnd">
                <a:solidFill>
                  <a:srgbClr val="FB6F92"/>
                </a:solidFill>
                <a:prstDash val="solid"/>
                <a:round/>
              </a:ln>
            </p:spPr>
          </p:sp>
          <p:sp>
            <p:nvSpPr>
              <p:cNvPr id="89" name="TextBox 31">
                <a:extLst>
                  <a:ext uri="{FF2B5EF4-FFF2-40B4-BE49-F238E27FC236}">
                    <a16:creationId xmlns:a16="http://schemas.microsoft.com/office/drawing/2014/main" id="{B8BF1736-3B3C-B95F-B451-BF12401DF49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72081" cy="604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Pecinta negeri tanggal 14 Februari ini saatnya kita tunjukin cinta kita lewat nyoblos Ganjar Pranowo</a:t>
                </a:r>
              </a:p>
            </p:txBody>
          </p:sp>
        </p:grpSp>
        <p:grpSp>
          <p:nvGrpSpPr>
            <p:cNvPr id="79" name="Group 32">
              <a:extLst>
                <a:ext uri="{FF2B5EF4-FFF2-40B4-BE49-F238E27FC236}">
                  <a16:creationId xmlns:a16="http://schemas.microsoft.com/office/drawing/2014/main" id="{932D7A31-F34C-03C3-6E19-490B2054D4C6}"/>
                </a:ext>
              </a:extLst>
            </p:cNvPr>
            <p:cNvGrpSpPr/>
            <p:nvPr/>
          </p:nvGrpSpPr>
          <p:grpSpPr>
            <a:xfrm>
              <a:off x="0" y="2151776"/>
              <a:ext cx="3959290" cy="1925485"/>
              <a:chOff x="0" y="0"/>
              <a:chExt cx="1184327" cy="575963"/>
            </a:xfrm>
          </p:grpSpPr>
          <p:sp>
            <p:nvSpPr>
              <p:cNvPr id="86" name="Freeform 33">
                <a:extLst>
                  <a:ext uri="{FF2B5EF4-FFF2-40B4-BE49-F238E27FC236}">
                    <a16:creationId xmlns:a16="http://schemas.microsoft.com/office/drawing/2014/main" id="{865D79C5-EA6B-C885-BF2E-DCE5C52E53C7}"/>
                  </a:ext>
                </a:extLst>
              </p:cNvPr>
              <p:cNvSpPr/>
              <p:nvPr/>
            </p:nvSpPr>
            <p:spPr>
              <a:xfrm>
                <a:off x="0" y="0"/>
                <a:ext cx="1184327" cy="575963"/>
              </a:xfrm>
              <a:custGeom>
                <a:avLst/>
                <a:gdLst/>
                <a:ahLst/>
                <a:cxnLst/>
                <a:rect l="l" t="t" r="r" b="b"/>
                <a:pathLst>
                  <a:path w="1184327" h="575963">
                    <a:moveTo>
                      <a:pt x="132966" y="0"/>
                    </a:moveTo>
                    <a:lnTo>
                      <a:pt x="1051361" y="0"/>
                    </a:lnTo>
                    <a:cubicBezTo>
                      <a:pt x="1124796" y="0"/>
                      <a:pt x="1184327" y="59531"/>
                      <a:pt x="1184327" y="132966"/>
                    </a:cubicBezTo>
                    <a:lnTo>
                      <a:pt x="1184327" y="442997"/>
                    </a:lnTo>
                    <a:cubicBezTo>
                      <a:pt x="1184327" y="516432"/>
                      <a:pt x="1124796" y="575963"/>
                      <a:pt x="1051361" y="575963"/>
                    </a:cubicBezTo>
                    <a:lnTo>
                      <a:pt x="132966" y="575963"/>
                    </a:lnTo>
                    <a:cubicBezTo>
                      <a:pt x="59531" y="575963"/>
                      <a:pt x="0" y="516432"/>
                      <a:pt x="0" y="442997"/>
                    </a:cubicBezTo>
                    <a:lnTo>
                      <a:pt x="0" y="132966"/>
                    </a:lnTo>
                    <a:cubicBezTo>
                      <a:pt x="0" y="59531"/>
                      <a:pt x="59531" y="0"/>
                      <a:pt x="132966" y="0"/>
                    </a:cubicBezTo>
                    <a:close/>
                  </a:path>
                </a:pathLst>
              </a:custGeom>
              <a:solidFill>
                <a:srgbClr val="FF8FAB"/>
              </a:solidFill>
              <a:ln w="47625" cap="rnd">
                <a:solidFill>
                  <a:srgbClr val="FB6F92"/>
                </a:solidFill>
                <a:prstDash val="solid"/>
                <a:round/>
              </a:ln>
            </p:spPr>
          </p:sp>
          <p:sp>
            <p:nvSpPr>
              <p:cNvPr id="87" name="TextBox 34">
                <a:extLst>
                  <a:ext uri="{FF2B5EF4-FFF2-40B4-BE49-F238E27FC236}">
                    <a16:creationId xmlns:a16="http://schemas.microsoft.com/office/drawing/2014/main" id="{575A8A5C-A317-0DED-C314-7AEAB5716B7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84327" cy="604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Pecinta negeri tanggal 14 Februari ini saatnya kita tunjukin cinta kita lewat nyoblos Ganjar Pranowo</a:t>
                </a:r>
              </a:p>
            </p:txBody>
          </p:sp>
        </p:grpSp>
        <p:sp>
          <p:nvSpPr>
            <p:cNvPr id="80" name="AutoShape 35">
              <a:extLst>
                <a:ext uri="{FF2B5EF4-FFF2-40B4-BE49-F238E27FC236}">
                  <a16:creationId xmlns:a16="http://schemas.microsoft.com/office/drawing/2014/main" id="{CA9F3B4B-807F-0BF4-14CB-01F3BC308D7D}"/>
                </a:ext>
              </a:extLst>
            </p:cNvPr>
            <p:cNvSpPr/>
            <p:nvPr/>
          </p:nvSpPr>
          <p:spPr>
            <a:xfrm flipH="1">
              <a:off x="3959290" y="1925485"/>
              <a:ext cx="2521093" cy="1189033"/>
            </a:xfrm>
            <a:prstGeom prst="line">
              <a:avLst/>
            </a:prstGeom>
            <a:ln w="50800" cap="flat">
              <a:solidFill>
                <a:srgbClr val="000000">
                  <a:alpha val="8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1" name="AutoShape 36">
              <a:extLst>
                <a:ext uri="{FF2B5EF4-FFF2-40B4-BE49-F238E27FC236}">
                  <a16:creationId xmlns:a16="http://schemas.microsoft.com/office/drawing/2014/main" id="{87EF8021-36D6-7692-C20F-328706074178}"/>
                </a:ext>
              </a:extLst>
            </p:cNvPr>
            <p:cNvSpPr/>
            <p:nvPr/>
          </p:nvSpPr>
          <p:spPr>
            <a:xfrm flipH="1" flipV="1">
              <a:off x="3959290" y="3114519"/>
              <a:ext cx="2460133" cy="127840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2" name="Group 37">
              <a:extLst>
                <a:ext uri="{FF2B5EF4-FFF2-40B4-BE49-F238E27FC236}">
                  <a16:creationId xmlns:a16="http://schemas.microsoft.com/office/drawing/2014/main" id="{F363A137-A8A1-38D9-A16A-59A816DB6B62}"/>
                </a:ext>
              </a:extLst>
            </p:cNvPr>
            <p:cNvGrpSpPr/>
            <p:nvPr/>
          </p:nvGrpSpPr>
          <p:grpSpPr>
            <a:xfrm>
              <a:off x="4521208" y="4392921"/>
              <a:ext cx="3796431" cy="1925485"/>
              <a:chOff x="0" y="0"/>
              <a:chExt cx="1135611" cy="575963"/>
            </a:xfrm>
          </p:grpSpPr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89D75BE8-204A-259C-B09C-544AE35ED0C5}"/>
                  </a:ext>
                </a:extLst>
              </p:cNvPr>
              <p:cNvSpPr/>
              <p:nvPr/>
            </p:nvSpPr>
            <p:spPr>
              <a:xfrm>
                <a:off x="0" y="0"/>
                <a:ext cx="1135611" cy="575963"/>
              </a:xfrm>
              <a:custGeom>
                <a:avLst/>
                <a:gdLst/>
                <a:ahLst/>
                <a:cxnLst/>
                <a:rect l="l" t="t" r="r" b="b"/>
                <a:pathLst>
                  <a:path w="1135611" h="575963">
                    <a:moveTo>
                      <a:pt x="138670" y="0"/>
                    </a:moveTo>
                    <a:lnTo>
                      <a:pt x="996941" y="0"/>
                    </a:lnTo>
                    <a:cubicBezTo>
                      <a:pt x="1033719" y="0"/>
                      <a:pt x="1068990" y="14610"/>
                      <a:pt x="1094996" y="40615"/>
                    </a:cubicBezTo>
                    <a:cubicBezTo>
                      <a:pt x="1121001" y="66621"/>
                      <a:pt x="1135611" y="101892"/>
                      <a:pt x="1135611" y="138670"/>
                    </a:cubicBezTo>
                    <a:lnTo>
                      <a:pt x="1135611" y="437293"/>
                    </a:lnTo>
                    <a:cubicBezTo>
                      <a:pt x="1135611" y="474070"/>
                      <a:pt x="1121001" y="509342"/>
                      <a:pt x="1094996" y="535347"/>
                    </a:cubicBezTo>
                    <a:cubicBezTo>
                      <a:pt x="1068990" y="561353"/>
                      <a:pt x="1033719" y="575963"/>
                      <a:pt x="996941" y="575963"/>
                    </a:cubicBezTo>
                    <a:lnTo>
                      <a:pt x="138670" y="575963"/>
                    </a:lnTo>
                    <a:cubicBezTo>
                      <a:pt x="101892" y="575963"/>
                      <a:pt x="66621" y="561353"/>
                      <a:pt x="40615" y="535347"/>
                    </a:cubicBezTo>
                    <a:cubicBezTo>
                      <a:pt x="14610" y="509342"/>
                      <a:pt x="0" y="474070"/>
                      <a:pt x="0" y="437293"/>
                    </a:cubicBezTo>
                    <a:lnTo>
                      <a:pt x="0" y="138670"/>
                    </a:lnTo>
                    <a:cubicBezTo>
                      <a:pt x="0" y="101892"/>
                      <a:pt x="14610" y="66621"/>
                      <a:pt x="40615" y="40615"/>
                    </a:cubicBezTo>
                    <a:cubicBezTo>
                      <a:pt x="66621" y="14610"/>
                      <a:pt x="101892" y="0"/>
                      <a:pt x="138670" y="0"/>
                    </a:cubicBezTo>
                    <a:close/>
                  </a:path>
                </a:pathLst>
              </a:custGeom>
              <a:solidFill>
                <a:srgbClr val="FF8FAB"/>
              </a:solidFill>
              <a:ln w="47625" cap="rnd">
                <a:solidFill>
                  <a:srgbClr val="FB6F92"/>
                </a:solidFill>
                <a:prstDash val="solid"/>
                <a:round/>
              </a:ln>
            </p:spPr>
          </p:sp>
          <p:sp>
            <p:nvSpPr>
              <p:cNvPr id="85" name="TextBox 39">
                <a:extLst>
                  <a:ext uri="{FF2B5EF4-FFF2-40B4-BE49-F238E27FC236}">
                    <a16:creationId xmlns:a16="http://schemas.microsoft.com/office/drawing/2014/main" id="{2F5A9131-50DA-9DE9-DEB2-AC8EC3E998C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35611" cy="604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Pecinta negeri tanggal 14 Februari ini saatnya kita tunjukin cinta kita lewat nyoblos Ganjar Pranowo</a:t>
                </a:r>
              </a:p>
            </p:txBody>
          </p:sp>
        </p:grpSp>
        <p:sp>
          <p:nvSpPr>
            <p:cNvPr id="83" name="AutoShape 40">
              <a:extLst>
                <a:ext uri="{FF2B5EF4-FFF2-40B4-BE49-F238E27FC236}">
                  <a16:creationId xmlns:a16="http://schemas.microsoft.com/office/drawing/2014/main" id="{506F50A2-43F1-E513-BAC7-3ECD503614E3}"/>
                </a:ext>
              </a:extLst>
            </p:cNvPr>
            <p:cNvSpPr/>
            <p:nvPr/>
          </p:nvSpPr>
          <p:spPr>
            <a:xfrm flipV="1">
              <a:off x="6419424" y="1925485"/>
              <a:ext cx="60960" cy="246743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92" name="Group 41">
            <a:extLst>
              <a:ext uri="{FF2B5EF4-FFF2-40B4-BE49-F238E27FC236}">
                <a16:creationId xmlns:a16="http://schemas.microsoft.com/office/drawing/2014/main" id="{7519CFFF-F6DB-04A8-741B-E2DF76FE059A}"/>
              </a:ext>
            </a:extLst>
          </p:cNvPr>
          <p:cNvGrpSpPr/>
          <p:nvPr/>
        </p:nvGrpSpPr>
        <p:grpSpPr>
          <a:xfrm>
            <a:off x="7128833" y="5585464"/>
            <a:ext cx="9721516" cy="4263386"/>
            <a:chOff x="0" y="0"/>
            <a:chExt cx="12962021" cy="5684514"/>
          </a:xfrm>
        </p:grpSpPr>
        <p:grpSp>
          <p:nvGrpSpPr>
            <p:cNvPr id="93" name="Group 42">
              <a:extLst>
                <a:ext uri="{FF2B5EF4-FFF2-40B4-BE49-F238E27FC236}">
                  <a16:creationId xmlns:a16="http://schemas.microsoft.com/office/drawing/2014/main" id="{2D8D7E92-2B65-02E8-0940-1943E29442E4}"/>
                </a:ext>
              </a:extLst>
            </p:cNvPr>
            <p:cNvGrpSpPr/>
            <p:nvPr/>
          </p:nvGrpSpPr>
          <p:grpSpPr>
            <a:xfrm>
              <a:off x="4296703" y="1391054"/>
              <a:ext cx="4293461" cy="4293461"/>
              <a:chOff x="0" y="0"/>
              <a:chExt cx="812800" cy="812800"/>
            </a:xfrm>
          </p:grpSpPr>
          <p:sp>
            <p:nvSpPr>
              <p:cNvPr id="106" name="Freeform 43">
                <a:extLst>
                  <a:ext uri="{FF2B5EF4-FFF2-40B4-BE49-F238E27FC236}">
                    <a16:creationId xmlns:a16="http://schemas.microsoft.com/office/drawing/2014/main" id="{B65C7223-DE62-7272-CC4B-3394486DE7F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45E">
                  <a:alpha val="49804"/>
                </a:srgbClr>
              </a:solidFill>
            </p:spPr>
          </p:sp>
          <p:sp>
            <p:nvSpPr>
              <p:cNvPr id="107" name="TextBox 44">
                <a:extLst>
                  <a:ext uri="{FF2B5EF4-FFF2-40B4-BE49-F238E27FC236}">
                    <a16:creationId xmlns:a16="http://schemas.microsoft.com/office/drawing/2014/main" id="{04FCD0F3-7C04-9DB0-935E-8A4CDB5A284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dirty="0">
                    <a:solidFill>
                      <a:srgbClr val="000000">
                        <a:alpha val="49804"/>
                      </a:srgbClr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66% </a:t>
                </a:r>
                <a:r>
                  <a:rPr lang="en-US" sz="1899" dirty="0" err="1">
                    <a:solidFill>
                      <a:srgbClr val="000000">
                        <a:alpha val="49804"/>
                      </a:srgbClr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Unik</a:t>
                </a:r>
                <a:endParaRPr lang="en-US" sz="1899" dirty="0">
                  <a:solidFill>
                    <a:srgbClr val="000000">
                      <a:alpha val="49804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endParaRPr>
              </a:p>
            </p:txBody>
          </p:sp>
        </p:grpSp>
        <p:grpSp>
          <p:nvGrpSpPr>
            <p:cNvPr id="94" name="Group 45">
              <a:extLst>
                <a:ext uri="{FF2B5EF4-FFF2-40B4-BE49-F238E27FC236}">
                  <a16:creationId xmlns:a16="http://schemas.microsoft.com/office/drawing/2014/main" id="{10088AF7-5FE6-D32F-7E3D-E0F9AF0CEC0F}"/>
                </a:ext>
              </a:extLst>
            </p:cNvPr>
            <p:cNvGrpSpPr/>
            <p:nvPr/>
          </p:nvGrpSpPr>
          <p:grpSpPr>
            <a:xfrm>
              <a:off x="8230870" y="2942568"/>
              <a:ext cx="4731151" cy="2113941"/>
              <a:chOff x="0" y="0"/>
              <a:chExt cx="1415210" cy="632335"/>
            </a:xfrm>
          </p:grpSpPr>
          <p:sp>
            <p:nvSpPr>
              <p:cNvPr id="104" name="Freeform 46">
                <a:extLst>
                  <a:ext uri="{FF2B5EF4-FFF2-40B4-BE49-F238E27FC236}">
                    <a16:creationId xmlns:a16="http://schemas.microsoft.com/office/drawing/2014/main" id="{1D633D85-EBC0-24FF-54D4-22B7F09E9421}"/>
                  </a:ext>
                </a:extLst>
              </p:cNvPr>
              <p:cNvSpPr/>
              <p:nvPr/>
            </p:nvSpPr>
            <p:spPr>
              <a:xfrm>
                <a:off x="0" y="0"/>
                <a:ext cx="1415210" cy="632335"/>
              </a:xfrm>
              <a:custGeom>
                <a:avLst/>
                <a:gdLst/>
                <a:ahLst/>
                <a:cxnLst/>
                <a:rect l="l" t="t" r="r" b="b"/>
                <a:pathLst>
                  <a:path w="1415210" h="632335">
                    <a:moveTo>
                      <a:pt x="111273" y="0"/>
                    </a:moveTo>
                    <a:lnTo>
                      <a:pt x="1303937" y="0"/>
                    </a:lnTo>
                    <a:cubicBezTo>
                      <a:pt x="1365391" y="0"/>
                      <a:pt x="1415210" y="49819"/>
                      <a:pt x="1415210" y="111273"/>
                    </a:cubicBezTo>
                    <a:lnTo>
                      <a:pt x="1415210" y="521062"/>
                    </a:lnTo>
                    <a:cubicBezTo>
                      <a:pt x="1415210" y="582516"/>
                      <a:pt x="1365391" y="632335"/>
                      <a:pt x="1303937" y="632335"/>
                    </a:cubicBezTo>
                    <a:lnTo>
                      <a:pt x="111273" y="632335"/>
                    </a:lnTo>
                    <a:cubicBezTo>
                      <a:pt x="49819" y="632335"/>
                      <a:pt x="0" y="582516"/>
                      <a:pt x="0" y="521062"/>
                    </a:cubicBezTo>
                    <a:lnTo>
                      <a:pt x="0" y="111273"/>
                    </a:lnTo>
                    <a:cubicBezTo>
                      <a:pt x="0" y="49819"/>
                      <a:pt x="49819" y="0"/>
                      <a:pt x="111273" y="0"/>
                    </a:cubicBezTo>
                    <a:close/>
                  </a:path>
                </a:pathLst>
              </a:custGeom>
              <a:solidFill>
                <a:srgbClr val="FFE45E"/>
              </a:solidFill>
              <a:ln w="47625" cap="rnd">
                <a:solidFill>
                  <a:srgbClr val="D4B842"/>
                </a:solidFill>
                <a:prstDash val="solid"/>
                <a:round/>
              </a:ln>
            </p:spPr>
          </p:sp>
          <p:sp>
            <p:nvSpPr>
              <p:cNvPr id="105" name="TextBox 47">
                <a:extLst>
                  <a:ext uri="{FF2B5EF4-FFF2-40B4-BE49-F238E27FC236}">
                    <a16:creationId xmlns:a16="http://schemas.microsoft.com/office/drawing/2014/main" id="{F1E47F90-0AAB-C583-38CC-9E359A35C03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15210" cy="660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Lebih keren Capres Ganjar Pranowo daripada Mas Bowo atau Anies Baswedan karena track record kepemimpinannya yang sukses di Jawa Tengah JN19Ab</a:t>
                </a:r>
              </a:p>
            </p:txBody>
          </p:sp>
        </p:grpSp>
        <p:grpSp>
          <p:nvGrpSpPr>
            <p:cNvPr id="95" name="Group 48">
              <a:extLst>
                <a:ext uri="{FF2B5EF4-FFF2-40B4-BE49-F238E27FC236}">
                  <a16:creationId xmlns:a16="http://schemas.microsoft.com/office/drawing/2014/main" id="{AEE33BBF-C3F0-A8BF-22B2-56FB0A696A7D}"/>
                </a:ext>
              </a:extLst>
            </p:cNvPr>
            <p:cNvGrpSpPr/>
            <p:nvPr/>
          </p:nvGrpSpPr>
          <p:grpSpPr>
            <a:xfrm>
              <a:off x="4463788" y="0"/>
              <a:ext cx="3959290" cy="2482241"/>
              <a:chOff x="0" y="0"/>
              <a:chExt cx="1184327" cy="742503"/>
            </a:xfrm>
          </p:grpSpPr>
          <p:sp>
            <p:nvSpPr>
              <p:cNvPr id="102" name="Freeform 49">
                <a:extLst>
                  <a:ext uri="{FF2B5EF4-FFF2-40B4-BE49-F238E27FC236}">
                    <a16:creationId xmlns:a16="http://schemas.microsoft.com/office/drawing/2014/main" id="{8C54C3D2-7DBF-33A7-01B7-0457D61184F3}"/>
                  </a:ext>
                </a:extLst>
              </p:cNvPr>
              <p:cNvSpPr/>
              <p:nvPr/>
            </p:nvSpPr>
            <p:spPr>
              <a:xfrm>
                <a:off x="0" y="0"/>
                <a:ext cx="1184327" cy="742503"/>
              </a:xfrm>
              <a:custGeom>
                <a:avLst/>
                <a:gdLst/>
                <a:ahLst/>
                <a:cxnLst/>
                <a:rect l="l" t="t" r="r" b="b"/>
                <a:pathLst>
                  <a:path w="1184327" h="742503">
                    <a:moveTo>
                      <a:pt x="132966" y="0"/>
                    </a:moveTo>
                    <a:lnTo>
                      <a:pt x="1051361" y="0"/>
                    </a:lnTo>
                    <a:cubicBezTo>
                      <a:pt x="1124796" y="0"/>
                      <a:pt x="1184327" y="59531"/>
                      <a:pt x="1184327" y="132966"/>
                    </a:cubicBezTo>
                    <a:lnTo>
                      <a:pt x="1184327" y="609537"/>
                    </a:lnTo>
                    <a:cubicBezTo>
                      <a:pt x="1184327" y="682972"/>
                      <a:pt x="1124796" y="742503"/>
                      <a:pt x="1051361" y="742503"/>
                    </a:cubicBezTo>
                    <a:lnTo>
                      <a:pt x="132966" y="742503"/>
                    </a:lnTo>
                    <a:cubicBezTo>
                      <a:pt x="59531" y="742503"/>
                      <a:pt x="0" y="682972"/>
                      <a:pt x="0" y="609537"/>
                    </a:cubicBezTo>
                    <a:lnTo>
                      <a:pt x="0" y="132966"/>
                    </a:lnTo>
                    <a:cubicBezTo>
                      <a:pt x="0" y="59531"/>
                      <a:pt x="59531" y="0"/>
                      <a:pt x="132966" y="0"/>
                    </a:cubicBezTo>
                    <a:close/>
                  </a:path>
                </a:pathLst>
              </a:custGeom>
              <a:solidFill>
                <a:srgbClr val="FFE45E"/>
              </a:solidFill>
              <a:ln w="47625" cap="rnd">
                <a:solidFill>
                  <a:srgbClr val="D4B842"/>
                </a:solidFill>
                <a:prstDash val="solid"/>
                <a:round/>
              </a:ln>
            </p:spPr>
          </p:sp>
          <p:sp>
            <p:nvSpPr>
              <p:cNvPr id="103" name="TextBox 50">
                <a:extLst>
                  <a:ext uri="{FF2B5EF4-FFF2-40B4-BE49-F238E27FC236}">
                    <a16:creationId xmlns:a16="http://schemas.microsoft.com/office/drawing/2014/main" id="{74BC5D1C-CC1E-6B75-CAD5-B8F8FE00A01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84327" cy="7710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Lebih keren pilih Capres Ganjar Pranowo daripada Mas Bowo dan Anies Baswedan Dia peduli banget sama peningkatan kualitas pendidikan di Indo JN19Ab</a:t>
                </a:r>
              </a:p>
            </p:txBody>
          </p:sp>
        </p:grpSp>
        <p:sp>
          <p:nvSpPr>
            <p:cNvPr id="96" name="AutoShape 51">
              <a:extLst>
                <a:ext uri="{FF2B5EF4-FFF2-40B4-BE49-F238E27FC236}">
                  <a16:creationId xmlns:a16="http://schemas.microsoft.com/office/drawing/2014/main" id="{080A37E4-4B46-CD75-3199-0AB25DB374DE}"/>
                </a:ext>
              </a:extLst>
            </p:cNvPr>
            <p:cNvSpPr/>
            <p:nvPr/>
          </p:nvSpPr>
          <p:spPr>
            <a:xfrm flipH="1" flipV="1">
              <a:off x="6443433" y="2482241"/>
              <a:ext cx="1787437" cy="1517298"/>
            </a:xfrm>
            <a:prstGeom prst="line">
              <a:avLst/>
            </a:prstGeom>
            <a:ln w="50800" cap="flat">
              <a:solidFill>
                <a:srgbClr val="000000">
                  <a:alpha val="80000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7" name="AutoShape 52">
              <a:extLst>
                <a:ext uri="{FF2B5EF4-FFF2-40B4-BE49-F238E27FC236}">
                  <a16:creationId xmlns:a16="http://schemas.microsoft.com/office/drawing/2014/main" id="{542EBFF1-481D-95CE-C261-295278EB0BB5}"/>
                </a:ext>
              </a:extLst>
            </p:cNvPr>
            <p:cNvSpPr/>
            <p:nvPr/>
          </p:nvSpPr>
          <p:spPr>
            <a:xfrm flipV="1">
              <a:off x="4731151" y="2482241"/>
              <a:ext cx="1712282" cy="151729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8" name="Group 53">
              <a:extLst>
                <a:ext uri="{FF2B5EF4-FFF2-40B4-BE49-F238E27FC236}">
                  <a16:creationId xmlns:a16="http://schemas.microsoft.com/office/drawing/2014/main" id="{3217FE6C-5ED8-2024-69FA-95086771F9A7}"/>
                </a:ext>
              </a:extLst>
            </p:cNvPr>
            <p:cNvGrpSpPr/>
            <p:nvPr/>
          </p:nvGrpSpPr>
          <p:grpSpPr>
            <a:xfrm>
              <a:off x="0" y="2942568"/>
              <a:ext cx="4731151" cy="2113941"/>
              <a:chOff x="0" y="0"/>
              <a:chExt cx="1415210" cy="632335"/>
            </a:xfrm>
          </p:grpSpPr>
          <p:sp>
            <p:nvSpPr>
              <p:cNvPr id="100" name="Freeform 54">
                <a:extLst>
                  <a:ext uri="{FF2B5EF4-FFF2-40B4-BE49-F238E27FC236}">
                    <a16:creationId xmlns:a16="http://schemas.microsoft.com/office/drawing/2014/main" id="{3285DECF-7892-7588-C227-4B8CA3A25360}"/>
                  </a:ext>
                </a:extLst>
              </p:cNvPr>
              <p:cNvSpPr/>
              <p:nvPr/>
            </p:nvSpPr>
            <p:spPr>
              <a:xfrm>
                <a:off x="0" y="0"/>
                <a:ext cx="1415210" cy="632335"/>
              </a:xfrm>
              <a:custGeom>
                <a:avLst/>
                <a:gdLst/>
                <a:ahLst/>
                <a:cxnLst/>
                <a:rect l="l" t="t" r="r" b="b"/>
                <a:pathLst>
                  <a:path w="1415210" h="632335">
                    <a:moveTo>
                      <a:pt x="111273" y="0"/>
                    </a:moveTo>
                    <a:lnTo>
                      <a:pt x="1303937" y="0"/>
                    </a:lnTo>
                    <a:cubicBezTo>
                      <a:pt x="1365391" y="0"/>
                      <a:pt x="1415210" y="49819"/>
                      <a:pt x="1415210" y="111273"/>
                    </a:cubicBezTo>
                    <a:lnTo>
                      <a:pt x="1415210" y="521062"/>
                    </a:lnTo>
                    <a:cubicBezTo>
                      <a:pt x="1415210" y="582516"/>
                      <a:pt x="1365391" y="632335"/>
                      <a:pt x="1303937" y="632335"/>
                    </a:cubicBezTo>
                    <a:lnTo>
                      <a:pt x="111273" y="632335"/>
                    </a:lnTo>
                    <a:cubicBezTo>
                      <a:pt x="49819" y="632335"/>
                      <a:pt x="0" y="582516"/>
                      <a:pt x="0" y="521062"/>
                    </a:cubicBezTo>
                    <a:lnTo>
                      <a:pt x="0" y="111273"/>
                    </a:lnTo>
                    <a:cubicBezTo>
                      <a:pt x="0" y="49819"/>
                      <a:pt x="49819" y="0"/>
                      <a:pt x="111273" y="0"/>
                    </a:cubicBezTo>
                    <a:close/>
                  </a:path>
                </a:pathLst>
              </a:custGeom>
              <a:solidFill>
                <a:srgbClr val="FFE45E"/>
              </a:solidFill>
              <a:ln w="47625" cap="rnd">
                <a:solidFill>
                  <a:srgbClr val="D4B842"/>
                </a:solidFill>
                <a:prstDash val="solid"/>
                <a:round/>
              </a:ln>
            </p:spPr>
          </p:sp>
          <p:sp>
            <p:nvSpPr>
              <p:cNvPr id="101" name="TextBox 55">
                <a:extLst>
                  <a:ext uri="{FF2B5EF4-FFF2-40B4-BE49-F238E27FC236}">
                    <a16:creationId xmlns:a16="http://schemas.microsoft.com/office/drawing/2014/main" id="{BCFF3D42-1B6C-4C70-1372-E0860C4FA96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15210" cy="660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Lebih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keren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Capres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Ganjar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Pranowo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daripada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Mas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Bowo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atau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Anies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Baswedan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karena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track record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kepemimpinannya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yang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sukses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di </a:t>
                </a:r>
                <a:r>
                  <a:rPr lang="en-US" sz="1599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Jawa</a:t>
                </a:r>
                <a:r>
                  <a:rPr lang="en-US" sz="15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Tengah JN19Ab</a:t>
                </a:r>
              </a:p>
            </p:txBody>
          </p:sp>
        </p:grpSp>
        <p:sp>
          <p:nvSpPr>
            <p:cNvPr id="99" name="AutoShape 56">
              <a:extLst>
                <a:ext uri="{FF2B5EF4-FFF2-40B4-BE49-F238E27FC236}">
                  <a16:creationId xmlns:a16="http://schemas.microsoft.com/office/drawing/2014/main" id="{C9C5468A-AB82-3E11-0DA9-A54C84FC9976}"/>
                </a:ext>
              </a:extLst>
            </p:cNvPr>
            <p:cNvSpPr/>
            <p:nvPr/>
          </p:nvSpPr>
          <p:spPr>
            <a:xfrm>
              <a:off x="4731151" y="3999539"/>
              <a:ext cx="349971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8" name="Freeform 57">
            <a:extLst>
              <a:ext uri="{FF2B5EF4-FFF2-40B4-BE49-F238E27FC236}">
                <a16:creationId xmlns:a16="http://schemas.microsoft.com/office/drawing/2014/main" id="{C7BBFCBB-54AD-F4F6-D847-5950954D5C21}"/>
              </a:ext>
            </a:extLst>
          </p:cNvPr>
          <p:cNvSpPr/>
          <p:nvPr/>
        </p:nvSpPr>
        <p:spPr>
          <a:xfrm rot="3104228">
            <a:off x="3791724" y="4697985"/>
            <a:ext cx="554490" cy="612389"/>
          </a:xfrm>
          <a:custGeom>
            <a:avLst/>
            <a:gdLst/>
            <a:ahLst/>
            <a:cxnLst/>
            <a:rect l="l" t="t" r="r" b="b"/>
            <a:pathLst>
              <a:path w="554490" h="612389">
                <a:moveTo>
                  <a:pt x="0" y="0"/>
                </a:moveTo>
                <a:lnTo>
                  <a:pt x="554490" y="0"/>
                </a:lnTo>
                <a:lnTo>
                  <a:pt x="554490" y="612389"/>
                </a:lnTo>
                <a:lnTo>
                  <a:pt x="0" y="6123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2A54BD17-336F-D920-D1E7-ACE4D1617905}"/>
              </a:ext>
            </a:extLst>
          </p:cNvPr>
          <p:cNvSpPr txBox="1"/>
          <p:nvPr/>
        </p:nvSpPr>
        <p:spPr>
          <a:xfrm>
            <a:off x="4229293" y="4416856"/>
            <a:ext cx="2194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Kampanye Natural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0B9C26C-72BC-8A7F-4A43-7F535E9B5A0D}"/>
              </a:ext>
            </a:extLst>
          </p:cNvPr>
          <p:cNvSpPr txBox="1"/>
          <p:nvPr/>
        </p:nvSpPr>
        <p:spPr>
          <a:xfrm rot="21229087">
            <a:off x="4450747" y="6090970"/>
            <a:ext cx="577402" cy="307777"/>
          </a:xfrm>
          <a:prstGeom prst="rect">
            <a:avLst/>
          </a:prstGeom>
          <a:solidFill>
            <a:srgbClr val="BFDCEC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0.93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F3F194A-18C3-B6D7-17C8-C8C1422F69D0}"/>
              </a:ext>
            </a:extLst>
          </p:cNvPr>
          <p:cNvSpPr txBox="1"/>
          <p:nvPr/>
        </p:nvSpPr>
        <p:spPr>
          <a:xfrm rot="17362147">
            <a:off x="5026912" y="6896086"/>
            <a:ext cx="582211" cy="307777"/>
          </a:xfrm>
          <a:prstGeom prst="rect">
            <a:avLst/>
          </a:prstGeom>
          <a:solidFill>
            <a:srgbClr val="BFDCEC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0.94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C7A1E6D-712A-B212-7EAB-C6DFDA8A05E1}"/>
              </a:ext>
            </a:extLst>
          </p:cNvPr>
          <p:cNvSpPr txBox="1"/>
          <p:nvPr/>
        </p:nvSpPr>
        <p:spPr>
          <a:xfrm rot="3105710">
            <a:off x="4108412" y="6982225"/>
            <a:ext cx="588623" cy="307777"/>
          </a:xfrm>
          <a:prstGeom prst="rect">
            <a:avLst/>
          </a:prstGeom>
          <a:solidFill>
            <a:srgbClr val="BFDCEC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0.96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2F3B151-EACB-6C14-62A9-F0918E62E883}"/>
              </a:ext>
            </a:extLst>
          </p:cNvPr>
          <p:cNvSpPr txBox="1"/>
          <p:nvPr/>
        </p:nvSpPr>
        <p:spPr>
          <a:xfrm>
            <a:off x="11853399" y="8434742"/>
            <a:ext cx="280846" cy="307777"/>
          </a:xfrm>
          <a:prstGeom prst="rect">
            <a:avLst/>
          </a:prstGeom>
          <a:solidFill>
            <a:srgbClr val="FFE9A0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1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271032-0757-9C8A-6F03-561B497AC781}"/>
              </a:ext>
            </a:extLst>
          </p:cNvPr>
          <p:cNvSpPr txBox="1"/>
          <p:nvPr/>
        </p:nvSpPr>
        <p:spPr>
          <a:xfrm rot="18966148">
            <a:off x="11060016" y="7812698"/>
            <a:ext cx="582211" cy="307777"/>
          </a:xfrm>
          <a:prstGeom prst="rect">
            <a:avLst/>
          </a:prstGeom>
          <a:solidFill>
            <a:srgbClr val="FFE9A0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0.98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67EB72E-EC18-8881-6114-F3026B0DFDE5}"/>
              </a:ext>
            </a:extLst>
          </p:cNvPr>
          <p:cNvSpPr txBox="1"/>
          <p:nvPr/>
        </p:nvSpPr>
        <p:spPr>
          <a:xfrm rot="2739237">
            <a:off x="12296725" y="7822160"/>
            <a:ext cx="582211" cy="307777"/>
          </a:xfrm>
          <a:prstGeom prst="rect">
            <a:avLst/>
          </a:prstGeom>
          <a:solidFill>
            <a:srgbClr val="FFE9A0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0.98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121636C-4335-2A57-A92A-F85A5A895424}"/>
              </a:ext>
            </a:extLst>
          </p:cNvPr>
          <p:cNvSpPr txBox="1"/>
          <p:nvPr/>
        </p:nvSpPr>
        <p:spPr>
          <a:xfrm rot="16200000">
            <a:off x="15802840" y="4403391"/>
            <a:ext cx="280846" cy="307777"/>
          </a:xfrm>
          <a:prstGeom prst="rect">
            <a:avLst/>
          </a:prstGeom>
          <a:solidFill>
            <a:srgbClr val="FFBEC6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1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A2FCA0D-FE44-931C-05C5-66CEC57D5CB9}"/>
              </a:ext>
            </a:extLst>
          </p:cNvPr>
          <p:cNvSpPr txBox="1"/>
          <p:nvPr/>
        </p:nvSpPr>
        <p:spPr>
          <a:xfrm rot="1706381">
            <a:off x="14842225" y="4889514"/>
            <a:ext cx="280846" cy="307777"/>
          </a:xfrm>
          <a:prstGeom prst="rect">
            <a:avLst/>
          </a:prstGeom>
          <a:solidFill>
            <a:srgbClr val="FFBEC6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1</a:t>
            </a:r>
            <a:endParaRPr lang="en-ID" sz="1400" dirty="0">
              <a:latin typeface="Canva Sans" panose="020B060402020202020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E93855-40A9-B421-BD53-1CB80ACDC837}"/>
              </a:ext>
            </a:extLst>
          </p:cNvPr>
          <p:cNvSpPr txBox="1"/>
          <p:nvPr/>
        </p:nvSpPr>
        <p:spPr>
          <a:xfrm rot="9000000">
            <a:off x="14880913" y="3949419"/>
            <a:ext cx="280846" cy="307777"/>
          </a:xfrm>
          <a:prstGeom prst="rect">
            <a:avLst/>
          </a:prstGeom>
          <a:solidFill>
            <a:srgbClr val="FFBEC6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nva Sans" panose="020B0604020202020204" charset="0"/>
              </a:rPr>
              <a:t>1</a:t>
            </a:r>
            <a:endParaRPr lang="en-ID" sz="1400" dirty="0">
              <a:latin typeface="Canva Sans" panose="020B06040202020202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490710" y="2380960"/>
            <a:ext cx="1667164" cy="577996"/>
            <a:chOff x="0" y="0"/>
            <a:chExt cx="691949" cy="239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1949" cy="239894"/>
            </a:xfrm>
            <a:custGeom>
              <a:avLst/>
              <a:gdLst/>
              <a:ahLst/>
              <a:cxnLst/>
              <a:rect l="l" t="t" r="r" b="b"/>
              <a:pathLst>
                <a:path w="691949" h="239894">
                  <a:moveTo>
                    <a:pt x="0" y="0"/>
                  </a:moveTo>
                  <a:lnTo>
                    <a:pt x="691949" y="0"/>
                  </a:lnTo>
                  <a:lnTo>
                    <a:pt x="691949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FAF56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91949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39537" y="6251702"/>
          <a:ext cx="17437534" cy="2841930"/>
        </p:xfrm>
        <a:graphic>
          <a:graphicData uri="http://schemas.openxmlformats.org/drawingml/2006/table">
            <a:tbl>
              <a:tblPr/>
              <a:tblGrid>
                <a:gridCol w="13001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304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Konten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Prabowo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Ganjar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88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467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Prabowo</a:t>
                      </a:r>
                      <a:r>
                        <a:rPr lang="en-US" sz="1899">
                          <a:solidFill>
                            <a:srgbClr val="2467F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tiba2 blusukan jelang pilpres itu aneh, tandanya memang </a:t>
                      </a:r>
                      <a:r>
                        <a:rPr lang="en-US" sz="1899">
                          <a:solidFill>
                            <a:srgbClr val="E63F3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beliau tidak dekat dengan rakyat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 selama ini kemana aja ? Capres lain bahkan sudah menginap ke rumah warga jauh sebelum pilpres, untuk mendengar aspirasi warganya Baik </a:t>
                      </a:r>
                      <a:r>
                        <a:rPr lang="en-US" sz="1899">
                          <a:solidFill>
                            <a:srgbClr val="2467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Ganjar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dan </a:t>
                      </a:r>
                      <a:r>
                        <a:rPr lang="en-US" sz="1899">
                          <a:solidFill>
                            <a:srgbClr val="2467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Anies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ketika menjabat gubernur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sz="1899">
                          <a:solidFill>
                            <a:srgbClr val="4D924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sering melakukan pendekatan ke warganya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dengan cara turun langsung ke warga. Nah prabowo menyapa warga disaat butuh suara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Kontra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875410" y="2351671"/>
            <a:ext cx="10537179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Modelling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</a:t>
            </a:r>
          </a:p>
        </p:txBody>
      </p:sp>
      <p:sp>
        <p:nvSpPr>
          <p:cNvPr id="11" name="Freeform 11"/>
          <p:cNvSpPr/>
          <p:nvPr/>
        </p:nvSpPr>
        <p:spPr>
          <a:xfrm rot="-2426171">
            <a:off x="11120046" y="2569626"/>
            <a:ext cx="370291" cy="572984"/>
          </a:xfrm>
          <a:custGeom>
            <a:avLst/>
            <a:gdLst/>
            <a:ahLst/>
            <a:cxnLst/>
            <a:rect l="l" t="t" r="r" b="b"/>
            <a:pathLst>
              <a:path w="370291" h="572984">
                <a:moveTo>
                  <a:pt x="0" y="0"/>
                </a:moveTo>
                <a:lnTo>
                  <a:pt x="370291" y="0"/>
                </a:lnTo>
                <a:lnTo>
                  <a:pt x="370291" y="572985"/>
                </a:lnTo>
                <a:lnTo>
                  <a:pt x="0" y="572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688458" y="3089794"/>
            <a:ext cx="1319577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Mencerminkan sikap/opini politik pengguna media sosial terhadap calon presiden</a:t>
            </a:r>
          </a:p>
        </p:txBody>
      </p:sp>
      <p:sp>
        <p:nvSpPr>
          <p:cNvPr id="13" name="Freeform 13"/>
          <p:cNvSpPr/>
          <p:nvPr/>
        </p:nvSpPr>
        <p:spPr>
          <a:xfrm>
            <a:off x="5326380" y="3766552"/>
            <a:ext cx="1802228" cy="1640597"/>
          </a:xfrm>
          <a:custGeom>
            <a:avLst/>
            <a:gdLst/>
            <a:ahLst/>
            <a:cxnLst/>
            <a:rect l="l" t="t" r="r" b="b"/>
            <a:pathLst>
              <a:path w="1802228" h="1640597">
                <a:moveTo>
                  <a:pt x="0" y="0"/>
                </a:moveTo>
                <a:lnTo>
                  <a:pt x="1802228" y="0"/>
                </a:lnTo>
                <a:lnTo>
                  <a:pt x="1802228" y="1640597"/>
                </a:lnTo>
                <a:lnTo>
                  <a:pt x="0" y="16405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2901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87246" y="5375358"/>
            <a:ext cx="1480497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Pro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157874" y="3766552"/>
            <a:ext cx="1779849" cy="1640597"/>
          </a:xfrm>
          <a:custGeom>
            <a:avLst/>
            <a:gdLst/>
            <a:ahLst/>
            <a:cxnLst/>
            <a:rect l="l" t="t" r="r" b="b"/>
            <a:pathLst>
              <a:path w="1779849" h="1640597">
                <a:moveTo>
                  <a:pt x="0" y="0"/>
                </a:moveTo>
                <a:lnTo>
                  <a:pt x="1779849" y="0"/>
                </a:lnTo>
                <a:lnTo>
                  <a:pt x="1779849" y="1640597"/>
                </a:lnTo>
                <a:lnTo>
                  <a:pt x="0" y="16405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188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307550" y="5375358"/>
            <a:ext cx="1480497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Kontra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254076" y="3726092"/>
            <a:ext cx="1779849" cy="2297010"/>
            <a:chOff x="0" y="0"/>
            <a:chExt cx="2373132" cy="3062680"/>
          </a:xfrm>
        </p:grpSpPr>
        <p:sp>
          <p:nvSpPr>
            <p:cNvPr id="18" name="Freeform 18"/>
            <p:cNvSpPr/>
            <p:nvPr/>
          </p:nvSpPr>
          <p:spPr>
            <a:xfrm rot="1292507">
              <a:off x="659118" y="1493125"/>
              <a:ext cx="1052873" cy="666054"/>
            </a:xfrm>
            <a:custGeom>
              <a:avLst/>
              <a:gdLst/>
              <a:ahLst/>
              <a:cxnLst/>
              <a:rect l="l" t="t" r="r" b="b"/>
              <a:pathLst>
                <a:path w="1052873" h="666054">
                  <a:moveTo>
                    <a:pt x="0" y="0"/>
                  </a:moveTo>
                  <a:lnTo>
                    <a:pt x="1052873" y="0"/>
                  </a:lnTo>
                  <a:lnTo>
                    <a:pt x="1052873" y="666055"/>
                  </a:lnTo>
                  <a:lnTo>
                    <a:pt x="0" y="666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489295" t="-306475" r="-57595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373132" cy="1618671"/>
            </a:xfrm>
            <a:custGeom>
              <a:avLst/>
              <a:gdLst/>
              <a:ahLst/>
              <a:cxnLst/>
              <a:rect l="l" t="t" r="r" b="b"/>
              <a:pathLst>
                <a:path w="2373132" h="1618671">
                  <a:moveTo>
                    <a:pt x="0" y="0"/>
                  </a:moveTo>
                  <a:lnTo>
                    <a:pt x="2373132" y="0"/>
                  </a:lnTo>
                  <a:lnTo>
                    <a:pt x="2373132" y="1618671"/>
                  </a:lnTo>
                  <a:lnTo>
                    <a:pt x="0" y="1618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131889" b="-35139"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449060" y="261938"/>
              <a:ext cx="1600716" cy="1088567"/>
              <a:chOff x="0" y="0"/>
              <a:chExt cx="316191" cy="215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16191" cy="215026"/>
              </a:xfrm>
              <a:custGeom>
                <a:avLst/>
                <a:gdLst/>
                <a:ahLst/>
                <a:cxnLst/>
                <a:rect l="l" t="t" r="r" b="b"/>
                <a:pathLst>
                  <a:path w="316191" h="215026">
                    <a:moveTo>
                      <a:pt x="0" y="0"/>
                    </a:moveTo>
                    <a:lnTo>
                      <a:pt x="316191" y="0"/>
                    </a:lnTo>
                    <a:lnTo>
                      <a:pt x="316191" y="215026"/>
                    </a:lnTo>
                    <a:lnTo>
                      <a:pt x="0" y="215026"/>
                    </a:lnTo>
                    <a:close/>
                  </a:path>
                </a:pathLst>
              </a:custGeom>
              <a:solidFill>
                <a:srgbClr val="49454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16191" cy="253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6618" y="588791"/>
              <a:ext cx="1265599" cy="434861"/>
              <a:chOff x="0" y="0"/>
              <a:chExt cx="249995" cy="8589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49995" cy="85898"/>
              </a:xfrm>
              <a:custGeom>
                <a:avLst/>
                <a:gdLst/>
                <a:ahLst/>
                <a:cxnLst/>
                <a:rect l="l" t="t" r="r" b="b"/>
                <a:pathLst>
                  <a:path w="249995" h="85898">
                    <a:moveTo>
                      <a:pt x="42949" y="0"/>
                    </a:moveTo>
                    <a:lnTo>
                      <a:pt x="207046" y="0"/>
                    </a:lnTo>
                    <a:cubicBezTo>
                      <a:pt x="218437" y="0"/>
                      <a:pt x="229361" y="4525"/>
                      <a:pt x="237415" y="12580"/>
                    </a:cubicBezTo>
                    <a:cubicBezTo>
                      <a:pt x="245470" y="20634"/>
                      <a:pt x="249995" y="31558"/>
                      <a:pt x="249995" y="42949"/>
                    </a:cubicBezTo>
                    <a:lnTo>
                      <a:pt x="249995" y="42949"/>
                    </a:lnTo>
                    <a:cubicBezTo>
                      <a:pt x="249995" y="54340"/>
                      <a:pt x="245470" y="65264"/>
                      <a:pt x="237415" y="73319"/>
                    </a:cubicBezTo>
                    <a:cubicBezTo>
                      <a:pt x="229361" y="81373"/>
                      <a:pt x="218437" y="85898"/>
                      <a:pt x="207046" y="85898"/>
                    </a:cubicBezTo>
                    <a:lnTo>
                      <a:pt x="42949" y="85898"/>
                    </a:lnTo>
                    <a:cubicBezTo>
                      <a:pt x="31558" y="85898"/>
                      <a:pt x="20634" y="81373"/>
                      <a:pt x="12580" y="73319"/>
                    </a:cubicBezTo>
                    <a:cubicBezTo>
                      <a:pt x="4525" y="65264"/>
                      <a:pt x="0" y="54340"/>
                      <a:pt x="0" y="42949"/>
                    </a:cubicBezTo>
                    <a:lnTo>
                      <a:pt x="0" y="42949"/>
                    </a:lnTo>
                    <a:cubicBezTo>
                      <a:pt x="0" y="31558"/>
                      <a:pt x="4525" y="20634"/>
                      <a:pt x="12580" y="12580"/>
                    </a:cubicBezTo>
                    <a:cubicBezTo>
                      <a:pt x="20634" y="4525"/>
                      <a:pt x="31558" y="0"/>
                      <a:pt x="4294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49995" cy="1239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99568" y="2275192"/>
              <a:ext cx="1973996" cy="787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85"/>
                </a:lnSpc>
              </a:pPr>
              <a:r>
                <a:rPr lang="en-US" sz="3598" spc="-17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Netral</a:t>
              </a:r>
            </a:p>
          </p:txBody>
        </p:sp>
      </p:grpSp>
      <p:sp>
        <p:nvSpPr>
          <p:cNvPr id="27" name="Freeform 27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247236" y="1908184"/>
            <a:ext cx="179352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Metodologi: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805631" y="7648575"/>
            <a:ext cx="1213918" cy="1105049"/>
          </a:xfrm>
          <a:custGeom>
            <a:avLst/>
            <a:gdLst/>
            <a:ahLst/>
            <a:cxnLst/>
            <a:rect l="l" t="t" r="r" b="b"/>
            <a:pathLst>
              <a:path w="1213918" h="1105049">
                <a:moveTo>
                  <a:pt x="0" y="0"/>
                </a:moveTo>
                <a:lnTo>
                  <a:pt x="1213918" y="0"/>
                </a:lnTo>
                <a:lnTo>
                  <a:pt x="1213918" y="1105049"/>
                </a:lnTo>
                <a:lnTo>
                  <a:pt x="0" y="1105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29010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236523" y="7651877"/>
            <a:ext cx="1198844" cy="1105049"/>
          </a:xfrm>
          <a:custGeom>
            <a:avLst/>
            <a:gdLst/>
            <a:ahLst/>
            <a:cxnLst/>
            <a:rect l="l" t="t" r="r" b="b"/>
            <a:pathLst>
              <a:path w="1198844" h="1105049">
                <a:moveTo>
                  <a:pt x="0" y="0"/>
                </a:moveTo>
                <a:lnTo>
                  <a:pt x="1198844" y="0"/>
                </a:lnTo>
                <a:lnTo>
                  <a:pt x="1198844" y="1105049"/>
                </a:lnTo>
                <a:lnTo>
                  <a:pt x="0" y="1105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1889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652341" y="7648575"/>
            <a:ext cx="1213918" cy="1105049"/>
          </a:xfrm>
          <a:custGeom>
            <a:avLst/>
            <a:gdLst/>
            <a:ahLst/>
            <a:cxnLst/>
            <a:rect l="l" t="t" r="r" b="b"/>
            <a:pathLst>
              <a:path w="1213918" h="1105049">
                <a:moveTo>
                  <a:pt x="0" y="0"/>
                </a:moveTo>
                <a:lnTo>
                  <a:pt x="1213918" y="0"/>
                </a:lnTo>
                <a:lnTo>
                  <a:pt x="1213918" y="1105049"/>
                </a:lnTo>
                <a:lnTo>
                  <a:pt x="0" y="1105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29010"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8465531" y="7463532"/>
            <a:ext cx="3905539" cy="376690"/>
            <a:chOff x="0" y="0"/>
            <a:chExt cx="3140183" cy="3028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40183" cy="302871"/>
            </a:xfrm>
            <a:custGeom>
              <a:avLst/>
              <a:gdLst/>
              <a:ahLst/>
              <a:cxnLst/>
              <a:rect l="l" t="t" r="r" b="b"/>
              <a:pathLst>
                <a:path w="3140183" h="302871">
                  <a:moveTo>
                    <a:pt x="0" y="0"/>
                  </a:moveTo>
                  <a:lnTo>
                    <a:pt x="3140183" y="0"/>
                  </a:lnTo>
                  <a:lnTo>
                    <a:pt x="3140183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D6312D">
                <a:alpha val="28627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140183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60831" y="8141712"/>
            <a:ext cx="3905539" cy="376690"/>
            <a:chOff x="0" y="0"/>
            <a:chExt cx="3140183" cy="3028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40183" cy="302871"/>
            </a:xfrm>
            <a:custGeom>
              <a:avLst/>
              <a:gdLst/>
              <a:ahLst/>
              <a:cxnLst/>
              <a:rect l="l" t="t" r="r" b="b"/>
              <a:pathLst>
                <a:path w="3140183" h="302871">
                  <a:moveTo>
                    <a:pt x="0" y="0"/>
                  </a:moveTo>
                  <a:lnTo>
                    <a:pt x="3140183" y="0"/>
                  </a:lnTo>
                  <a:lnTo>
                    <a:pt x="3140183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99D594">
                <a:alpha val="28627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140183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68841" y="9207932"/>
            <a:ext cx="3797802" cy="326209"/>
            <a:chOff x="0" y="0"/>
            <a:chExt cx="5063737" cy="434946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29437" cy="385046"/>
              <a:chOff x="0" y="0"/>
              <a:chExt cx="84827" cy="7605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4827" cy="76059"/>
              </a:xfrm>
              <a:custGeom>
                <a:avLst/>
                <a:gdLst/>
                <a:ahLst/>
                <a:cxnLst/>
                <a:rect l="l" t="t" r="r" b="b"/>
                <a:pathLst>
                  <a:path w="84827" h="76059">
                    <a:moveTo>
                      <a:pt x="0" y="0"/>
                    </a:moveTo>
                    <a:lnTo>
                      <a:pt x="84827" y="0"/>
                    </a:lnTo>
                    <a:lnTo>
                      <a:pt x="84827" y="76059"/>
                    </a:lnTo>
                    <a:lnTo>
                      <a:pt x="0" y="76059"/>
                    </a:lnTo>
                    <a:close/>
                  </a:path>
                </a:pathLst>
              </a:custGeom>
              <a:solidFill>
                <a:srgbClr val="7FC8F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84827" cy="123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518337" y="-31708"/>
              <a:ext cx="1533743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Subjek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869377" y="4382"/>
              <a:ext cx="429437" cy="413702"/>
              <a:chOff x="0" y="0"/>
              <a:chExt cx="84827" cy="8171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4827" cy="81719"/>
              </a:xfrm>
              <a:custGeom>
                <a:avLst/>
                <a:gdLst/>
                <a:ahLst/>
                <a:cxnLst/>
                <a:rect l="l" t="t" r="r" b="b"/>
                <a:pathLst>
                  <a:path w="84827" h="81719">
                    <a:moveTo>
                      <a:pt x="0" y="0"/>
                    </a:moveTo>
                    <a:lnTo>
                      <a:pt x="84827" y="0"/>
                    </a:lnTo>
                    <a:lnTo>
                      <a:pt x="84827" y="81719"/>
                    </a:lnTo>
                    <a:lnTo>
                      <a:pt x="0" y="81719"/>
                    </a:lnTo>
                    <a:close/>
                  </a:path>
                </a:pathLst>
              </a:custGeom>
              <a:solidFill>
                <a:srgbClr val="ADDD8E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84827" cy="1293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2387714" y="-31708"/>
              <a:ext cx="1427505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3173799" y="4382"/>
              <a:ext cx="429437" cy="430564"/>
              <a:chOff x="0" y="0"/>
              <a:chExt cx="84827" cy="850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4827" cy="85050"/>
              </a:xfrm>
              <a:custGeom>
                <a:avLst/>
                <a:gdLst/>
                <a:ahLst/>
                <a:cxnLst/>
                <a:rect l="l" t="t" r="r" b="b"/>
                <a:pathLst>
                  <a:path w="84827" h="85050">
                    <a:moveTo>
                      <a:pt x="0" y="0"/>
                    </a:moveTo>
                    <a:lnTo>
                      <a:pt x="84827" y="0"/>
                    </a:lnTo>
                    <a:lnTo>
                      <a:pt x="84827" y="85050"/>
                    </a:lnTo>
                    <a:lnTo>
                      <a:pt x="0" y="85050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84827" cy="1326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3692137" y="-39323"/>
              <a:ext cx="137160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Kontra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5688" y="7460230"/>
            <a:ext cx="1150255" cy="376690"/>
            <a:chOff x="0" y="0"/>
            <a:chExt cx="924843" cy="30287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4843" cy="302871"/>
            </a:xfrm>
            <a:custGeom>
              <a:avLst/>
              <a:gdLst/>
              <a:ahLst/>
              <a:cxnLst/>
              <a:rect l="l" t="t" r="r" b="b"/>
              <a:pathLst>
                <a:path w="924843" h="302871">
                  <a:moveTo>
                    <a:pt x="0" y="0"/>
                  </a:moveTo>
                  <a:lnTo>
                    <a:pt x="924843" y="0"/>
                  </a:lnTo>
                  <a:lnTo>
                    <a:pt x="924843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7FC8F8">
                <a:alpha val="28627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924843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07739" y="8141712"/>
            <a:ext cx="843130" cy="376690"/>
            <a:chOff x="0" y="0"/>
            <a:chExt cx="677904" cy="30287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7904" cy="302871"/>
            </a:xfrm>
            <a:custGeom>
              <a:avLst/>
              <a:gdLst/>
              <a:ahLst/>
              <a:cxnLst/>
              <a:rect l="l" t="t" r="r" b="b"/>
              <a:pathLst>
                <a:path w="677904" h="302871">
                  <a:moveTo>
                    <a:pt x="0" y="0"/>
                  </a:moveTo>
                  <a:lnTo>
                    <a:pt x="677904" y="0"/>
                  </a:lnTo>
                  <a:lnTo>
                    <a:pt x="677904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7FC8F8">
                <a:alpha val="28627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77904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23981" y="8141712"/>
            <a:ext cx="724590" cy="376690"/>
            <a:chOff x="0" y="0"/>
            <a:chExt cx="582595" cy="30287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82595" cy="302871"/>
            </a:xfrm>
            <a:custGeom>
              <a:avLst/>
              <a:gdLst/>
              <a:ahLst/>
              <a:cxnLst/>
              <a:rect l="l" t="t" r="r" b="b"/>
              <a:pathLst>
                <a:path w="582595" h="302871">
                  <a:moveTo>
                    <a:pt x="0" y="0"/>
                  </a:moveTo>
                  <a:lnTo>
                    <a:pt x="582595" y="0"/>
                  </a:lnTo>
                  <a:lnTo>
                    <a:pt x="582595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7FC8F8">
                <a:alpha val="28627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82595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21919" y="3803504"/>
            <a:ext cx="1111766" cy="577996"/>
            <a:chOff x="0" y="0"/>
            <a:chExt cx="461433" cy="239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1433" cy="239894"/>
            </a:xfrm>
            <a:custGeom>
              <a:avLst/>
              <a:gdLst/>
              <a:ahLst/>
              <a:cxnLst/>
              <a:rect l="l" t="t" r="r" b="b"/>
              <a:pathLst>
                <a:path w="461433" h="239894">
                  <a:moveTo>
                    <a:pt x="0" y="0"/>
                  </a:moveTo>
                  <a:lnTo>
                    <a:pt x="461433" y="0"/>
                  </a:lnTo>
                  <a:lnTo>
                    <a:pt x="461433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ADDD8E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1433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25990" y="3803504"/>
            <a:ext cx="1294903" cy="577996"/>
            <a:chOff x="0" y="0"/>
            <a:chExt cx="537444" cy="2398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7444" cy="239894"/>
            </a:xfrm>
            <a:custGeom>
              <a:avLst/>
              <a:gdLst/>
              <a:ahLst/>
              <a:cxnLst/>
              <a:rect l="l" t="t" r="r" b="b"/>
              <a:pathLst>
                <a:path w="537444" h="239894">
                  <a:moveTo>
                    <a:pt x="0" y="0"/>
                  </a:moveTo>
                  <a:lnTo>
                    <a:pt x="537444" y="0"/>
                  </a:lnTo>
                  <a:lnTo>
                    <a:pt x="537444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FF5757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37444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93498" y="3803504"/>
            <a:ext cx="1870466" cy="577996"/>
            <a:chOff x="0" y="0"/>
            <a:chExt cx="776328" cy="239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6328" cy="239894"/>
            </a:xfrm>
            <a:custGeom>
              <a:avLst/>
              <a:gdLst/>
              <a:ahLst/>
              <a:cxnLst/>
              <a:rect l="l" t="t" r="r" b="b"/>
              <a:pathLst>
                <a:path w="776328" h="239894">
                  <a:moveTo>
                    <a:pt x="0" y="0"/>
                  </a:moveTo>
                  <a:lnTo>
                    <a:pt x="776328" y="0"/>
                  </a:lnTo>
                  <a:lnTo>
                    <a:pt x="776328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7FC8F8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76328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875410" y="1977391"/>
            <a:ext cx="10537179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Why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?</a:t>
            </a:r>
          </a:p>
        </p:txBody>
      </p:sp>
      <p:sp>
        <p:nvSpPr>
          <p:cNvPr id="16" name="Freeform 16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77706" y="5886330"/>
            <a:ext cx="7658781" cy="1614062"/>
            <a:chOff x="0" y="0"/>
            <a:chExt cx="10211707" cy="21520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11707" cy="2152083"/>
            </a:xfrm>
            <a:custGeom>
              <a:avLst/>
              <a:gdLst/>
              <a:ahLst/>
              <a:cxnLst/>
              <a:rect l="l" t="t" r="r" b="b"/>
              <a:pathLst>
                <a:path w="10211707" h="2152083">
                  <a:moveTo>
                    <a:pt x="0" y="0"/>
                  </a:moveTo>
                  <a:lnTo>
                    <a:pt x="10211707" y="0"/>
                  </a:lnTo>
                  <a:lnTo>
                    <a:pt x="10211707" y="2152083"/>
                  </a:lnTo>
                  <a:lnTo>
                    <a:pt x="0" y="215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693" r="-369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745870"/>
              <a:ext cx="10211707" cy="603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10"/>
                </a:lnSpc>
                <a:spcBef>
                  <a:spcPct val="0"/>
                </a:spcBef>
              </a:pPr>
              <a:r>
                <a:rPr lang="en-US" sz="2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Gua sedih banget lihat survei ganjar rendah.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flipV="1">
            <a:off x="9448623" y="5631787"/>
            <a:ext cx="2176501" cy="614861"/>
          </a:xfrm>
          <a:custGeom>
            <a:avLst/>
            <a:gdLst/>
            <a:ahLst/>
            <a:cxnLst/>
            <a:rect l="l" t="t" r="r" b="b"/>
            <a:pathLst>
              <a:path w="2176501" h="614861">
                <a:moveTo>
                  <a:pt x="0" y="614862"/>
                </a:moveTo>
                <a:lnTo>
                  <a:pt x="2176501" y="614862"/>
                </a:lnTo>
                <a:lnTo>
                  <a:pt x="2176501" y="0"/>
                </a:lnTo>
                <a:lnTo>
                  <a:pt x="0" y="0"/>
                </a:lnTo>
                <a:lnTo>
                  <a:pt x="0" y="61486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621388" y="7059858"/>
            <a:ext cx="11032090" cy="63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3767" spc="-18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Sentiment   </a:t>
            </a:r>
            <a:r>
              <a:rPr lang="en-US" sz="3767" spc="-18">
                <a:solidFill>
                  <a:srgbClr val="B11116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Negatif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04022" y="7075964"/>
            <a:ext cx="2176501" cy="614861"/>
          </a:xfrm>
          <a:custGeom>
            <a:avLst/>
            <a:gdLst/>
            <a:ahLst/>
            <a:cxnLst/>
            <a:rect l="l" t="t" r="r" b="b"/>
            <a:pathLst>
              <a:path w="2176501" h="614861">
                <a:moveTo>
                  <a:pt x="0" y="0"/>
                </a:moveTo>
                <a:lnTo>
                  <a:pt x="2176501" y="0"/>
                </a:lnTo>
                <a:lnTo>
                  <a:pt x="2176501" y="614861"/>
                </a:lnTo>
                <a:lnTo>
                  <a:pt x="0" y="614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772968" y="5608214"/>
            <a:ext cx="11032090" cy="63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3767" spc="-18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   </a:t>
            </a:r>
            <a:r>
              <a:rPr lang="en-US" sz="3767" spc="-18">
                <a:solidFill>
                  <a:srgbClr val="2467F1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Pro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633629" y="3803504"/>
            <a:ext cx="1966580" cy="577996"/>
            <a:chOff x="0" y="0"/>
            <a:chExt cx="816220" cy="2398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6220" cy="239894"/>
            </a:xfrm>
            <a:custGeom>
              <a:avLst/>
              <a:gdLst/>
              <a:ahLst/>
              <a:cxnLst/>
              <a:rect l="l" t="t" r="r" b="b"/>
              <a:pathLst>
                <a:path w="816220" h="239894">
                  <a:moveTo>
                    <a:pt x="0" y="0"/>
                  </a:moveTo>
                  <a:lnTo>
                    <a:pt x="816220" y="0"/>
                  </a:lnTo>
                  <a:lnTo>
                    <a:pt x="816220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FF9AE9">
                <a:alpha val="49804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6220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94560" y="2847980"/>
            <a:ext cx="13898880" cy="155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Analisis sentimen</a:t>
            </a:r>
            <a:r>
              <a:rPr lang="en-US" sz="279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umum digunakan </a:t>
            </a:r>
            <a:r>
              <a:rPr lang="en-US" sz="279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untuk analisis data tekstual terkadang 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salah menggambarkan opini politik</a:t>
            </a:r>
            <a:r>
              <a:rPr lang="en-US" sz="279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, karena bahasa yang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745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positif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/</a:t>
            </a:r>
            <a:r>
              <a:rPr lang="en-US" sz="2799">
                <a:solidFill>
                  <a:srgbClr val="B11116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negatif</a:t>
            </a:r>
            <a:r>
              <a:rPr lang="en-US" sz="279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tidak selalu sejalan</a:t>
            </a:r>
            <a:r>
              <a:rPr lang="en-US" sz="279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dengan </a:t>
            </a:r>
            <a:r>
              <a:rPr lang="en-US" sz="2799">
                <a:solidFill>
                  <a:srgbClr val="023E8A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dukungan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/</a:t>
            </a:r>
            <a:r>
              <a:rPr lang="en-US" sz="2799">
                <a:solidFill>
                  <a:srgbClr val="B709BB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penolakan</a:t>
            </a:r>
            <a:r>
              <a:rPr lang="en-US" sz="279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.</a:t>
            </a:r>
            <a:r>
              <a:rPr lang="en-US" sz="2799">
                <a:solidFill>
                  <a:srgbClr val="B11116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*</a:t>
            </a:r>
            <a:r>
              <a:rPr lang="en-US" sz="2799">
                <a:solidFill>
                  <a:srgbClr val="B709BB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1757" y="9111932"/>
            <a:ext cx="1732448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B111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Bestvater SE, Monroe BL. Sentiment is Not Stance: Target-Aware Opinion Classification for Political Text Analysis. Political Analysis. 2023;31(2):235-256. doi:10.1017/pan.2022.10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4244020" y="7393363"/>
            <a:ext cx="3371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13569489" y="5948743"/>
            <a:ext cx="3371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81445" y="6169664"/>
          <a:ext cx="17287009" cy="3198986"/>
        </p:xfrm>
        <a:graphic>
          <a:graphicData uri="http://schemas.openxmlformats.org/drawingml/2006/table">
            <a:tbl>
              <a:tblPr/>
              <a:tblGrid>
                <a:gridCol w="15501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124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Konten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Civility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8718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Syarat jadi pendukung prabowo itu Harus 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goblok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tolol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dan 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bodoh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 no debat. Klo mo debat ya mention aja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Vulgar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021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Lu kritik Anies sekeras apa pun silakan Gak usah bawa bawa 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Islam 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sebagai 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agama radikal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AF1D23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China kafir</a:t>
                      </a:r>
                      <a:r>
                        <a:rPr lang="en-US" sz="2299">
                          <a:solidFill>
                            <a:srgbClr val="AF1D2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</a:t>
                      </a: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makin nglunjak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SARA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 rot="-2426171">
            <a:off x="11103565" y="2526284"/>
            <a:ext cx="426311" cy="659669"/>
          </a:xfrm>
          <a:custGeom>
            <a:avLst/>
            <a:gdLst/>
            <a:ahLst/>
            <a:cxnLst/>
            <a:rect l="l" t="t" r="r" b="b"/>
            <a:pathLst>
              <a:path w="426311" h="659669">
                <a:moveTo>
                  <a:pt x="0" y="0"/>
                </a:moveTo>
                <a:lnTo>
                  <a:pt x="426311" y="0"/>
                </a:lnTo>
                <a:lnTo>
                  <a:pt x="426311" y="659669"/>
                </a:lnTo>
                <a:lnTo>
                  <a:pt x="0" y="659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726033" y="7388864"/>
            <a:ext cx="1033763" cy="325684"/>
            <a:chOff x="0" y="0"/>
            <a:chExt cx="831180" cy="2618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1180" cy="261861"/>
            </a:xfrm>
            <a:custGeom>
              <a:avLst/>
              <a:gdLst/>
              <a:ahLst/>
              <a:cxnLst/>
              <a:rect l="l" t="t" r="r" b="b"/>
              <a:pathLst>
                <a:path w="831180" h="261861">
                  <a:moveTo>
                    <a:pt x="0" y="0"/>
                  </a:moveTo>
                  <a:lnTo>
                    <a:pt x="831180" y="0"/>
                  </a:lnTo>
                  <a:lnTo>
                    <a:pt x="831180" y="261861"/>
                  </a:lnTo>
                  <a:lnTo>
                    <a:pt x="0" y="261861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31180" cy="299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88831" y="7388864"/>
            <a:ext cx="700873" cy="325684"/>
            <a:chOff x="0" y="0"/>
            <a:chExt cx="790639" cy="3673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0639" cy="367397"/>
            </a:xfrm>
            <a:custGeom>
              <a:avLst/>
              <a:gdLst/>
              <a:ahLst/>
              <a:cxnLst/>
              <a:rect l="l" t="t" r="r" b="b"/>
              <a:pathLst>
                <a:path w="790639" h="367397">
                  <a:moveTo>
                    <a:pt x="0" y="0"/>
                  </a:moveTo>
                  <a:lnTo>
                    <a:pt x="790639" y="0"/>
                  </a:lnTo>
                  <a:lnTo>
                    <a:pt x="790639" y="367397"/>
                  </a:lnTo>
                  <a:lnTo>
                    <a:pt x="0" y="367397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90639" cy="405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05485" y="7388864"/>
            <a:ext cx="965921" cy="325684"/>
            <a:chOff x="0" y="0"/>
            <a:chExt cx="776632" cy="2618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6632" cy="261861"/>
            </a:xfrm>
            <a:custGeom>
              <a:avLst/>
              <a:gdLst/>
              <a:ahLst/>
              <a:cxnLst/>
              <a:rect l="l" t="t" r="r" b="b"/>
              <a:pathLst>
                <a:path w="776632" h="261861">
                  <a:moveTo>
                    <a:pt x="0" y="0"/>
                  </a:moveTo>
                  <a:lnTo>
                    <a:pt x="776632" y="0"/>
                  </a:lnTo>
                  <a:lnTo>
                    <a:pt x="776632" y="261861"/>
                  </a:lnTo>
                  <a:lnTo>
                    <a:pt x="0" y="261861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76632" cy="299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53127" y="8395156"/>
            <a:ext cx="848085" cy="305926"/>
            <a:chOff x="0" y="0"/>
            <a:chExt cx="681888" cy="245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1888" cy="245975"/>
            </a:xfrm>
            <a:custGeom>
              <a:avLst/>
              <a:gdLst/>
              <a:ahLst/>
              <a:cxnLst/>
              <a:rect l="l" t="t" r="r" b="b"/>
              <a:pathLst>
                <a:path w="681888" h="245975">
                  <a:moveTo>
                    <a:pt x="0" y="0"/>
                  </a:moveTo>
                  <a:lnTo>
                    <a:pt x="681888" y="0"/>
                  </a:lnTo>
                  <a:lnTo>
                    <a:pt x="681888" y="245975"/>
                  </a:lnTo>
                  <a:lnTo>
                    <a:pt x="0" y="245975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81888" cy="28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548379" y="2380960"/>
            <a:ext cx="1609496" cy="577996"/>
            <a:chOff x="0" y="0"/>
            <a:chExt cx="668014" cy="2398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8014" cy="239894"/>
            </a:xfrm>
            <a:custGeom>
              <a:avLst/>
              <a:gdLst/>
              <a:ahLst/>
              <a:cxnLst/>
              <a:rect l="l" t="t" r="r" b="b"/>
              <a:pathLst>
                <a:path w="668014" h="239894">
                  <a:moveTo>
                    <a:pt x="0" y="0"/>
                  </a:moveTo>
                  <a:lnTo>
                    <a:pt x="668014" y="0"/>
                  </a:lnTo>
                  <a:lnTo>
                    <a:pt x="668014" y="239894"/>
                  </a:lnTo>
                  <a:lnTo>
                    <a:pt x="0" y="239894"/>
                  </a:lnTo>
                  <a:close/>
                </a:path>
              </a:pathLst>
            </a:custGeom>
            <a:solidFill>
              <a:srgbClr val="FAF56B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68014" cy="27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4076980" y="3978435"/>
            <a:ext cx="668991" cy="640559"/>
          </a:xfrm>
          <a:custGeom>
            <a:avLst/>
            <a:gdLst/>
            <a:ahLst/>
            <a:cxnLst/>
            <a:rect l="l" t="t" r="r" b="b"/>
            <a:pathLst>
              <a:path w="668991" h="640559">
                <a:moveTo>
                  <a:pt x="0" y="0"/>
                </a:moveTo>
                <a:lnTo>
                  <a:pt x="668991" y="0"/>
                </a:lnTo>
                <a:lnTo>
                  <a:pt x="668991" y="640559"/>
                </a:lnTo>
                <a:lnTo>
                  <a:pt x="0" y="6405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03071" y="4069560"/>
            <a:ext cx="723120" cy="692388"/>
          </a:xfrm>
          <a:custGeom>
            <a:avLst/>
            <a:gdLst/>
            <a:ahLst/>
            <a:cxnLst/>
            <a:rect l="l" t="t" r="r" b="b"/>
            <a:pathLst>
              <a:path w="723120" h="692388">
                <a:moveTo>
                  <a:pt x="0" y="0"/>
                </a:moveTo>
                <a:lnTo>
                  <a:pt x="723121" y="0"/>
                </a:lnTo>
                <a:lnTo>
                  <a:pt x="723121" y="692388"/>
                </a:lnTo>
                <a:lnTo>
                  <a:pt x="0" y="6923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240823" y="3080860"/>
            <a:ext cx="1125777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Menggambarkan tingkat kesopanan sebuah konten pada sosial media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15608" y="4088138"/>
            <a:ext cx="156137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Sopan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75410" y="2351671"/>
            <a:ext cx="10537179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Modelling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47236" y="1908184"/>
            <a:ext cx="179352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5631" y="4620904"/>
            <a:ext cx="564532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Mencerminkan interaksi yang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sopan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tidak mengganggu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17764" y="4097663"/>
            <a:ext cx="156137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Vulgar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61722" y="4674716"/>
            <a:ext cx="564532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Mengandung kata-kata atau konten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kasar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atau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tidak pantas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7023" y="4029078"/>
            <a:ext cx="156137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07046" y="4561844"/>
            <a:ext cx="5645323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Mengandung konten yang bersifat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diskriminatif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terhadap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suku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agama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atau </a:t>
            </a:r>
            <a:r>
              <a:rPr lang="en-US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antargolongan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766775" y="4006417"/>
            <a:ext cx="723120" cy="692388"/>
          </a:xfrm>
          <a:custGeom>
            <a:avLst/>
            <a:gdLst/>
            <a:ahLst/>
            <a:cxnLst/>
            <a:rect l="l" t="t" r="r" b="b"/>
            <a:pathLst>
              <a:path w="723120" h="692388">
                <a:moveTo>
                  <a:pt x="0" y="0"/>
                </a:moveTo>
                <a:lnTo>
                  <a:pt x="723121" y="0"/>
                </a:lnTo>
                <a:lnTo>
                  <a:pt x="723121" y="692388"/>
                </a:lnTo>
                <a:lnTo>
                  <a:pt x="0" y="6923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1692891" y="1115325"/>
            <a:ext cx="454914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Pasal 280 </a:t>
            </a:r>
            <a:r>
              <a:rPr lang="en-US" sz="1899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ayat</a:t>
            </a:r>
            <a:r>
              <a:rPr lang="en-US" sz="18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(1) </a:t>
            </a:r>
            <a:r>
              <a:rPr lang="en-US" sz="1899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huruf</a:t>
            </a:r>
            <a:r>
              <a:rPr lang="en-US" sz="18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 UU </a:t>
            </a:r>
            <a:r>
              <a:rPr lang="en-US" sz="1899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Pemilu</a:t>
            </a:r>
            <a:endParaRPr lang="en-US" sz="1899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569580" y="1462299"/>
            <a:ext cx="5085523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Pelaksana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peserta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dan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Kampanye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Pemilu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dilarang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menghina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seseorang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agama,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suku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ras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golongan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calon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dan/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atau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Peserta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Pemilu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lain”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341386" y="8395156"/>
            <a:ext cx="2071204" cy="305926"/>
            <a:chOff x="0" y="0"/>
            <a:chExt cx="1665317" cy="2459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65317" cy="245975"/>
            </a:xfrm>
            <a:custGeom>
              <a:avLst/>
              <a:gdLst/>
              <a:ahLst/>
              <a:cxnLst/>
              <a:rect l="l" t="t" r="r" b="b"/>
              <a:pathLst>
                <a:path w="1665317" h="245975">
                  <a:moveTo>
                    <a:pt x="0" y="0"/>
                  </a:moveTo>
                  <a:lnTo>
                    <a:pt x="1665317" y="0"/>
                  </a:lnTo>
                  <a:lnTo>
                    <a:pt x="1665317" y="245975"/>
                  </a:lnTo>
                  <a:lnTo>
                    <a:pt x="0" y="245975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665317" cy="28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51436" y="8790263"/>
            <a:ext cx="1623129" cy="305926"/>
            <a:chOff x="0" y="0"/>
            <a:chExt cx="1305050" cy="24597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05050" cy="245975"/>
            </a:xfrm>
            <a:custGeom>
              <a:avLst/>
              <a:gdLst/>
              <a:ahLst/>
              <a:cxnLst/>
              <a:rect l="l" t="t" r="r" b="b"/>
              <a:pathLst>
                <a:path w="1305050" h="245975">
                  <a:moveTo>
                    <a:pt x="0" y="0"/>
                  </a:moveTo>
                  <a:lnTo>
                    <a:pt x="1305050" y="0"/>
                  </a:lnTo>
                  <a:lnTo>
                    <a:pt x="1305050" y="245975"/>
                  </a:lnTo>
                  <a:lnTo>
                    <a:pt x="0" y="245975"/>
                  </a:lnTo>
                  <a:close/>
                </a:path>
              </a:pathLst>
            </a:custGeom>
            <a:solidFill>
              <a:srgbClr val="F2594A">
                <a:alpha val="29804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305050" cy="28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85907" y="3216745"/>
            <a:ext cx="2947505" cy="1362872"/>
            <a:chOff x="0" y="0"/>
            <a:chExt cx="776298" cy="358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6298" cy="358946"/>
            </a:xfrm>
            <a:custGeom>
              <a:avLst/>
              <a:gdLst/>
              <a:ahLst/>
              <a:cxnLst/>
              <a:rect l="l" t="t" r="r" b="b"/>
              <a:pathLst>
                <a:path w="776298" h="358946">
                  <a:moveTo>
                    <a:pt x="133957" y="0"/>
                  </a:moveTo>
                  <a:lnTo>
                    <a:pt x="642341" y="0"/>
                  </a:lnTo>
                  <a:cubicBezTo>
                    <a:pt x="677868" y="0"/>
                    <a:pt x="711941" y="14113"/>
                    <a:pt x="737063" y="39235"/>
                  </a:cubicBezTo>
                  <a:cubicBezTo>
                    <a:pt x="762184" y="64357"/>
                    <a:pt x="776298" y="98429"/>
                    <a:pt x="776298" y="133957"/>
                  </a:cubicBezTo>
                  <a:lnTo>
                    <a:pt x="776298" y="224989"/>
                  </a:lnTo>
                  <a:cubicBezTo>
                    <a:pt x="776298" y="260517"/>
                    <a:pt x="762184" y="294589"/>
                    <a:pt x="737063" y="319711"/>
                  </a:cubicBezTo>
                  <a:cubicBezTo>
                    <a:pt x="711941" y="344833"/>
                    <a:pt x="677868" y="358946"/>
                    <a:pt x="642341" y="358946"/>
                  </a:cubicBezTo>
                  <a:lnTo>
                    <a:pt x="133957" y="358946"/>
                  </a:lnTo>
                  <a:cubicBezTo>
                    <a:pt x="98429" y="358946"/>
                    <a:pt x="64357" y="344833"/>
                    <a:pt x="39235" y="319711"/>
                  </a:cubicBezTo>
                  <a:cubicBezTo>
                    <a:pt x="14113" y="294589"/>
                    <a:pt x="0" y="260517"/>
                    <a:pt x="0" y="224989"/>
                  </a:cubicBezTo>
                  <a:lnTo>
                    <a:pt x="0" y="133957"/>
                  </a:lnTo>
                  <a:cubicBezTo>
                    <a:pt x="0" y="98429"/>
                    <a:pt x="14113" y="64357"/>
                    <a:pt x="39235" y="39235"/>
                  </a:cubicBezTo>
                  <a:cubicBezTo>
                    <a:pt x="64357" y="14113"/>
                    <a:pt x="98429" y="0"/>
                    <a:pt x="133957" y="0"/>
                  </a:cubicBezTo>
                  <a:close/>
                </a:path>
              </a:pathLst>
            </a:custGeom>
            <a:solidFill>
              <a:srgbClr val="F55C7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76298" cy="39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Heuristic Sampling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1843531" y="3954274"/>
            <a:ext cx="742335" cy="1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" name="Group 7"/>
          <p:cNvGrpSpPr/>
          <p:nvPr/>
        </p:nvGrpSpPr>
        <p:grpSpPr>
          <a:xfrm>
            <a:off x="6275820" y="3233150"/>
            <a:ext cx="2947505" cy="1362872"/>
            <a:chOff x="0" y="0"/>
            <a:chExt cx="776298" cy="3589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6298" cy="358946"/>
            </a:xfrm>
            <a:custGeom>
              <a:avLst/>
              <a:gdLst/>
              <a:ahLst/>
              <a:cxnLst/>
              <a:rect l="l" t="t" r="r" b="b"/>
              <a:pathLst>
                <a:path w="776298" h="358946">
                  <a:moveTo>
                    <a:pt x="133957" y="0"/>
                  </a:moveTo>
                  <a:lnTo>
                    <a:pt x="642341" y="0"/>
                  </a:lnTo>
                  <a:cubicBezTo>
                    <a:pt x="677868" y="0"/>
                    <a:pt x="711941" y="14113"/>
                    <a:pt x="737063" y="39235"/>
                  </a:cubicBezTo>
                  <a:cubicBezTo>
                    <a:pt x="762184" y="64357"/>
                    <a:pt x="776298" y="98429"/>
                    <a:pt x="776298" y="133957"/>
                  </a:cubicBezTo>
                  <a:lnTo>
                    <a:pt x="776298" y="224989"/>
                  </a:lnTo>
                  <a:cubicBezTo>
                    <a:pt x="776298" y="260517"/>
                    <a:pt x="762184" y="294589"/>
                    <a:pt x="737063" y="319711"/>
                  </a:cubicBezTo>
                  <a:cubicBezTo>
                    <a:pt x="711941" y="344833"/>
                    <a:pt x="677868" y="358946"/>
                    <a:pt x="642341" y="358946"/>
                  </a:cubicBezTo>
                  <a:lnTo>
                    <a:pt x="133957" y="358946"/>
                  </a:lnTo>
                  <a:cubicBezTo>
                    <a:pt x="98429" y="358946"/>
                    <a:pt x="64357" y="344833"/>
                    <a:pt x="39235" y="319711"/>
                  </a:cubicBezTo>
                  <a:cubicBezTo>
                    <a:pt x="14113" y="294589"/>
                    <a:pt x="0" y="260517"/>
                    <a:pt x="0" y="224989"/>
                  </a:cubicBezTo>
                  <a:lnTo>
                    <a:pt x="0" y="133957"/>
                  </a:lnTo>
                  <a:cubicBezTo>
                    <a:pt x="0" y="98429"/>
                    <a:pt x="14113" y="64357"/>
                    <a:pt x="39235" y="39235"/>
                  </a:cubicBezTo>
                  <a:cubicBezTo>
                    <a:pt x="64357" y="14113"/>
                    <a:pt x="98429" y="0"/>
                    <a:pt x="133957" y="0"/>
                  </a:cubicBezTo>
                  <a:close/>
                </a:path>
              </a:pathLst>
            </a:custGeom>
            <a:solidFill>
              <a:srgbClr val="F56C7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76298" cy="39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Anotasi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manual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±1500 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sampel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5533452" y="3950041"/>
            <a:ext cx="742335" cy="1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9946595" y="3233150"/>
            <a:ext cx="4077082" cy="1362872"/>
            <a:chOff x="0" y="0"/>
            <a:chExt cx="1073799" cy="3589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3799" cy="358946"/>
            </a:xfrm>
            <a:custGeom>
              <a:avLst/>
              <a:gdLst/>
              <a:ahLst/>
              <a:cxnLst/>
              <a:rect l="l" t="t" r="r" b="b"/>
              <a:pathLst>
                <a:path w="1073799" h="358946">
                  <a:moveTo>
                    <a:pt x="96843" y="0"/>
                  </a:moveTo>
                  <a:lnTo>
                    <a:pt x="976956" y="0"/>
                  </a:lnTo>
                  <a:cubicBezTo>
                    <a:pt x="1030441" y="0"/>
                    <a:pt x="1073799" y="43358"/>
                    <a:pt x="1073799" y="96843"/>
                  </a:cubicBezTo>
                  <a:lnTo>
                    <a:pt x="1073799" y="262103"/>
                  </a:lnTo>
                  <a:cubicBezTo>
                    <a:pt x="1073799" y="315588"/>
                    <a:pt x="1030441" y="358946"/>
                    <a:pt x="976956" y="358946"/>
                  </a:cubicBezTo>
                  <a:lnTo>
                    <a:pt x="96843" y="358946"/>
                  </a:lnTo>
                  <a:cubicBezTo>
                    <a:pt x="43358" y="358946"/>
                    <a:pt x="0" y="315588"/>
                    <a:pt x="0" y="262103"/>
                  </a:cubicBezTo>
                  <a:lnTo>
                    <a:pt x="0" y="96843"/>
                  </a:lnTo>
                  <a:cubicBezTo>
                    <a:pt x="0" y="43358"/>
                    <a:pt x="43358" y="0"/>
                    <a:pt x="96843" y="0"/>
                  </a:cubicBezTo>
                  <a:close/>
                </a:path>
              </a:pathLst>
            </a:custGeom>
            <a:solidFill>
              <a:srgbClr val="F57C7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73799" cy="39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Format 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menjadi 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Anca Coder"/>
                  <a:ea typeface="Anca Coder"/>
                  <a:cs typeface="Anca Coder"/>
                  <a:sym typeface="Anca Coder"/>
                </a:rPr>
                <a:t>x=(sentence[SEP]aspect[SEP])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9223325" y="3914586"/>
            <a:ext cx="7232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14527104" y="3249555"/>
            <a:ext cx="3086100" cy="1362872"/>
            <a:chOff x="0" y="0"/>
            <a:chExt cx="812800" cy="3589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358946"/>
            </a:xfrm>
            <a:custGeom>
              <a:avLst/>
              <a:gdLst/>
              <a:ahLst/>
              <a:cxnLst/>
              <a:rect l="l" t="t" r="r" b="b"/>
              <a:pathLst>
                <a:path w="812800" h="35894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31005"/>
                  </a:lnTo>
                  <a:cubicBezTo>
                    <a:pt x="812800" y="264937"/>
                    <a:pt x="799321" y="297479"/>
                    <a:pt x="775327" y="321473"/>
                  </a:cubicBezTo>
                  <a:cubicBezTo>
                    <a:pt x="751333" y="345466"/>
                    <a:pt x="718791" y="358946"/>
                    <a:pt x="684859" y="358946"/>
                  </a:cubicBezTo>
                  <a:lnTo>
                    <a:pt x="127941" y="358946"/>
                  </a:lnTo>
                  <a:cubicBezTo>
                    <a:pt x="94009" y="358946"/>
                    <a:pt x="61467" y="345466"/>
                    <a:pt x="37473" y="321473"/>
                  </a:cubicBezTo>
                  <a:cubicBezTo>
                    <a:pt x="13479" y="297479"/>
                    <a:pt x="0" y="264937"/>
                    <a:pt x="0" y="23100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68C7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39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Fine-tuning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&amp;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Seleksi </a:t>
              </a: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4023678" y="3914586"/>
            <a:ext cx="503426" cy="164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Freeform 19"/>
          <p:cNvSpPr/>
          <p:nvPr/>
        </p:nvSpPr>
        <p:spPr>
          <a:xfrm rot="-1836300">
            <a:off x="11698001" y="5674341"/>
            <a:ext cx="2260036" cy="638460"/>
          </a:xfrm>
          <a:custGeom>
            <a:avLst/>
            <a:gdLst/>
            <a:ahLst/>
            <a:cxnLst/>
            <a:rect l="l" t="t" r="r" b="b"/>
            <a:pathLst>
              <a:path w="2260036" h="638460">
                <a:moveTo>
                  <a:pt x="0" y="0"/>
                </a:moveTo>
                <a:lnTo>
                  <a:pt x="2260036" y="0"/>
                </a:lnTo>
                <a:lnTo>
                  <a:pt x="2260036" y="638460"/>
                </a:lnTo>
                <a:lnTo>
                  <a:pt x="0" y="638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49637" y="4828955"/>
            <a:ext cx="9662628" cy="56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3299" spc="-15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Imbalance!</a:t>
            </a:r>
          </a:p>
        </p:txBody>
      </p:sp>
      <p:sp>
        <p:nvSpPr>
          <p:cNvPr id="21" name="Freeform 21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5049" y="4092322"/>
            <a:ext cx="9555971" cy="6192715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931" y="4470905"/>
            <a:ext cx="3157816" cy="5231348"/>
          </a:xfrm>
          <a:prstGeom prst="rect">
            <a:avLst/>
          </a:prstGeom>
        </p:spPr>
      </p:pic>
      <p:sp>
        <p:nvSpPr>
          <p:cNvPr id="24" name="Freeform 24"/>
          <p:cNvSpPr/>
          <p:nvPr/>
        </p:nvSpPr>
        <p:spPr>
          <a:xfrm>
            <a:off x="13704060" y="6825513"/>
            <a:ext cx="2504487" cy="1612478"/>
          </a:xfrm>
          <a:custGeom>
            <a:avLst/>
            <a:gdLst/>
            <a:ahLst/>
            <a:cxnLst/>
            <a:rect l="l" t="t" r="r" b="b"/>
            <a:pathLst>
              <a:path w="2504487" h="1612478">
                <a:moveTo>
                  <a:pt x="0" y="0"/>
                </a:moveTo>
                <a:lnTo>
                  <a:pt x="2504487" y="0"/>
                </a:lnTo>
                <a:lnTo>
                  <a:pt x="2504487" y="1612479"/>
                </a:lnTo>
                <a:lnTo>
                  <a:pt x="0" y="1612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897785" y="8396218"/>
            <a:ext cx="429992" cy="314816"/>
          </a:xfrm>
          <a:custGeom>
            <a:avLst/>
            <a:gdLst/>
            <a:ahLst/>
            <a:cxnLst/>
            <a:rect l="l" t="t" r="r" b="b"/>
            <a:pathLst>
              <a:path w="429992" h="314816">
                <a:moveTo>
                  <a:pt x="0" y="0"/>
                </a:moveTo>
                <a:lnTo>
                  <a:pt x="429993" y="0"/>
                </a:lnTo>
                <a:lnTo>
                  <a:pt x="429993" y="314816"/>
                </a:lnTo>
                <a:lnTo>
                  <a:pt x="0" y="3148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563027" y="8396218"/>
            <a:ext cx="117209" cy="268605"/>
          </a:xfrm>
          <a:custGeom>
            <a:avLst/>
            <a:gdLst/>
            <a:ahLst/>
            <a:cxnLst/>
            <a:rect l="l" t="t" r="r" b="b"/>
            <a:pathLst>
              <a:path w="117209" h="268605">
                <a:moveTo>
                  <a:pt x="0" y="0"/>
                </a:moveTo>
                <a:lnTo>
                  <a:pt x="117210" y="0"/>
                </a:lnTo>
                <a:lnTo>
                  <a:pt x="117210" y="268605"/>
                </a:lnTo>
                <a:lnTo>
                  <a:pt x="0" y="268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6646077" y="9123998"/>
            <a:ext cx="117209" cy="268605"/>
          </a:xfrm>
          <a:custGeom>
            <a:avLst/>
            <a:gdLst/>
            <a:ahLst/>
            <a:cxnLst/>
            <a:rect l="l" t="t" r="r" b="b"/>
            <a:pathLst>
              <a:path w="117209" h="268605">
                <a:moveTo>
                  <a:pt x="0" y="0"/>
                </a:moveTo>
                <a:lnTo>
                  <a:pt x="117210" y="0"/>
                </a:lnTo>
                <a:lnTo>
                  <a:pt x="117210" y="268604"/>
                </a:lnTo>
                <a:lnTo>
                  <a:pt x="0" y="2686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967087" y="8756044"/>
            <a:ext cx="291389" cy="285785"/>
          </a:xfrm>
          <a:custGeom>
            <a:avLst/>
            <a:gdLst/>
            <a:ahLst/>
            <a:cxnLst/>
            <a:rect l="l" t="t" r="r" b="b"/>
            <a:pathLst>
              <a:path w="291389" h="285785">
                <a:moveTo>
                  <a:pt x="0" y="0"/>
                </a:moveTo>
                <a:lnTo>
                  <a:pt x="291389" y="0"/>
                </a:lnTo>
                <a:lnTo>
                  <a:pt x="291389" y="285785"/>
                </a:lnTo>
                <a:lnTo>
                  <a:pt x="0" y="2857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942235" y="9141899"/>
            <a:ext cx="341094" cy="263047"/>
          </a:xfrm>
          <a:custGeom>
            <a:avLst/>
            <a:gdLst/>
            <a:ahLst/>
            <a:cxnLst/>
            <a:rect l="l" t="t" r="r" b="b"/>
            <a:pathLst>
              <a:path w="341094" h="263047">
                <a:moveTo>
                  <a:pt x="0" y="0"/>
                </a:moveTo>
                <a:lnTo>
                  <a:pt x="341093" y="0"/>
                </a:lnTo>
                <a:lnTo>
                  <a:pt x="341093" y="263046"/>
                </a:lnTo>
                <a:lnTo>
                  <a:pt x="0" y="263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967087" y="9481211"/>
            <a:ext cx="340531" cy="302000"/>
          </a:xfrm>
          <a:custGeom>
            <a:avLst/>
            <a:gdLst/>
            <a:ahLst/>
            <a:cxnLst/>
            <a:rect l="l" t="t" r="r" b="b"/>
            <a:pathLst>
              <a:path w="340531" h="302000">
                <a:moveTo>
                  <a:pt x="0" y="0"/>
                </a:moveTo>
                <a:lnTo>
                  <a:pt x="340531" y="0"/>
                </a:lnTo>
                <a:lnTo>
                  <a:pt x="340531" y="302000"/>
                </a:lnTo>
                <a:lnTo>
                  <a:pt x="0" y="30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64822" y="2088098"/>
            <a:ext cx="10537179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Labelling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8447" y="3768114"/>
            <a:ext cx="154425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Cuitan-cuitan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07265" y="9262521"/>
            <a:ext cx="1925643" cy="2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sz="13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Civility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63148" y="5652668"/>
            <a:ext cx="4099960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Weighted Cross Entropy Loss relatif lebih sensitif terhadap data </a:t>
            </a:r>
            <a:r>
              <a:rPr lang="en-US" sz="2199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imbalance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27778" y="8367643"/>
            <a:ext cx="22352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Weight untuk kelas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27778" y="8744649"/>
            <a:ext cx="239018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Banyaknya </a:t>
            </a:r>
            <a:r>
              <a:rPr lang="en-US" sz="180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Instance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52477" y="9087928"/>
            <a:ext cx="5712327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Banyaknya </a:t>
            </a:r>
            <a:r>
              <a:rPr lang="en-US" sz="180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Instance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pada kelas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07618" y="9469333"/>
            <a:ext cx="209341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Jumlah label unik </a:t>
            </a:r>
          </a:p>
        </p:txBody>
      </p:sp>
      <p:graphicFrame>
        <p:nvGraphicFramePr>
          <p:cNvPr id="39" name="Table 39"/>
          <p:cNvGraphicFramePr>
            <a:graphicFrameLocks noGrp="1"/>
          </p:cNvGraphicFramePr>
          <p:nvPr/>
        </p:nvGraphicFramePr>
        <p:xfrm>
          <a:off x="11397409" y="503019"/>
          <a:ext cx="4437928" cy="2456898"/>
        </p:xfrm>
        <a:graphic>
          <a:graphicData uri="http://schemas.openxmlformats.org/drawingml/2006/table">
            <a:tbl>
              <a:tblPr/>
              <a:tblGrid>
                <a:gridCol w="1216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1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8966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B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6C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nca Coder"/>
                          <a:ea typeface="Anca Coder"/>
                          <a:cs typeface="Anca Coder"/>
                          <a:sym typeface="Anca Coder"/>
                        </a:rPr>
                        <a:t>Skip ganjar, full gas Prabowo[SEP]Prabowo[SEP]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966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4575B4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Netral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nca Coder"/>
                          <a:ea typeface="Anca Coder"/>
                          <a:cs typeface="Anca Coder"/>
                          <a:sym typeface="Anca Coder"/>
                        </a:rPr>
                        <a:t>Skip ganjar, full gas Prabowo[SEP]Anies[SEP]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966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B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Kontra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30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nca Coder"/>
                          <a:ea typeface="Anca Coder"/>
                          <a:cs typeface="Anca Coder"/>
                          <a:sym typeface="Anca Coder"/>
                        </a:rPr>
                        <a:t>Skip ganjar, full gas Prabowo[SEP]Ganjar[SEP]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Freeform 40"/>
          <p:cNvSpPr/>
          <p:nvPr/>
        </p:nvSpPr>
        <p:spPr>
          <a:xfrm rot="-10556031">
            <a:off x="10755582" y="2529479"/>
            <a:ext cx="455486" cy="704814"/>
          </a:xfrm>
          <a:custGeom>
            <a:avLst/>
            <a:gdLst/>
            <a:ahLst/>
            <a:cxnLst/>
            <a:rect l="l" t="t" r="r" b="b"/>
            <a:pathLst>
              <a:path w="455486" h="704814">
                <a:moveTo>
                  <a:pt x="0" y="0"/>
                </a:moveTo>
                <a:lnTo>
                  <a:pt x="455487" y="0"/>
                </a:lnTo>
                <a:lnTo>
                  <a:pt x="455487" y="704814"/>
                </a:lnTo>
                <a:lnTo>
                  <a:pt x="0" y="7048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3" name="Freeform 43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7319" t="-246963" r="-59111" b="-353463"/>
            </a:stretch>
          </a:blipFill>
        </p:spPr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377440" y="4279583"/>
            <a:ext cx="13533120" cy="154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spc="-4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Eksperimen &amp; Analisis</a:t>
            </a:r>
          </a:p>
        </p:txBody>
      </p: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7" name="Freeform 7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99819" y="3220198"/>
          <a:ext cx="11193070" cy="6153150"/>
        </p:xfrm>
        <a:graphic>
          <a:graphicData uri="http://schemas.openxmlformats.org/drawingml/2006/table">
            <a:tbl>
              <a:tblPr/>
              <a:tblGrid>
                <a:gridCol w="501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F1 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 Civility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IndoBERT-1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0,363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IndoBERT-2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0,800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RoBERTa-1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0,678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RoBERTa-2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IndoBERTtweet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0,768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0,834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 rot="-7236631">
            <a:off x="12300994" y="3784909"/>
            <a:ext cx="569872" cy="1077077"/>
          </a:xfrm>
          <a:custGeom>
            <a:avLst/>
            <a:gdLst/>
            <a:ahLst/>
            <a:cxnLst/>
            <a:rect l="l" t="t" r="r" b="b"/>
            <a:pathLst>
              <a:path w="569872" h="1077077">
                <a:moveTo>
                  <a:pt x="0" y="0"/>
                </a:moveTo>
                <a:lnTo>
                  <a:pt x="569872" y="0"/>
                </a:lnTo>
                <a:lnTo>
                  <a:pt x="569872" y="1077078"/>
                </a:lnTo>
                <a:lnTo>
                  <a:pt x="0" y="10770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357871" y="3343752"/>
            <a:ext cx="3489960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IndoBERTtweet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mendapat hasil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terbaik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baik pada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Stance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maupun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Civility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75410" y="1971942"/>
            <a:ext cx="10537179" cy="61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Hasil Modelling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57871" y="6638211"/>
            <a:ext cx="3489960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ini kami gunakan untuk melabeli sisa dari dataset yang masih belum berlabel.</a:t>
            </a:r>
          </a:p>
        </p:txBody>
      </p:sp>
      <p:sp>
        <p:nvSpPr>
          <p:cNvPr id="12" name="Freeform 12"/>
          <p:cNvSpPr/>
          <p:nvPr/>
        </p:nvSpPr>
        <p:spPr>
          <a:xfrm rot="-1524339">
            <a:off x="15028953" y="5298263"/>
            <a:ext cx="569872" cy="1077077"/>
          </a:xfrm>
          <a:custGeom>
            <a:avLst/>
            <a:gdLst/>
            <a:ahLst/>
            <a:cxnLst/>
            <a:rect l="l" t="t" r="r" b="b"/>
            <a:pathLst>
              <a:path w="569872" h="1077077">
                <a:moveTo>
                  <a:pt x="0" y="0"/>
                </a:moveTo>
                <a:lnTo>
                  <a:pt x="569872" y="0"/>
                </a:lnTo>
                <a:lnTo>
                  <a:pt x="569872" y="1077077"/>
                </a:lnTo>
                <a:lnTo>
                  <a:pt x="0" y="10770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93991" y="2658237"/>
            <a:ext cx="8294009" cy="6220507"/>
          </a:xfrm>
          <a:custGeom>
            <a:avLst/>
            <a:gdLst/>
            <a:ahLst/>
            <a:cxnLst/>
            <a:rect l="l" t="t" r="r" b="b"/>
            <a:pathLst>
              <a:path w="8294009" h="6220507">
                <a:moveTo>
                  <a:pt x="0" y="0"/>
                </a:moveTo>
                <a:lnTo>
                  <a:pt x="8294009" y="0"/>
                </a:lnTo>
                <a:lnTo>
                  <a:pt x="8294009" y="6220507"/>
                </a:lnTo>
                <a:lnTo>
                  <a:pt x="0" y="6220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25830" y="3357256"/>
            <a:ext cx="3335342" cy="693420"/>
            <a:chOff x="0" y="0"/>
            <a:chExt cx="1384319" cy="2878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4319" cy="287801"/>
            </a:xfrm>
            <a:custGeom>
              <a:avLst/>
              <a:gdLst/>
              <a:ahLst/>
              <a:cxnLst/>
              <a:rect l="l" t="t" r="r" b="b"/>
              <a:pathLst>
                <a:path w="1384319" h="287801">
                  <a:moveTo>
                    <a:pt x="0" y="0"/>
                  </a:moveTo>
                  <a:lnTo>
                    <a:pt x="1384319" y="0"/>
                  </a:lnTo>
                  <a:lnTo>
                    <a:pt x="1384319" y="287801"/>
                  </a:lnTo>
                  <a:lnTo>
                    <a:pt x="0" y="287801"/>
                  </a:lnTo>
                  <a:close/>
                </a:path>
              </a:pathLst>
            </a:custGeom>
            <a:solidFill>
              <a:srgbClr val="FAF56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84319" cy="325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8100000">
            <a:off x="409105" y="3830002"/>
            <a:ext cx="1033450" cy="920710"/>
          </a:xfrm>
          <a:custGeom>
            <a:avLst/>
            <a:gdLst/>
            <a:ahLst/>
            <a:cxnLst/>
            <a:rect l="l" t="t" r="r" b="b"/>
            <a:pathLst>
              <a:path w="1033450" h="920710">
                <a:moveTo>
                  <a:pt x="0" y="0"/>
                </a:moveTo>
                <a:lnTo>
                  <a:pt x="1033450" y="0"/>
                </a:lnTo>
                <a:lnTo>
                  <a:pt x="1033450" y="920711"/>
                </a:lnTo>
                <a:lnTo>
                  <a:pt x="0" y="920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7236631">
            <a:off x="5514771" y="7551522"/>
            <a:ext cx="569872" cy="1077077"/>
          </a:xfrm>
          <a:custGeom>
            <a:avLst/>
            <a:gdLst/>
            <a:ahLst/>
            <a:cxnLst/>
            <a:rect l="l" t="t" r="r" b="b"/>
            <a:pathLst>
              <a:path w="569872" h="1077077">
                <a:moveTo>
                  <a:pt x="0" y="0"/>
                </a:moveTo>
                <a:lnTo>
                  <a:pt x="569872" y="0"/>
                </a:lnTo>
                <a:lnTo>
                  <a:pt x="569872" y="1077077"/>
                </a:lnTo>
                <a:lnTo>
                  <a:pt x="0" y="1077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7236631">
            <a:off x="5329099" y="5631601"/>
            <a:ext cx="569872" cy="1077077"/>
          </a:xfrm>
          <a:custGeom>
            <a:avLst/>
            <a:gdLst/>
            <a:ahLst/>
            <a:cxnLst/>
            <a:rect l="l" t="t" r="r" b="b"/>
            <a:pathLst>
              <a:path w="569872" h="1077077">
                <a:moveTo>
                  <a:pt x="0" y="0"/>
                </a:moveTo>
                <a:lnTo>
                  <a:pt x="569872" y="0"/>
                </a:lnTo>
                <a:lnTo>
                  <a:pt x="569872" y="1077078"/>
                </a:lnTo>
                <a:lnTo>
                  <a:pt x="0" y="1077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984074" y="3627180"/>
            <a:ext cx="176577" cy="4561006"/>
            <a:chOff x="0" y="0"/>
            <a:chExt cx="46506" cy="1201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506" cy="1201253"/>
            </a:xfrm>
            <a:custGeom>
              <a:avLst/>
              <a:gdLst/>
              <a:ahLst/>
              <a:cxnLst/>
              <a:rect l="l" t="t" r="r" b="b"/>
              <a:pathLst>
                <a:path w="46506" h="1201253">
                  <a:moveTo>
                    <a:pt x="0" y="0"/>
                  </a:moveTo>
                  <a:lnTo>
                    <a:pt x="46506" y="0"/>
                  </a:lnTo>
                  <a:lnTo>
                    <a:pt x="46506" y="1201253"/>
                  </a:lnTo>
                  <a:lnTo>
                    <a:pt x="0" y="1201253"/>
                  </a:lnTo>
                  <a:close/>
                </a:path>
              </a:pathLst>
            </a:custGeom>
            <a:solidFill>
              <a:srgbClr val="7FC8F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6506" cy="1239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6245" y="7542391"/>
            <a:ext cx="498348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Kampanye selain yang </a:t>
            </a:r>
            <a:r>
              <a:rPr lang="en-US" sz="2400">
                <a:solidFill>
                  <a:srgbClr val="023E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100%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unik,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didominasi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oleh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kampanye dengan keunikan</a:t>
            </a:r>
            <a:r>
              <a:rPr lang="en-US" sz="2400">
                <a:solidFill>
                  <a:srgbClr val="B111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87415" y="7751941"/>
            <a:ext cx="475488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Kampanye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tidak natural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Pontesi </a:t>
            </a:r>
            <a:r>
              <a:rPr lang="en-US" sz="240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copy-paste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69383" y="5952970"/>
            <a:ext cx="348996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Kampanye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332845" y="5208459"/>
            <a:ext cx="176577" cy="2979727"/>
            <a:chOff x="0" y="0"/>
            <a:chExt cx="46506" cy="7847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506" cy="784784"/>
            </a:xfrm>
            <a:custGeom>
              <a:avLst/>
              <a:gdLst/>
              <a:ahLst/>
              <a:cxnLst/>
              <a:rect l="l" t="t" r="r" b="b"/>
              <a:pathLst>
                <a:path w="46506" h="784784">
                  <a:moveTo>
                    <a:pt x="0" y="0"/>
                  </a:moveTo>
                  <a:lnTo>
                    <a:pt x="46506" y="0"/>
                  </a:lnTo>
                  <a:lnTo>
                    <a:pt x="46506" y="784784"/>
                  </a:lnTo>
                  <a:lnTo>
                    <a:pt x="0" y="784784"/>
                  </a:lnTo>
                  <a:close/>
                </a:path>
              </a:pathLst>
            </a:custGeom>
            <a:solidFill>
              <a:srgbClr val="FF8FA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6506" cy="822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55420" y="8421169"/>
            <a:ext cx="548929" cy="376690"/>
            <a:chOff x="0" y="0"/>
            <a:chExt cx="441357" cy="3028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1357" cy="302871"/>
            </a:xfrm>
            <a:custGeom>
              <a:avLst/>
              <a:gdLst/>
              <a:ahLst/>
              <a:cxnLst/>
              <a:rect l="l" t="t" r="r" b="b"/>
              <a:pathLst>
                <a:path w="441357" h="302871">
                  <a:moveTo>
                    <a:pt x="0" y="0"/>
                  </a:moveTo>
                  <a:lnTo>
                    <a:pt x="441357" y="0"/>
                  </a:lnTo>
                  <a:lnTo>
                    <a:pt x="441357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D6312D">
                <a:alpha val="28627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41357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763366" y="7570607"/>
            <a:ext cx="888383" cy="376690"/>
            <a:chOff x="0" y="0"/>
            <a:chExt cx="714290" cy="3028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4289" cy="302871"/>
            </a:xfrm>
            <a:custGeom>
              <a:avLst/>
              <a:gdLst/>
              <a:ahLst/>
              <a:cxnLst/>
              <a:rect l="l" t="t" r="r" b="b"/>
              <a:pathLst>
                <a:path w="714289" h="302871">
                  <a:moveTo>
                    <a:pt x="0" y="0"/>
                  </a:moveTo>
                  <a:lnTo>
                    <a:pt x="714289" y="0"/>
                  </a:lnTo>
                  <a:lnTo>
                    <a:pt x="714289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7FC8F8">
                <a:alpha val="28627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4290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78276" y="5972520"/>
            <a:ext cx="1165724" cy="376690"/>
            <a:chOff x="0" y="0"/>
            <a:chExt cx="937281" cy="3028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37281" cy="302871"/>
            </a:xfrm>
            <a:custGeom>
              <a:avLst/>
              <a:gdLst/>
              <a:ahLst/>
              <a:cxnLst/>
              <a:rect l="l" t="t" r="r" b="b"/>
              <a:pathLst>
                <a:path w="937281" h="302871">
                  <a:moveTo>
                    <a:pt x="0" y="0"/>
                  </a:moveTo>
                  <a:lnTo>
                    <a:pt x="937281" y="0"/>
                  </a:lnTo>
                  <a:lnTo>
                    <a:pt x="937281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7FC8F8">
                <a:alpha val="28627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37281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94752" y="7758952"/>
            <a:ext cx="1960271" cy="376690"/>
            <a:chOff x="0" y="0"/>
            <a:chExt cx="1576123" cy="3028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76123" cy="302871"/>
            </a:xfrm>
            <a:custGeom>
              <a:avLst/>
              <a:gdLst/>
              <a:ahLst/>
              <a:cxnLst/>
              <a:rect l="l" t="t" r="r" b="b"/>
              <a:pathLst>
                <a:path w="1576123" h="302871">
                  <a:moveTo>
                    <a:pt x="0" y="0"/>
                  </a:moveTo>
                  <a:lnTo>
                    <a:pt x="1576123" y="0"/>
                  </a:lnTo>
                  <a:lnTo>
                    <a:pt x="1576123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D53E4F">
                <a:alpha val="28627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576123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23874" y="8232824"/>
            <a:ext cx="1754531" cy="376690"/>
            <a:chOff x="0" y="0"/>
            <a:chExt cx="1410702" cy="3028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10702" cy="302871"/>
            </a:xfrm>
            <a:custGeom>
              <a:avLst/>
              <a:gdLst/>
              <a:ahLst/>
              <a:cxnLst/>
              <a:rect l="l" t="t" r="r" b="b"/>
              <a:pathLst>
                <a:path w="1410702" h="302871">
                  <a:moveTo>
                    <a:pt x="0" y="0"/>
                  </a:moveTo>
                  <a:lnTo>
                    <a:pt x="1410702" y="0"/>
                  </a:lnTo>
                  <a:lnTo>
                    <a:pt x="1410702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D53E4F">
                <a:alpha val="28627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10702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27338" y="8232824"/>
            <a:ext cx="885851" cy="376690"/>
            <a:chOff x="0" y="0"/>
            <a:chExt cx="712254" cy="30287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2254" cy="302871"/>
            </a:xfrm>
            <a:custGeom>
              <a:avLst/>
              <a:gdLst/>
              <a:ahLst/>
              <a:cxnLst/>
              <a:rect l="l" t="t" r="r" b="b"/>
              <a:pathLst>
                <a:path w="712254" h="302871">
                  <a:moveTo>
                    <a:pt x="0" y="0"/>
                  </a:moveTo>
                  <a:lnTo>
                    <a:pt x="712254" y="0"/>
                  </a:lnTo>
                  <a:lnTo>
                    <a:pt x="712254" y="302871"/>
                  </a:lnTo>
                  <a:lnTo>
                    <a:pt x="0" y="302871"/>
                  </a:lnTo>
                  <a:close/>
                </a:path>
              </a:pathLst>
            </a:custGeom>
            <a:solidFill>
              <a:srgbClr val="D53E4F">
                <a:alpha val="28627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12254" cy="340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AutoShape 41"/>
          <p:cNvSpPr/>
          <p:nvPr/>
        </p:nvSpPr>
        <p:spPr>
          <a:xfrm flipV="1">
            <a:off x="16911684" y="3408349"/>
            <a:ext cx="0" cy="4779837"/>
          </a:xfrm>
          <a:prstGeom prst="line">
            <a:avLst/>
          </a:prstGeom>
          <a:ln w="19050" cap="flat">
            <a:solidFill>
              <a:srgbClr val="023E8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13113146" y="3597113"/>
            <a:ext cx="3789013" cy="907126"/>
            <a:chOff x="0" y="0"/>
            <a:chExt cx="809949" cy="19391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09949" cy="193910"/>
            </a:xfrm>
            <a:custGeom>
              <a:avLst/>
              <a:gdLst/>
              <a:ahLst/>
              <a:cxnLst/>
              <a:rect l="l" t="t" r="r" b="b"/>
              <a:pathLst>
                <a:path w="809949" h="193910">
                  <a:moveTo>
                    <a:pt x="0" y="0"/>
                  </a:moveTo>
                  <a:lnTo>
                    <a:pt x="809949" y="0"/>
                  </a:lnTo>
                  <a:lnTo>
                    <a:pt x="809949" y="193910"/>
                  </a:lnTo>
                  <a:lnTo>
                    <a:pt x="0" y="193910"/>
                  </a:lnTo>
                  <a:close/>
                </a:path>
              </a:pathLst>
            </a:custGeom>
            <a:solidFill>
              <a:srgbClr val="9ECAE1"/>
            </a:solidFill>
            <a:ln w="28575" cap="sq">
              <a:solidFill>
                <a:srgbClr val="779ECC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809949" cy="22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Rata-rata:</a:t>
              </a: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96%</a:t>
              </a: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dari kluster kampanye adalah </a:t>
              </a:r>
              <a:r>
                <a:rPr lang="en-US" sz="15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lexical mutants unik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49545" y="3456932"/>
            <a:ext cx="637527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8.893 </a:t>
            </a:r>
            <a:r>
              <a:rPr lang="en-US" sz="3000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kampanye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17.182 </a:t>
            </a:r>
            <a:r>
              <a:rPr lang="en-US" sz="30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cuitan</a:t>
            </a: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92324" y="4315142"/>
            <a:ext cx="777433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Terdiri dari cuitan-cuitan dengan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makna semantik yang serupa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sehingga mencerminkan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kampanye yang teramplifikasi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07773" y="5612587"/>
            <a:ext cx="429768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Cenderung memiliki kampanye yang merupakan </a:t>
            </a:r>
            <a:r>
              <a:rPr lang="en-US" sz="240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lexical mutants </a:t>
            </a:r>
            <a:r>
              <a:rPr lang="en-US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5410" y="1971942"/>
            <a:ext cx="10537179" cy="61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Distribusi Kampanye yang Teramplifikasi</a:t>
            </a: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3">
            <a:extLst>
              <a:ext uri="{FF2B5EF4-FFF2-40B4-BE49-F238E27FC236}">
                <a16:creationId xmlns:a16="http://schemas.microsoft.com/office/drawing/2014/main" id="{5C1A9704-3CD0-42D2-44FB-EE8EE52F626D}"/>
              </a:ext>
            </a:extLst>
          </p:cNvPr>
          <p:cNvGrpSpPr/>
          <p:nvPr/>
        </p:nvGrpSpPr>
        <p:grpSpPr>
          <a:xfrm>
            <a:off x="3061743" y="-1257300"/>
            <a:ext cx="12164513" cy="16590018"/>
            <a:chOff x="0" y="0"/>
            <a:chExt cx="16219350" cy="2212002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D4AD4092-A2A1-80D6-3B1F-519BAC36AE47}"/>
                </a:ext>
              </a:extLst>
            </p:cNvPr>
            <p:cNvSpPr/>
            <p:nvPr/>
          </p:nvSpPr>
          <p:spPr>
            <a:xfrm>
              <a:off x="0" y="0"/>
              <a:ext cx="16219350" cy="18013161"/>
            </a:xfrm>
            <a:custGeom>
              <a:avLst/>
              <a:gdLst/>
              <a:ahLst/>
              <a:cxnLst/>
              <a:rect l="l" t="t" r="r" b="b"/>
              <a:pathLst>
                <a:path w="16219350" h="18013161">
                  <a:moveTo>
                    <a:pt x="0" y="0"/>
                  </a:moveTo>
                  <a:lnTo>
                    <a:pt x="16219350" y="0"/>
                  </a:lnTo>
                  <a:lnTo>
                    <a:pt x="16219350" y="18013161"/>
                  </a:lnTo>
                  <a:lnTo>
                    <a:pt x="0" y="1801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9BEE06A1-23EA-8CA8-3BCD-BDD0ABA464AB}"/>
                </a:ext>
              </a:extLst>
            </p:cNvPr>
            <p:cNvGrpSpPr/>
            <p:nvPr/>
          </p:nvGrpSpPr>
          <p:grpSpPr>
            <a:xfrm>
              <a:off x="2423022" y="9515139"/>
              <a:ext cx="1376928" cy="8193552"/>
              <a:chOff x="76200" y="38100"/>
              <a:chExt cx="1174448" cy="6988676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0FCBD130-40A0-531E-F496-B1D20D83FA1E}"/>
                  </a:ext>
                </a:extLst>
              </p:cNvPr>
              <p:cNvSpPr/>
              <p:nvPr/>
            </p:nvSpPr>
            <p:spPr>
              <a:xfrm>
                <a:off x="437848" y="6213976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1" name="TextBox 7">
                <a:extLst>
                  <a:ext uri="{FF2B5EF4-FFF2-40B4-BE49-F238E27FC236}">
                    <a16:creationId xmlns:a16="http://schemas.microsoft.com/office/drawing/2014/main" id="{CE8F213A-FB17-3E75-6AFE-23FB5585BA0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7250B1BD-32A8-4292-AC52-ACCAE21A6F62}"/>
                </a:ext>
              </a:extLst>
            </p:cNvPr>
            <p:cNvSpPr txBox="1"/>
            <p:nvPr/>
          </p:nvSpPr>
          <p:spPr>
            <a:xfrm>
              <a:off x="2520789" y="16618189"/>
              <a:ext cx="32623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14" name="Group 9">
              <a:extLst>
                <a:ext uri="{FF2B5EF4-FFF2-40B4-BE49-F238E27FC236}">
                  <a16:creationId xmlns:a16="http://schemas.microsoft.com/office/drawing/2014/main" id="{3605DB06-5F8E-1959-495A-95D32DD0BCEB}"/>
                </a:ext>
              </a:extLst>
            </p:cNvPr>
            <p:cNvGrpSpPr/>
            <p:nvPr/>
          </p:nvGrpSpPr>
          <p:grpSpPr>
            <a:xfrm>
              <a:off x="4801056" y="10225800"/>
              <a:ext cx="1376928" cy="8193551"/>
              <a:chOff x="76200" y="38100"/>
              <a:chExt cx="1174448" cy="6988675"/>
            </a:xfrm>
          </p:grpSpPr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4430DE3C-834D-0E9F-0FE8-D9B913F569BD}"/>
                  </a:ext>
                </a:extLst>
              </p:cNvPr>
              <p:cNvSpPr/>
              <p:nvPr/>
            </p:nvSpPr>
            <p:spPr>
              <a:xfrm>
                <a:off x="437848" y="621397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86BCD62C-FA7C-55C3-0E7C-80A297F9490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0F955783-F76D-CA50-ED65-AF5660F047A3}"/>
                </a:ext>
              </a:extLst>
            </p:cNvPr>
            <p:cNvSpPr txBox="1"/>
            <p:nvPr/>
          </p:nvSpPr>
          <p:spPr>
            <a:xfrm>
              <a:off x="4892670" y="17328850"/>
              <a:ext cx="338535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F79FAA42-46B3-0844-AD6E-992128CB9C69}"/>
                </a:ext>
              </a:extLst>
            </p:cNvPr>
            <p:cNvGrpSpPr/>
            <p:nvPr/>
          </p:nvGrpSpPr>
          <p:grpSpPr>
            <a:xfrm>
              <a:off x="9271697" y="137578"/>
              <a:ext cx="1964839" cy="4443367"/>
              <a:chOff x="76200" y="-3053362"/>
              <a:chExt cx="1675906" cy="3789962"/>
            </a:xfrm>
          </p:grpSpPr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86833497-6595-97E0-4484-FF3237822DFD}"/>
                  </a:ext>
                </a:extLst>
              </p:cNvPr>
              <p:cNvSpPr/>
              <p:nvPr/>
            </p:nvSpPr>
            <p:spPr>
              <a:xfrm>
                <a:off x="939306" y="-3053362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7" name="TextBox 15">
                <a:extLst>
                  <a:ext uri="{FF2B5EF4-FFF2-40B4-BE49-F238E27FC236}">
                    <a16:creationId xmlns:a16="http://schemas.microsoft.com/office/drawing/2014/main" id="{A52450DA-BA4F-CD43-A976-BBD7067E51D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F21EA9-300F-1BD8-8761-A2BA14630887}"/>
                </a:ext>
              </a:extLst>
            </p:cNvPr>
            <p:cNvSpPr txBox="1"/>
            <p:nvPr/>
          </p:nvSpPr>
          <p:spPr>
            <a:xfrm>
              <a:off x="9944378" y="0"/>
              <a:ext cx="3522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31CD51-F3F1-D99A-D957-10562D614BFA}"/>
                </a:ext>
              </a:extLst>
            </p:cNvPr>
            <p:cNvGrpSpPr/>
            <p:nvPr/>
          </p:nvGrpSpPr>
          <p:grpSpPr>
            <a:xfrm>
              <a:off x="12980808" y="8462732"/>
              <a:ext cx="1376928" cy="8193552"/>
              <a:chOff x="76200" y="38100"/>
              <a:chExt cx="1174448" cy="6988676"/>
            </a:xfrm>
          </p:grpSpPr>
          <p:sp>
            <p:nvSpPr>
              <p:cNvPr id="24" name="Freeform 18">
                <a:extLst>
                  <a:ext uri="{FF2B5EF4-FFF2-40B4-BE49-F238E27FC236}">
                    <a16:creationId xmlns:a16="http://schemas.microsoft.com/office/drawing/2014/main" id="{7B9C6D7E-09E0-33A3-386E-0612AE2F9EB6}"/>
                  </a:ext>
                </a:extLst>
              </p:cNvPr>
              <p:cNvSpPr/>
              <p:nvPr/>
            </p:nvSpPr>
            <p:spPr>
              <a:xfrm>
                <a:off x="437848" y="6213976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5" name="TextBox 19">
                <a:extLst>
                  <a:ext uri="{FF2B5EF4-FFF2-40B4-BE49-F238E27FC236}">
                    <a16:creationId xmlns:a16="http://schemas.microsoft.com/office/drawing/2014/main" id="{4A69CC1B-7F22-6F6F-59AB-57E9EFD8045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EA8ADE83-A7D7-C13D-68A8-D7BC8893A933}"/>
                </a:ext>
              </a:extLst>
            </p:cNvPr>
            <p:cNvSpPr txBox="1"/>
            <p:nvPr/>
          </p:nvSpPr>
          <p:spPr>
            <a:xfrm>
              <a:off x="13059227" y="15565782"/>
              <a:ext cx="3649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1">
              <a:extLst>
                <a:ext uri="{FF2B5EF4-FFF2-40B4-BE49-F238E27FC236}">
                  <a16:creationId xmlns:a16="http://schemas.microsoft.com/office/drawing/2014/main" id="{36907B7F-F06C-3552-FAE3-A9F343778064}"/>
                </a:ext>
              </a:extLst>
            </p:cNvPr>
            <p:cNvGrpSpPr/>
            <p:nvPr/>
          </p:nvGrpSpPr>
          <p:grpSpPr>
            <a:xfrm>
              <a:off x="9551593" y="13926471"/>
              <a:ext cx="1376928" cy="8193552"/>
              <a:chOff x="76200" y="38100"/>
              <a:chExt cx="1174448" cy="6988676"/>
            </a:xfrm>
          </p:grpSpPr>
          <p:sp>
            <p:nvSpPr>
              <p:cNvPr id="22" name="Freeform 22">
                <a:extLst>
                  <a:ext uri="{FF2B5EF4-FFF2-40B4-BE49-F238E27FC236}">
                    <a16:creationId xmlns:a16="http://schemas.microsoft.com/office/drawing/2014/main" id="{8102E981-4F43-D1D5-56E5-2CAEDED0753C}"/>
                  </a:ext>
                </a:extLst>
              </p:cNvPr>
              <p:cNvSpPr/>
              <p:nvPr/>
            </p:nvSpPr>
            <p:spPr>
              <a:xfrm>
                <a:off x="437848" y="6213976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CFDB3C16-7D1F-B6A1-B018-D00E45B6FFB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2CAEFA9A-6FF1-069A-F4F2-C8D9991D8B69}"/>
                </a:ext>
              </a:extLst>
            </p:cNvPr>
            <p:cNvSpPr txBox="1"/>
            <p:nvPr/>
          </p:nvSpPr>
          <p:spPr>
            <a:xfrm>
              <a:off x="9634178" y="21029520"/>
              <a:ext cx="356592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" name="Freeform 2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3">
            <a:extLst>
              <a:ext uri="{FF2B5EF4-FFF2-40B4-BE49-F238E27FC236}">
                <a16:creationId xmlns:a16="http://schemas.microsoft.com/office/drawing/2014/main" id="{CD3478E3-4F42-918F-D768-8007993ED060}"/>
              </a:ext>
            </a:extLst>
          </p:cNvPr>
          <p:cNvGrpSpPr/>
          <p:nvPr/>
        </p:nvGrpSpPr>
        <p:grpSpPr>
          <a:xfrm>
            <a:off x="-4976071" y="-11163300"/>
            <a:ext cx="28954148" cy="31623000"/>
            <a:chOff x="-273573" y="0"/>
            <a:chExt cx="16492923" cy="18013161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BD0E9C53-6C82-375B-6DCC-7F975689266C}"/>
                </a:ext>
              </a:extLst>
            </p:cNvPr>
            <p:cNvSpPr/>
            <p:nvPr/>
          </p:nvSpPr>
          <p:spPr>
            <a:xfrm>
              <a:off x="0" y="0"/>
              <a:ext cx="16219350" cy="18013161"/>
            </a:xfrm>
            <a:custGeom>
              <a:avLst/>
              <a:gdLst/>
              <a:ahLst/>
              <a:cxnLst/>
              <a:rect l="l" t="t" r="r" b="b"/>
              <a:pathLst>
                <a:path w="16219350" h="18013161">
                  <a:moveTo>
                    <a:pt x="0" y="0"/>
                  </a:moveTo>
                  <a:lnTo>
                    <a:pt x="16219350" y="0"/>
                  </a:lnTo>
                  <a:lnTo>
                    <a:pt x="16219350" y="18013161"/>
                  </a:lnTo>
                  <a:lnTo>
                    <a:pt x="0" y="1801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19" name="Group 5">
              <a:extLst>
                <a:ext uri="{FF2B5EF4-FFF2-40B4-BE49-F238E27FC236}">
                  <a16:creationId xmlns:a16="http://schemas.microsoft.com/office/drawing/2014/main" id="{819DB415-52CA-9B76-032B-828A9B376C7B}"/>
                </a:ext>
              </a:extLst>
            </p:cNvPr>
            <p:cNvGrpSpPr/>
            <p:nvPr/>
          </p:nvGrpSpPr>
          <p:grpSpPr>
            <a:xfrm>
              <a:off x="52658" y="9515139"/>
              <a:ext cx="3144620" cy="3617081"/>
              <a:chOff x="-1945598" y="38100"/>
              <a:chExt cx="2682198" cy="3085183"/>
            </a:xfrm>
          </p:grpSpPr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97E7204-148B-2137-5785-FC94E4D3FE06}"/>
                  </a:ext>
                </a:extLst>
              </p:cNvPr>
              <p:cNvSpPr/>
              <p:nvPr/>
            </p:nvSpPr>
            <p:spPr>
              <a:xfrm>
                <a:off x="-1945598" y="231048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8" name="TextBox 7">
                <a:extLst>
                  <a:ext uri="{FF2B5EF4-FFF2-40B4-BE49-F238E27FC236}">
                    <a16:creationId xmlns:a16="http://schemas.microsoft.com/office/drawing/2014/main" id="{E87DAF3D-4F32-482A-870E-60619BF0ECE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11DC79D5-49D8-A8F8-B7FC-5606D94F8762}"/>
                </a:ext>
              </a:extLst>
            </p:cNvPr>
            <p:cNvSpPr txBox="1"/>
            <p:nvPr/>
          </p:nvSpPr>
          <p:spPr>
            <a:xfrm>
              <a:off x="-273573" y="12041713"/>
              <a:ext cx="32623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21" name="Group 9">
              <a:extLst>
                <a:ext uri="{FF2B5EF4-FFF2-40B4-BE49-F238E27FC236}">
                  <a16:creationId xmlns:a16="http://schemas.microsoft.com/office/drawing/2014/main" id="{6743637C-E895-ECF4-847A-47913BBC048C}"/>
                </a:ext>
              </a:extLst>
            </p:cNvPr>
            <p:cNvGrpSpPr/>
            <p:nvPr/>
          </p:nvGrpSpPr>
          <p:grpSpPr>
            <a:xfrm>
              <a:off x="2430692" y="10225800"/>
              <a:ext cx="3144620" cy="3617081"/>
              <a:chOff x="-1945598" y="38100"/>
              <a:chExt cx="2682198" cy="3085183"/>
            </a:xfrm>
          </p:grpSpPr>
          <p:sp>
            <p:nvSpPr>
              <p:cNvPr id="35" name="Freeform 10">
                <a:extLst>
                  <a:ext uri="{FF2B5EF4-FFF2-40B4-BE49-F238E27FC236}">
                    <a16:creationId xmlns:a16="http://schemas.microsoft.com/office/drawing/2014/main" id="{42179FDE-FB19-4F8F-CE2C-E81DBCAA36FA}"/>
                  </a:ext>
                </a:extLst>
              </p:cNvPr>
              <p:cNvSpPr/>
              <p:nvPr/>
            </p:nvSpPr>
            <p:spPr>
              <a:xfrm>
                <a:off x="-1945598" y="231048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6" name="TextBox 11">
                <a:extLst>
                  <a:ext uri="{FF2B5EF4-FFF2-40B4-BE49-F238E27FC236}">
                    <a16:creationId xmlns:a16="http://schemas.microsoft.com/office/drawing/2014/main" id="{3B3A32D1-7450-B60D-E6DA-FD96C313C32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012B029D-2E0E-714F-AD7A-082054B37DE1}"/>
                </a:ext>
              </a:extLst>
            </p:cNvPr>
            <p:cNvSpPr txBox="1"/>
            <p:nvPr/>
          </p:nvSpPr>
          <p:spPr>
            <a:xfrm>
              <a:off x="2098309" y="12752375"/>
              <a:ext cx="338534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23" name="Group 13">
              <a:extLst>
                <a:ext uri="{FF2B5EF4-FFF2-40B4-BE49-F238E27FC236}">
                  <a16:creationId xmlns:a16="http://schemas.microsoft.com/office/drawing/2014/main" id="{BEDE6B5C-22C9-6592-194F-4ACFD38806B7}"/>
                </a:ext>
              </a:extLst>
            </p:cNvPr>
            <p:cNvGrpSpPr/>
            <p:nvPr/>
          </p:nvGrpSpPr>
          <p:grpSpPr>
            <a:xfrm>
              <a:off x="9182360" y="3717352"/>
              <a:ext cx="952930" cy="952930"/>
              <a:chOff x="0" y="0"/>
              <a:chExt cx="812800" cy="812800"/>
            </a:xfrm>
          </p:grpSpPr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5927EDA3-2D11-EFA1-49D4-226E7EFC21D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EF65B2B4-F23A-5D1A-22C3-FDB8E5511D3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16">
              <a:extLst>
                <a:ext uri="{FF2B5EF4-FFF2-40B4-BE49-F238E27FC236}">
                  <a16:creationId xmlns:a16="http://schemas.microsoft.com/office/drawing/2014/main" id="{CF263863-EDAF-0D1C-4725-01BF2FB7598D}"/>
                </a:ext>
              </a:extLst>
            </p:cNvPr>
            <p:cNvSpPr txBox="1"/>
            <p:nvPr/>
          </p:nvSpPr>
          <p:spPr>
            <a:xfrm>
              <a:off x="8843131" y="3579776"/>
              <a:ext cx="3522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25" name="Group 17">
              <a:extLst>
                <a:ext uri="{FF2B5EF4-FFF2-40B4-BE49-F238E27FC236}">
                  <a16:creationId xmlns:a16="http://schemas.microsoft.com/office/drawing/2014/main" id="{D65C26A8-1AEB-ECC3-2817-A9CEA46442B1}"/>
                </a:ext>
              </a:extLst>
            </p:cNvPr>
            <p:cNvGrpSpPr/>
            <p:nvPr/>
          </p:nvGrpSpPr>
          <p:grpSpPr>
            <a:xfrm>
              <a:off x="12980808" y="8019720"/>
              <a:ext cx="2592902" cy="1261936"/>
              <a:chOff x="76200" y="-339766"/>
              <a:chExt cx="2211611" cy="1076366"/>
            </a:xfrm>
          </p:grpSpPr>
          <p:sp>
            <p:nvSpPr>
              <p:cNvPr id="31" name="Freeform 18">
                <a:extLst>
                  <a:ext uri="{FF2B5EF4-FFF2-40B4-BE49-F238E27FC236}">
                    <a16:creationId xmlns:a16="http://schemas.microsoft.com/office/drawing/2014/main" id="{6B514124-ED57-FB50-9586-D9F88C280F5C}"/>
                  </a:ext>
                </a:extLst>
              </p:cNvPr>
              <p:cNvSpPr/>
              <p:nvPr/>
            </p:nvSpPr>
            <p:spPr>
              <a:xfrm>
                <a:off x="1475011" y="-339766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2" name="TextBox 19">
                <a:extLst>
                  <a:ext uri="{FF2B5EF4-FFF2-40B4-BE49-F238E27FC236}">
                    <a16:creationId xmlns:a16="http://schemas.microsoft.com/office/drawing/2014/main" id="{929BE829-D2B2-03CE-04DE-7CB694D84B6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0">
              <a:extLst>
                <a:ext uri="{FF2B5EF4-FFF2-40B4-BE49-F238E27FC236}">
                  <a16:creationId xmlns:a16="http://schemas.microsoft.com/office/drawing/2014/main" id="{4CF89C1D-195C-4E62-E11E-2FAA1628F84C}"/>
                </a:ext>
              </a:extLst>
            </p:cNvPr>
            <p:cNvSpPr txBox="1"/>
            <p:nvPr/>
          </p:nvSpPr>
          <p:spPr>
            <a:xfrm>
              <a:off x="14275202" y="7882145"/>
              <a:ext cx="3649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7" name="Group 21">
              <a:extLst>
                <a:ext uri="{FF2B5EF4-FFF2-40B4-BE49-F238E27FC236}">
                  <a16:creationId xmlns:a16="http://schemas.microsoft.com/office/drawing/2014/main" id="{00B72ABB-3F57-28DD-95B6-335638C7EC70}"/>
                </a:ext>
              </a:extLst>
            </p:cNvPr>
            <p:cNvGrpSpPr/>
            <p:nvPr/>
          </p:nvGrpSpPr>
          <p:grpSpPr>
            <a:xfrm>
              <a:off x="9462256" y="13881802"/>
              <a:ext cx="952930" cy="952930"/>
              <a:chOff x="0" y="0"/>
              <a:chExt cx="812800" cy="812800"/>
            </a:xfrm>
          </p:grpSpPr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9D88F65-8DCC-35BF-C149-1A4983EC373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30" name="TextBox 23">
                <a:extLst>
                  <a:ext uri="{FF2B5EF4-FFF2-40B4-BE49-F238E27FC236}">
                    <a16:creationId xmlns:a16="http://schemas.microsoft.com/office/drawing/2014/main" id="{253E38BB-5191-9717-87CB-7867044403A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9B44B50C-BE80-D2F3-6EBA-71240284B4AA}"/>
                </a:ext>
              </a:extLst>
            </p:cNvPr>
            <p:cNvSpPr txBox="1"/>
            <p:nvPr/>
          </p:nvSpPr>
          <p:spPr>
            <a:xfrm>
              <a:off x="9120844" y="13744225"/>
              <a:ext cx="356592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3" name="Freeform 3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50188" y="5143500"/>
            <a:ext cx="6124771" cy="3753916"/>
            <a:chOff x="0" y="0"/>
            <a:chExt cx="8166361" cy="50052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1164997"/>
              <a:ext cx="8166361" cy="3840225"/>
              <a:chOff x="0" y="0"/>
              <a:chExt cx="829190" cy="3899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29190" cy="389926"/>
              </a:xfrm>
              <a:custGeom>
                <a:avLst/>
                <a:gdLst/>
                <a:ahLst/>
                <a:cxnLst/>
                <a:rect l="l" t="t" r="r" b="b"/>
                <a:pathLst>
                  <a:path w="829190" h="389926">
                    <a:moveTo>
                      <a:pt x="125412" y="0"/>
                    </a:moveTo>
                    <a:lnTo>
                      <a:pt x="703779" y="0"/>
                    </a:lnTo>
                    <a:cubicBezTo>
                      <a:pt x="773042" y="0"/>
                      <a:pt x="829190" y="56149"/>
                      <a:pt x="829190" y="125412"/>
                    </a:cubicBezTo>
                    <a:lnTo>
                      <a:pt x="829190" y="264514"/>
                    </a:lnTo>
                    <a:cubicBezTo>
                      <a:pt x="829190" y="333777"/>
                      <a:pt x="773042" y="389926"/>
                      <a:pt x="703779" y="389926"/>
                    </a:cubicBezTo>
                    <a:lnTo>
                      <a:pt x="125412" y="389926"/>
                    </a:lnTo>
                    <a:cubicBezTo>
                      <a:pt x="56149" y="389926"/>
                      <a:pt x="0" y="333777"/>
                      <a:pt x="0" y="264514"/>
                    </a:cubicBezTo>
                    <a:lnTo>
                      <a:pt x="0" y="125412"/>
                    </a:lnTo>
                    <a:cubicBezTo>
                      <a:pt x="0" y="56149"/>
                      <a:pt x="56149" y="0"/>
                      <a:pt x="125412" y="0"/>
                    </a:cubicBezTo>
                    <a:close/>
                  </a:path>
                </a:pathLst>
              </a:custGeom>
              <a:solidFill>
                <a:srgbClr val="F56C77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29190" cy="428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505456">
              <a:off x="299851" y="382032"/>
              <a:ext cx="1744583" cy="1565931"/>
              <a:chOff x="0" y="0"/>
              <a:chExt cx="812800" cy="72956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F56C77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70968" y="1916229"/>
              <a:ext cx="7024425" cy="2624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1"/>
                </a:lnSpc>
                <a:spcBef>
                  <a:spcPct val="0"/>
                </a:spcBef>
              </a:pPr>
              <a:r>
                <a:rPr lang="en-US" sz="2334" spc="-11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Suara dan semangkin tidak terkejar Minat masyarakat terhadap pencapresan Ganjar sangat kuat potensi kemenangan semakin tinggi </a:t>
              </a:r>
              <a:r>
                <a:rPr lang="en-US" sz="2334" spc="-11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Insya Allah Satu Putaran Ganjar Presiden 2024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446745" y="-1183854"/>
            <a:ext cx="12164513" cy="13509871"/>
            <a:chOff x="0" y="0"/>
            <a:chExt cx="16219350" cy="180131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19350" cy="18013161"/>
            </a:xfrm>
            <a:custGeom>
              <a:avLst/>
              <a:gdLst/>
              <a:ahLst/>
              <a:cxnLst/>
              <a:rect l="l" t="t" r="r" b="b"/>
              <a:pathLst>
                <a:path w="16219350" h="18013161">
                  <a:moveTo>
                    <a:pt x="0" y="0"/>
                  </a:moveTo>
                  <a:lnTo>
                    <a:pt x="16219350" y="0"/>
                  </a:lnTo>
                  <a:lnTo>
                    <a:pt x="16219350" y="18013161"/>
                  </a:lnTo>
                  <a:lnTo>
                    <a:pt x="0" y="1801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2333685" y="9470470"/>
              <a:ext cx="952930" cy="95293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007454" y="9332893"/>
              <a:ext cx="32623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4711719" y="10181131"/>
              <a:ext cx="952930" cy="952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79336" y="10043554"/>
              <a:ext cx="421720" cy="5419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182360" y="3717352"/>
              <a:ext cx="952930" cy="952930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843131" y="3579776"/>
              <a:ext cx="3522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2891471" y="8418063"/>
              <a:ext cx="952930" cy="952930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545893" y="8280487"/>
              <a:ext cx="364927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462256" y="13881802"/>
              <a:ext cx="952930" cy="952930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9120844" y="13744225"/>
              <a:ext cx="430749" cy="5419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sp>
        <p:nvSpPr>
          <p:cNvPr id="2" name="Freeform 2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85042" y="-10223679"/>
            <a:ext cx="25955863" cy="28826502"/>
            <a:chOff x="0" y="0"/>
            <a:chExt cx="34607818" cy="38435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7818" cy="38435337"/>
            </a:xfrm>
            <a:custGeom>
              <a:avLst/>
              <a:gdLst/>
              <a:ahLst/>
              <a:cxnLst/>
              <a:rect l="l" t="t" r="r" b="b"/>
              <a:pathLst>
                <a:path w="34607818" h="38435337">
                  <a:moveTo>
                    <a:pt x="0" y="0"/>
                  </a:moveTo>
                  <a:lnTo>
                    <a:pt x="34607818" y="0"/>
                  </a:lnTo>
                  <a:lnTo>
                    <a:pt x="34607818" y="38435337"/>
                  </a:lnTo>
                  <a:lnTo>
                    <a:pt x="0" y="384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4979469" y="20207486"/>
              <a:ext cx="2033302" cy="20333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283376" y="19899981"/>
              <a:ext cx="800055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053566" y="21723850"/>
              <a:ext cx="2033302" cy="203330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344348" y="21416343"/>
              <a:ext cx="722343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92736" y="7931849"/>
              <a:ext cx="2033302" cy="203330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8868911" y="7624343"/>
              <a:ext cx="751559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7507002" y="17961928"/>
              <a:ext cx="2033302" cy="203330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769627" y="17654421"/>
              <a:ext cx="778657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0189960" y="29620105"/>
              <a:ext cx="2033302" cy="203330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9461478" y="29312598"/>
              <a:ext cx="760874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562963" y="5484903"/>
            <a:ext cx="7026630" cy="2098832"/>
            <a:chOff x="0" y="0"/>
            <a:chExt cx="9368840" cy="2798442"/>
          </a:xfrm>
        </p:grpSpPr>
        <p:grpSp>
          <p:nvGrpSpPr>
            <p:cNvPr id="31" name="Group 31"/>
            <p:cNvGrpSpPr/>
            <p:nvPr/>
          </p:nvGrpSpPr>
          <p:grpSpPr>
            <a:xfrm>
              <a:off x="1202479" y="443309"/>
              <a:ext cx="8166361" cy="2355133"/>
              <a:chOff x="0" y="0"/>
              <a:chExt cx="829190" cy="23913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29190" cy="239134"/>
              </a:xfrm>
              <a:custGeom>
                <a:avLst/>
                <a:gdLst/>
                <a:ahLst/>
                <a:cxnLst/>
                <a:rect l="l" t="t" r="r" b="b"/>
                <a:pathLst>
                  <a:path w="829190" h="239134">
                    <a:moveTo>
                      <a:pt x="64466" y="0"/>
                    </a:moveTo>
                    <a:lnTo>
                      <a:pt x="764725" y="0"/>
                    </a:lnTo>
                    <a:cubicBezTo>
                      <a:pt x="800328" y="0"/>
                      <a:pt x="829190" y="28862"/>
                      <a:pt x="829190" y="64466"/>
                    </a:cubicBezTo>
                    <a:lnTo>
                      <a:pt x="829190" y="174668"/>
                    </a:lnTo>
                    <a:cubicBezTo>
                      <a:pt x="829190" y="210272"/>
                      <a:pt x="800328" y="239134"/>
                      <a:pt x="764725" y="239134"/>
                    </a:cubicBezTo>
                    <a:lnTo>
                      <a:pt x="64466" y="239134"/>
                    </a:lnTo>
                    <a:cubicBezTo>
                      <a:pt x="28862" y="239134"/>
                      <a:pt x="0" y="210272"/>
                      <a:pt x="0" y="174668"/>
                    </a:cubicBezTo>
                    <a:lnTo>
                      <a:pt x="0" y="64466"/>
                    </a:lnTo>
                    <a:cubicBezTo>
                      <a:pt x="0" y="28862"/>
                      <a:pt x="28862" y="0"/>
                      <a:pt x="64466" y="0"/>
                    </a:cubicBezTo>
                    <a:close/>
                  </a:path>
                </a:pathLst>
              </a:custGeom>
              <a:solidFill>
                <a:srgbClr val="F0A63E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829190" cy="277234"/>
              </a:xfrm>
              <a:prstGeom prst="rect">
                <a:avLst/>
              </a:prstGeom>
            </p:spPr>
            <p:txBody>
              <a:bodyPr lIns="98826" tIns="98826" rIns="98826" bIns="9882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7111633">
              <a:off x="232200" y="357347"/>
              <a:ext cx="1744583" cy="1565931"/>
              <a:chOff x="0" y="0"/>
              <a:chExt cx="812800" cy="7295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F0A63E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98826" tIns="98826" rIns="98826" bIns="9882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773447" y="1083162"/>
              <a:ext cx="7024425" cy="944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1"/>
                </a:lnSpc>
              </a:pPr>
              <a:r>
                <a:rPr lang="en-US" sz="2334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Gaskan yuk guys </a:t>
              </a:r>
            </a:p>
            <a:p>
              <a:pPr algn="ctr">
                <a:lnSpc>
                  <a:spcPts val="2521"/>
                </a:lnSpc>
                <a:spcBef>
                  <a:spcPct val="0"/>
                </a:spcBef>
              </a:pPr>
              <a:r>
                <a:rPr lang="en-US" sz="2334" spc="-11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ANIES ROCKS DEBAT CAPRES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39722" y="-10802799"/>
            <a:ext cx="25955863" cy="28826502"/>
            <a:chOff x="0" y="0"/>
            <a:chExt cx="34607818" cy="38435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7818" cy="38435337"/>
            </a:xfrm>
            <a:custGeom>
              <a:avLst/>
              <a:gdLst/>
              <a:ahLst/>
              <a:cxnLst/>
              <a:rect l="l" t="t" r="r" b="b"/>
              <a:pathLst>
                <a:path w="34607818" h="38435337">
                  <a:moveTo>
                    <a:pt x="0" y="0"/>
                  </a:moveTo>
                  <a:lnTo>
                    <a:pt x="34607818" y="0"/>
                  </a:lnTo>
                  <a:lnTo>
                    <a:pt x="34607818" y="38435337"/>
                  </a:lnTo>
                  <a:lnTo>
                    <a:pt x="0" y="384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4979469" y="20207486"/>
              <a:ext cx="2033302" cy="20333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283377" y="19899981"/>
              <a:ext cx="874901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053566" y="21723850"/>
              <a:ext cx="2033302" cy="203330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344348" y="21416343"/>
              <a:ext cx="722343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92736" y="7931849"/>
              <a:ext cx="2033302" cy="203330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8868911" y="7624343"/>
              <a:ext cx="751559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7507002" y="17961928"/>
              <a:ext cx="2033302" cy="203330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614067" y="17482551"/>
              <a:ext cx="927997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0189960" y="29620105"/>
              <a:ext cx="2033302" cy="203330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9461478" y="29312598"/>
              <a:ext cx="760874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634287" y="4574188"/>
            <a:ext cx="8696903" cy="3360191"/>
            <a:chOff x="0" y="0"/>
            <a:chExt cx="11595870" cy="4480255"/>
          </a:xfrm>
        </p:grpSpPr>
        <p:grpSp>
          <p:nvGrpSpPr>
            <p:cNvPr id="31" name="Group 31"/>
            <p:cNvGrpSpPr/>
            <p:nvPr/>
          </p:nvGrpSpPr>
          <p:grpSpPr>
            <a:xfrm>
              <a:off x="1590101" y="0"/>
              <a:ext cx="10005769" cy="4480255"/>
              <a:chOff x="0" y="0"/>
              <a:chExt cx="1007972" cy="4513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07972" cy="451337"/>
              </a:xfrm>
              <a:custGeom>
                <a:avLst/>
                <a:gdLst/>
                <a:ahLst/>
                <a:cxnLst/>
                <a:rect l="l" t="t" r="r" b="b"/>
                <a:pathLst>
                  <a:path w="1007972" h="451337">
                    <a:moveTo>
                      <a:pt x="52615" y="0"/>
                    </a:moveTo>
                    <a:lnTo>
                      <a:pt x="955357" y="0"/>
                    </a:lnTo>
                    <a:cubicBezTo>
                      <a:pt x="969311" y="0"/>
                      <a:pt x="982694" y="5543"/>
                      <a:pt x="992561" y="15410"/>
                    </a:cubicBezTo>
                    <a:cubicBezTo>
                      <a:pt x="1002428" y="25278"/>
                      <a:pt x="1007972" y="38660"/>
                      <a:pt x="1007972" y="52615"/>
                    </a:cubicBezTo>
                    <a:lnTo>
                      <a:pt x="1007972" y="398722"/>
                    </a:lnTo>
                    <a:cubicBezTo>
                      <a:pt x="1007972" y="427780"/>
                      <a:pt x="984415" y="451337"/>
                      <a:pt x="955357" y="451337"/>
                    </a:cubicBezTo>
                    <a:lnTo>
                      <a:pt x="52615" y="451337"/>
                    </a:lnTo>
                    <a:cubicBezTo>
                      <a:pt x="23556" y="451337"/>
                      <a:pt x="0" y="427780"/>
                      <a:pt x="0" y="398722"/>
                    </a:cubicBezTo>
                    <a:lnTo>
                      <a:pt x="0" y="52615"/>
                    </a:lnTo>
                    <a:cubicBezTo>
                      <a:pt x="0" y="23556"/>
                      <a:pt x="23556" y="0"/>
                      <a:pt x="52615" y="0"/>
                    </a:cubicBezTo>
                    <a:close/>
                  </a:path>
                </a:pathLst>
              </a:custGeom>
              <a:solidFill>
                <a:srgbClr val="2467F1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007972" cy="489437"/>
              </a:xfrm>
              <a:prstGeom prst="rect">
                <a:avLst/>
              </a:prstGeom>
            </p:spPr>
            <p:txBody>
              <a:bodyPr lIns="99610" tIns="99610" rIns="99610" bIns="9961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1769819">
              <a:off x="237561" y="1318484"/>
              <a:ext cx="2330048" cy="1578339"/>
              <a:chOff x="0" y="0"/>
              <a:chExt cx="1077033" cy="7295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77033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1077033" h="729566">
                    <a:moveTo>
                      <a:pt x="538517" y="729566"/>
                    </a:moveTo>
                    <a:lnTo>
                      <a:pt x="1077033" y="0"/>
                    </a:lnTo>
                    <a:lnTo>
                      <a:pt x="0" y="0"/>
                    </a:lnTo>
                    <a:lnTo>
                      <a:pt x="538517" y="729566"/>
                    </a:lnTo>
                    <a:close/>
                  </a:path>
                </a:pathLst>
              </a:custGeom>
              <a:solidFill>
                <a:srgbClr val="2467F1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8286" y="14012"/>
                <a:ext cx="740460" cy="376827"/>
              </a:xfrm>
              <a:prstGeom prst="rect">
                <a:avLst/>
              </a:prstGeom>
            </p:spPr>
            <p:txBody>
              <a:bodyPr lIns="99610" tIns="99610" rIns="99610" bIns="996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289675" y="757638"/>
              <a:ext cx="8606622" cy="3038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41"/>
                </a:lnSpc>
                <a:spcBef>
                  <a:spcPct val="0"/>
                </a:spcBef>
              </a:pPr>
              <a:r>
                <a:rPr lang="en-US" sz="2352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Warga Banjarnegara</a:t>
              </a:r>
              <a:r>
                <a:rPr lang="en-US" sz="2352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menyambut Pak Jokowi Rabu 3 1 2023 dengan berpakaian kaos </a:t>
              </a:r>
              <a:r>
                <a:rPr lang="en-US" sz="2352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Ganjar Mahfud</a:t>
              </a:r>
              <a:r>
                <a:rPr lang="en-US" sz="2352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sesuai dukungan yang mereka berikan kepada </a:t>
              </a:r>
              <a:r>
                <a:rPr lang="en-US" sz="2352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paslon 03 </a:t>
              </a:r>
              <a:r>
                <a:rPr lang="en-US" sz="2352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itu Tangan mengacung </a:t>
              </a:r>
              <a:r>
                <a:rPr lang="en-US" sz="2352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tiga jari</a:t>
              </a:r>
              <a:r>
                <a:rPr lang="en-US" sz="2352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sekaligus metal pun mereka perlihatkan kepada deretan mobil yg berjajar mengawal Presiden Jokowi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12362" y="-3746679"/>
            <a:ext cx="25955863" cy="28826502"/>
            <a:chOff x="0" y="0"/>
            <a:chExt cx="34607818" cy="38435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7818" cy="38435337"/>
            </a:xfrm>
            <a:custGeom>
              <a:avLst/>
              <a:gdLst/>
              <a:ahLst/>
              <a:cxnLst/>
              <a:rect l="l" t="t" r="r" b="b"/>
              <a:pathLst>
                <a:path w="34607818" h="38435337">
                  <a:moveTo>
                    <a:pt x="0" y="0"/>
                  </a:moveTo>
                  <a:lnTo>
                    <a:pt x="34607818" y="0"/>
                  </a:lnTo>
                  <a:lnTo>
                    <a:pt x="34607818" y="38435337"/>
                  </a:lnTo>
                  <a:lnTo>
                    <a:pt x="0" y="384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4979469" y="20207486"/>
              <a:ext cx="2033302" cy="20333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283377" y="19899980"/>
              <a:ext cx="696091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053566" y="21723850"/>
              <a:ext cx="2033302" cy="203330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344348" y="21416343"/>
              <a:ext cx="722343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92736" y="7931849"/>
              <a:ext cx="2033302" cy="203330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8868911" y="7624343"/>
              <a:ext cx="751559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7507002" y="17961928"/>
              <a:ext cx="2033302" cy="203330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769627" y="17654420"/>
              <a:ext cx="927997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0189960" y="29620105"/>
              <a:ext cx="2033302" cy="203330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9461478" y="29312598"/>
              <a:ext cx="760874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458151" y="3756228"/>
            <a:ext cx="9097377" cy="4809013"/>
            <a:chOff x="0" y="0"/>
            <a:chExt cx="12129836" cy="641201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781544"/>
              <a:ext cx="12129836" cy="5630473"/>
              <a:chOff x="0" y="0"/>
              <a:chExt cx="1233871" cy="57274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33871" cy="572743"/>
              </a:xfrm>
              <a:custGeom>
                <a:avLst/>
                <a:gdLst/>
                <a:ahLst/>
                <a:cxnLst/>
                <a:rect l="l" t="t" r="r" b="b"/>
                <a:pathLst>
                  <a:path w="1233871" h="572743">
                    <a:moveTo>
                      <a:pt x="43401" y="0"/>
                    </a:moveTo>
                    <a:lnTo>
                      <a:pt x="1190470" y="0"/>
                    </a:lnTo>
                    <a:cubicBezTo>
                      <a:pt x="1214440" y="0"/>
                      <a:pt x="1233871" y="19431"/>
                      <a:pt x="1233871" y="43401"/>
                    </a:cubicBezTo>
                    <a:lnTo>
                      <a:pt x="1233871" y="529342"/>
                    </a:lnTo>
                    <a:cubicBezTo>
                      <a:pt x="1233871" y="553311"/>
                      <a:pt x="1214440" y="572743"/>
                      <a:pt x="1190470" y="572743"/>
                    </a:cubicBezTo>
                    <a:lnTo>
                      <a:pt x="43401" y="572743"/>
                    </a:lnTo>
                    <a:cubicBezTo>
                      <a:pt x="19431" y="572743"/>
                      <a:pt x="0" y="553311"/>
                      <a:pt x="0" y="529342"/>
                    </a:cubicBezTo>
                    <a:lnTo>
                      <a:pt x="0" y="43401"/>
                    </a:lnTo>
                    <a:cubicBezTo>
                      <a:pt x="0" y="19431"/>
                      <a:pt x="19431" y="0"/>
                      <a:pt x="43401" y="0"/>
                    </a:cubicBezTo>
                    <a:close/>
                  </a:path>
                </a:pathLst>
              </a:custGeom>
              <a:solidFill>
                <a:srgbClr val="3EF3C5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233871" cy="610843"/>
              </a:xfrm>
              <a:prstGeom prst="rect">
                <a:avLst/>
              </a:prstGeom>
            </p:spPr>
            <p:txBody>
              <a:bodyPr lIns="98647" tIns="98647" rIns="98647" bIns="98647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10800000">
              <a:off x="5178714" y="0"/>
              <a:ext cx="1770420" cy="1563088"/>
              <a:chOff x="0" y="0"/>
              <a:chExt cx="826338" cy="7295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26338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26338" h="729566">
                    <a:moveTo>
                      <a:pt x="413169" y="729566"/>
                    </a:moveTo>
                    <a:lnTo>
                      <a:pt x="826338" y="0"/>
                    </a:lnTo>
                    <a:lnTo>
                      <a:pt x="0" y="0"/>
                    </a:lnTo>
                    <a:lnTo>
                      <a:pt x="413169" y="729566"/>
                    </a:lnTo>
                    <a:close/>
                  </a:path>
                </a:pathLst>
              </a:custGeom>
              <a:solidFill>
                <a:srgbClr val="3EF3C5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9115" y="14012"/>
                <a:ext cx="568107" cy="376827"/>
              </a:xfrm>
              <a:prstGeom prst="rect">
                <a:avLst/>
              </a:prstGeom>
            </p:spPr>
            <p:txBody>
              <a:bodyPr lIns="98647" tIns="98647" rIns="98647" bIns="9864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11704" y="1278316"/>
              <a:ext cx="10670200" cy="5133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6"/>
                </a:lnSpc>
              </a:pP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TUJUAN PRABOWO BERKUASA U TAHTA HARTA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BUKAN U RAKYAT NEGARA KLU KALAH KOALISI PRABOWO BANYAK MASUK SEL KT MENKOMINFO 98 RAKYAT MAHASISWA JATUHKAN ORBA E NOW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JKW RANGKUL ORBA KIANATI RAKYAT INTERVENSI MK RUBAH UU PEMILU JD KAN ANAKNYA CAWAPRES ILEGAL 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JKW KIANATI... 5 MENTRI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ANIES 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DLL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ADA DUGAAN KORUP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... TOLAK POLITIK DINASTY TOLAK NEO ORBA USUT DUGAAN KORUPSI SEMUA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PRABOWO ANIES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YAMAN WIN ASING</a:t>
              </a:r>
              <a:r>
                <a:rPr lang="en-US" sz="2330" spc="-9">
                  <a:solidFill>
                    <a:srgbClr val="000000"/>
                  </a:solidFill>
                  <a:latin typeface="Evolventa"/>
                  <a:ea typeface="Evolventa"/>
                  <a:cs typeface="Evolventa"/>
                  <a:sym typeface="Evolventa"/>
                </a:rPr>
                <a:t> KUASAI HASIL BUMI </a:t>
              </a:r>
              <a:r>
                <a:rPr lang="en-US" sz="2330" spc="-9">
                  <a:solidFill>
                    <a:srgbClr val="000000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ORBA BANGKIT KORUP MONOPOLI RADIKAL HIDUP PANCASILA BAHAYA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endParaRPr lang="en-US" sz="233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24782" y="-9476919"/>
            <a:ext cx="25955863" cy="28826502"/>
            <a:chOff x="0" y="0"/>
            <a:chExt cx="34607818" cy="38435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7818" cy="38435337"/>
            </a:xfrm>
            <a:custGeom>
              <a:avLst/>
              <a:gdLst/>
              <a:ahLst/>
              <a:cxnLst/>
              <a:rect l="l" t="t" r="r" b="b"/>
              <a:pathLst>
                <a:path w="34607818" h="38435337">
                  <a:moveTo>
                    <a:pt x="0" y="0"/>
                  </a:moveTo>
                  <a:lnTo>
                    <a:pt x="34607818" y="0"/>
                  </a:lnTo>
                  <a:lnTo>
                    <a:pt x="34607818" y="38435337"/>
                  </a:lnTo>
                  <a:lnTo>
                    <a:pt x="0" y="384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4979469" y="20207486"/>
              <a:ext cx="2033302" cy="20333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283377" y="19899980"/>
              <a:ext cx="696091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053566" y="21723850"/>
              <a:ext cx="2033302" cy="203330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344348" y="21416343"/>
              <a:ext cx="722343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92736" y="7931849"/>
              <a:ext cx="2033302" cy="203330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8868911" y="7624343"/>
              <a:ext cx="751559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7507002" y="17961928"/>
              <a:ext cx="2033302" cy="203330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579005" y="17647302"/>
              <a:ext cx="927997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0189960" y="29620105"/>
              <a:ext cx="2033302" cy="203330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9461478" y="29312598"/>
              <a:ext cx="760874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580705" y="4542833"/>
            <a:ext cx="8236830" cy="2733292"/>
            <a:chOff x="0" y="0"/>
            <a:chExt cx="10982440" cy="364439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0154631" cy="3644390"/>
              <a:chOff x="0" y="0"/>
              <a:chExt cx="1086480" cy="3899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86480" cy="389926"/>
              </a:xfrm>
              <a:custGeom>
                <a:avLst/>
                <a:gdLst/>
                <a:ahLst/>
                <a:cxnLst/>
                <a:rect l="l" t="t" r="r" b="b"/>
                <a:pathLst>
                  <a:path w="1086480" h="389926">
                    <a:moveTo>
                      <a:pt x="51843" y="0"/>
                    </a:moveTo>
                    <a:lnTo>
                      <a:pt x="1034636" y="0"/>
                    </a:lnTo>
                    <a:cubicBezTo>
                      <a:pt x="1063269" y="0"/>
                      <a:pt x="1086480" y="23211"/>
                      <a:pt x="1086480" y="51843"/>
                    </a:cubicBezTo>
                    <a:lnTo>
                      <a:pt x="1086480" y="338083"/>
                    </a:lnTo>
                    <a:cubicBezTo>
                      <a:pt x="1086480" y="351832"/>
                      <a:pt x="1081018" y="365019"/>
                      <a:pt x="1071295" y="374742"/>
                    </a:cubicBezTo>
                    <a:cubicBezTo>
                      <a:pt x="1061573" y="384464"/>
                      <a:pt x="1048386" y="389926"/>
                      <a:pt x="1034636" y="389926"/>
                    </a:cubicBezTo>
                    <a:lnTo>
                      <a:pt x="51843" y="389926"/>
                    </a:lnTo>
                    <a:cubicBezTo>
                      <a:pt x="23211" y="389926"/>
                      <a:pt x="0" y="366715"/>
                      <a:pt x="0" y="338083"/>
                    </a:cubicBezTo>
                    <a:lnTo>
                      <a:pt x="0" y="51843"/>
                    </a:lnTo>
                    <a:cubicBezTo>
                      <a:pt x="0" y="38094"/>
                      <a:pt x="5462" y="24907"/>
                      <a:pt x="15185" y="15185"/>
                    </a:cubicBezTo>
                    <a:cubicBezTo>
                      <a:pt x="24907" y="5462"/>
                      <a:pt x="38094" y="0"/>
                      <a:pt x="51843" y="0"/>
                    </a:cubicBez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086480" cy="428026"/>
              </a:xfrm>
              <a:prstGeom prst="rect">
                <a:avLst/>
              </a:prstGeom>
            </p:spPr>
            <p:txBody>
              <a:bodyPr lIns="93787" tIns="93787" rIns="93787" bIns="93787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326823" y="634597"/>
              <a:ext cx="1655617" cy="1486075"/>
              <a:chOff x="0" y="0"/>
              <a:chExt cx="812800" cy="7295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93787" tIns="93787" rIns="93787" bIns="9378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1851" y="729058"/>
              <a:ext cx="9234887" cy="247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92"/>
                </a:lnSpc>
                <a:spcBef>
                  <a:spcPct val="0"/>
                </a:spcBef>
              </a:pPr>
              <a:r>
                <a:rPr lang="en-US" sz="2215" spc="-10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JUMAT 19 JAN 2024</a:t>
              </a:r>
              <a:r>
                <a:rPr lang="en-US" sz="2215" spc="-10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Subhanallah Masya Allah </a:t>
              </a:r>
              <a:r>
                <a:rPr lang="en-US" sz="2215" spc="-10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ABAH ANIES</a:t>
              </a:r>
              <a:r>
                <a:rPr lang="en-US" sz="2215" spc="-10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Menyapa Warga BATAM Dibuka dgn UPACARA ADAT Meledak Tak Terbendung Tumpah Ruah Ribuan warga Gemuruh Menggema Menyambut ABAH ANIES Alhamdulillah BATAM Semua PILIH AMIN Bro AMIN AMIN AMIN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32102" y="-14826159"/>
            <a:ext cx="25955863" cy="28826502"/>
            <a:chOff x="0" y="0"/>
            <a:chExt cx="34607818" cy="38435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07818" cy="38435337"/>
            </a:xfrm>
            <a:custGeom>
              <a:avLst/>
              <a:gdLst/>
              <a:ahLst/>
              <a:cxnLst/>
              <a:rect l="l" t="t" r="r" b="b"/>
              <a:pathLst>
                <a:path w="34607818" h="38435337">
                  <a:moveTo>
                    <a:pt x="0" y="0"/>
                  </a:moveTo>
                  <a:lnTo>
                    <a:pt x="34607818" y="0"/>
                  </a:lnTo>
                  <a:lnTo>
                    <a:pt x="34607818" y="38435337"/>
                  </a:lnTo>
                  <a:lnTo>
                    <a:pt x="0" y="384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4979469" y="20207486"/>
              <a:ext cx="2033302" cy="20333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283376" y="19899981"/>
              <a:ext cx="886713" cy="1149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053566" y="21723850"/>
              <a:ext cx="2033302" cy="203330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9344348" y="21416343"/>
              <a:ext cx="722343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9592736" y="7931849"/>
              <a:ext cx="2033302" cy="203330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8868911" y="7624343"/>
              <a:ext cx="751559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7507002" y="17961928"/>
              <a:ext cx="2033302" cy="203330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769627" y="17654421"/>
              <a:ext cx="778657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0189960" y="29620105"/>
              <a:ext cx="2033302" cy="203330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9461478" y="29312598"/>
              <a:ext cx="760874" cy="111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69"/>
                </a:lnSpc>
                <a:spcBef>
                  <a:spcPct val="0"/>
                </a:spcBef>
              </a:pPr>
              <a:r>
                <a:rPr lang="en-US" sz="512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097780" y="4189572"/>
            <a:ext cx="7152921" cy="3458973"/>
            <a:chOff x="0" y="0"/>
            <a:chExt cx="9537228" cy="4611965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9537228" cy="3098505"/>
              <a:chOff x="0" y="0"/>
              <a:chExt cx="829190" cy="26939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29190" cy="269392"/>
              </a:xfrm>
              <a:custGeom>
                <a:avLst/>
                <a:gdLst/>
                <a:ahLst/>
                <a:cxnLst/>
                <a:rect l="l" t="t" r="r" b="b"/>
                <a:pathLst>
                  <a:path w="829190" h="269392">
                    <a:moveTo>
                      <a:pt x="55200" y="0"/>
                    </a:moveTo>
                    <a:lnTo>
                      <a:pt x="773991" y="0"/>
                    </a:lnTo>
                    <a:cubicBezTo>
                      <a:pt x="804477" y="0"/>
                      <a:pt x="829190" y="24714"/>
                      <a:pt x="829190" y="55200"/>
                    </a:cubicBezTo>
                    <a:lnTo>
                      <a:pt x="829190" y="214192"/>
                    </a:lnTo>
                    <a:cubicBezTo>
                      <a:pt x="829190" y="228832"/>
                      <a:pt x="823375" y="242872"/>
                      <a:pt x="813023" y="253224"/>
                    </a:cubicBezTo>
                    <a:cubicBezTo>
                      <a:pt x="802671" y="263576"/>
                      <a:pt x="788631" y="269392"/>
                      <a:pt x="773991" y="269392"/>
                    </a:cubicBezTo>
                    <a:lnTo>
                      <a:pt x="55200" y="269392"/>
                    </a:lnTo>
                    <a:cubicBezTo>
                      <a:pt x="24714" y="269392"/>
                      <a:pt x="0" y="244678"/>
                      <a:pt x="0" y="214192"/>
                    </a:cubicBezTo>
                    <a:lnTo>
                      <a:pt x="0" y="55200"/>
                    </a:lnTo>
                    <a:cubicBezTo>
                      <a:pt x="0" y="24714"/>
                      <a:pt x="24714" y="0"/>
                      <a:pt x="55200" y="0"/>
                    </a:cubicBezTo>
                    <a:close/>
                  </a:path>
                </a:pathLst>
              </a:custGeom>
              <a:solidFill>
                <a:srgbClr val="A919EA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829190" cy="307492"/>
              </a:xfrm>
              <a:prstGeom prst="rect">
                <a:avLst/>
              </a:prstGeom>
            </p:spPr>
            <p:txBody>
              <a:bodyPr lIns="115416" tIns="115416" rIns="115416" bIns="11541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1491866">
              <a:off x="6938407" y="2439581"/>
              <a:ext cx="2037442" cy="1828799"/>
              <a:chOff x="0" y="0"/>
              <a:chExt cx="812800" cy="7295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A919EA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115416" tIns="115416" rIns="115416" bIns="11541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66815" y="483366"/>
              <a:ext cx="8203598" cy="2074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4"/>
                </a:lnSpc>
                <a:spcBef>
                  <a:spcPct val="0"/>
                </a:spcBef>
              </a:pPr>
              <a:r>
                <a:rPr lang="en-US" sz="2726" spc="-13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Bawaslu Kepri Tegaskan </a:t>
              </a:r>
              <a:r>
                <a:rPr lang="en-US" sz="2726" spc="-13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Pemasangan Baliho Prabowo Gibran di Ikon Welcome to Batam Langgar Aturan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68861" y="946898"/>
            <a:ext cx="8409983" cy="9340102"/>
            <a:chOff x="0" y="0"/>
            <a:chExt cx="11213311" cy="12453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13311" cy="12453469"/>
            </a:xfrm>
            <a:custGeom>
              <a:avLst/>
              <a:gdLst/>
              <a:ahLst/>
              <a:cxnLst/>
              <a:rect l="l" t="t" r="r" b="b"/>
              <a:pathLst>
                <a:path w="11213311" h="12453469">
                  <a:moveTo>
                    <a:pt x="0" y="0"/>
                  </a:moveTo>
                  <a:lnTo>
                    <a:pt x="11213311" y="0"/>
                  </a:lnTo>
                  <a:lnTo>
                    <a:pt x="11213311" y="12453469"/>
                  </a:lnTo>
                  <a:lnTo>
                    <a:pt x="0" y="12453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1613402" y="6547446"/>
              <a:ext cx="658812" cy="65881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87861" y="6440573"/>
              <a:ext cx="287304" cy="368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22"/>
                </a:lnSpc>
                <a:spcBef>
                  <a:spcPct val="0"/>
                </a:spcBef>
              </a:pPr>
              <a:r>
                <a:rPr lang="en-US" sz="1659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3257465" y="7038765"/>
              <a:ext cx="658812" cy="65881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027671" y="6931890"/>
              <a:ext cx="291559" cy="368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22"/>
                </a:lnSpc>
                <a:spcBef>
                  <a:spcPct val="0"/>
                </a:spcBef>
              </a:pPr>
              <a:r>
                <a:rPr lang="en-US" sz="1659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348260" y="2570006"/>
              <a:ext cx="658812" cy="6588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113733" y="2463132"/>
              <a:ext cx="243513" cy="368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2"/>
                </a:lnSpc>
                <a:spcBef>
                  <a:spcPct val="0"/>
                </a:spcBef>
              </a:pPr>
              <a:r>
                <a:rPr lang="en-US" sz="165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912569" y="5819861"/>
              <a:ext cx="658812" cy="65881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673652" y="5712987"/>
              <a:ext cx="392109" cy="368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22"/>
                </a:lnSpc>
                <a:spcBef>
                  <a:spcPct val="0"/>
                </a:spcBef>
              </a:pPr>
              <a:r>
                <a:rPr lang="en-US" sz="1659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541768" y="9597238"/>
              <a:ext cx="658812" cy="65881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B1111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305730" y="9490364"/>
              <a:ext cx="297801" cy="368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22"/>
                </a:lnSpc>
                <a:spcBef>
                  <a:spcPct val="0"/>
                </a:spcBef>
              </a:pPr>
              <a:r>
                <a:rPr lang="en-US" sz="1659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</a:t>
              </a:r>
            </a:p>
          </p:txBody>
        </p:sp>
      </p:grpSp>
      <p:sp>
        <p:nvSpPr>
          <p:cNvPr id="24" name="Freeform 24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27" name="Freeform 27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9" t="-246963" r="-59111" b="-353463"/>
            </a:stretch>
          </a:blipFill>
        </p:spPr>
      </p:sp>
      <p:sp>
        <p:nvSpPr>
          <p:cNvPr id="28" name="Freeform 2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4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Graf Jaringan </a:t>
            </a:r>
          </a:p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388" y="8485683"/>
            <a:ext cx="1336565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Adanya cuitan-cuitan yang menggunakan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bahasa aggresif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seperti di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kluster 3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tata bahasa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serupa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kemungkinan kampanye tiap kluster berasa </a:t>
            </a:r>
            <a:r>
              <a:rPr lang="en-US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dari pengguna yang sama</a:t>
            </a:r>
          </a:p>
        </p:txBody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866388" y="3097868"/>
          <a:ext cx="11259313" cy="5212098"/>
        </p:xfrm>
        <a:graphic>
          <a:graphicData uri="http://schemas.openxmlformats.org/drawingml/2006/table">
            <a:tbl>
              <a:tblPr/>
              <a:tblGrid>
                <a:gridCol w="1682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160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Kampanye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Topik Kapanye yang Teramplifikasi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7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Amplifikasi frasa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“ANIES ROCKS DEBAT CAPRES”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76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Warga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Banjarnegara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yang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mendukung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paslon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Ganjar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141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Serangan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Terhadap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Prabowo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Anies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 dan Presiden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Jokowi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terutama terkait dengan isu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dinasti politik, korupsi,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dan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pelanggaran hukum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76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Dukungan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terhadap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“Abah Anies”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pada setiap aktivitasnya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77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Masalah paslon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Prabowo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terhadap 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pelanggaran peraturan pemasangan baliho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0333" y="3418751"/>
            <a:ext cx="5610189" cy="5249695"/>
          </a:xfrm>
          <a:custGeom>
            <a:avLst/>
            <a:gdLst/>
            <a:ahLst/>
            <a:cxnLst/>
            <a:rect l="l" t="t" r="r" b="b"/>
            <a:pathLst>
              <a:path w="5610189" h="5249695">
                <a:moveTo>
                  <a:pt x="0" y="0"/>
                </a:moveTo>
                <a:lnTo>
                  <a:pt x="5610189" y="0"/>
                </a:lnTo>
                <a:lnTo>
                  <a:pt x="5610189" y="5249695"/>
                </a:lnTo>
                <a:lnTo>
                  <a:pt x="0" y="5249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93276" y="2803384"/>
            <a:ext cx="5994391" cy="5865062"/>
          </a:xfrm>
          <a:custGeom>
            <a:avLst/>
            <a:gdLst/>
            <a:ahLst/>
            <a:cxnLst/>
            <a:rect l="l" t="t" r="r" b="b"/>
            <a:pathLst>
              <a:path w="5994391" h="5865062">
                <a:moveTo>
                  <a:pt x="0" y="0"/>
                </a:moveTo>
                <a:lnTo>
                  <a:pt x="5994391" y="0"/>
                </a:lnTo>
                <a:lnTo>
                  <a:pt x="5994391" y="5865062"/>
                </a:lnTo>
                <a:lnTo>
                  <a:pt x="0" y="586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135357" y="3139975"/>
            <a:ext cx="5629344" cy="5807247"/>
          </a:xfrm>
          <a:custGeom>
            <a:avLst/>
            <a:gdLst/>
            <a:ahLst/>
            <a:cxnLst/>
            <a:rect l="l" t="t" r="r" b="b"/>
            <a:pathLst>
              <a:path w="5629344" h="5807247">
                <a:moveTo>
                  <a:pt x="0" y="0"/>
                </a:moveTo>
                <a:lnTo>
                  <a:pt x="5629344" y="0"/>
                </a:lnTo>
                <a:lnTo>
                  <a:pt x="5629344" y="5807246"/>
                </a:lnTo>
                <a:lnTo>
                  <a:pt x="0" y="5807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 pada Jaringan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</p:spTree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7780" y="1809261"/>
            <a:ext cx="8510667" cy="7963797"/>
          </a:xfrm>
          <a:custGeom>
            <a:avLst/>
            <a:gdLst/>
            <a:ahLst/>
            <a:cxnLst/>
            <a:rect l="l" t="t" r="r" b="b"/>
            <a:pathLst>
              <a:path w="8510667" h="7963797">
                <a:moveTo>
                  <a:pt x="0" y="0"/>
                </a:moveTo>
                <a:lnTo>
                  <a:pt x="8510667" y="0"/>
                </a:lnTo>
                <a:lnTo>
                  <a:pt x="8510667" y="7963796"/>
                </a:lnTo>
                <a:lnTo>
                  <a:pt x="0" y="796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5" name="Freeform 5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63980" y="6529037"/>
            <a:ext cx="5579758" cy="2236577"/>
            <a:chOff x="0" y="0"/>
            <a:chExt cx="7439677" cy="298210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631750"/>
              <a:ext cx="7439677" cy="2350352"/>
              <a:chOff x="0" y="0"/>
              <a:chExt cx="756942" cy="23913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56942" cy="239134"/>
              </a:xfrm>
              <a:custGeom>
                <a:avLst/>
                <a:gdLst/>
                <a:ahLst/>
                <a:cxnLst/>
                <a:rect l="l" t="t" r="r" b="b"/>
                <a:pathLst>
                  <a:path w="756942" h="239134">
                    <a:moveTo>
                      <a:pt x="119567" y="0"/>
                    </a:moveTo>
                    <a:lnTo>
                      <a:pt x="637375" y="0"/>
                    </a:lnTo>
                    <a:cubicBezTo>
                      <a:pt x="703410" y="0"/>
                      <a:pt x="756942" y="53532"/>
                      <a:pt x="756942" y="119567"/>
                    </a:cubicBezTo>
                    <a:lnTo>
                      <a:pt x="756942" y="119567"/>
                    </a:lnTo>
                    <a:cubicBezTo>
                      <a:pt x="756942" y="151278"/>
                      <a:pt x="744344" y="181690"/>
                      <a:pt x="721921" y="204114"/>
                    </a:cubicBezTo>
                    <a:cubicBezTo>
                      <a:pt x="699498" y="226537"/>
                      <a:pt x="669086" y="239134"/>
                      <a:pt x="637375" y="239134"/>
                    </a:cubicBezTo>
                    <a:lnTo>
                      <a:pt x="119567" y="239134"/>
                    </a:lnTo>
                    <a:cubicBezTo>
                      <a:pt x="53532" y="239134"/>
                      <a:pt x="0" y="185602"/>
                      <a:pt x="0" y="119567"/>
                    </a:cubicBezTo>
                    <a:lnTo>
                      <a:pt x="0" y="119567"/>
                    </a:lnTo>
                    <a:cubicBezTo>
                      <a:pt x="0" y="53532"/>
                      <a:pt x="53532" y="0"/>
                      <a:pt x="119567" y="0"/>
                    </a:cubicBezTo>
                    <a:close/>
                  </a:path>
                </a:pathLst>
              </a:custGeom>
              <a:solidFill>
                <a:srgbClr val="B71F25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56942" cy="277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6050578">
              <a:off x="5637971" y="220594"/>
              <a:ext cx="1741041" cy="1562752"/>
              <a:chOff x="0" y="0"/>
              <a:chExt cx="812800" cy="7295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B71F2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5379" y="944820"/>
              <a:ext cx="6128919" cy="17811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2329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Sekali lagi kita tegaskan dengan track record dan ambisinya </a:t>
              </a:r>
              <a:r>
                <a:rPr lang="en-US" sz="2329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Anies Baswedan tidak layak bicara soal etika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68666" y="1930553"/>
            <a:ext cx="5971590" cy="3212947"/>
            <a:chOff x="0" y="0"/>
            <a:chExt cx="7962120" cy="4283930"/>
          </a:xfrm>
        </p:grpSpPr>
        <p:grpSp>
          <p:nvGrpSpPr>
            <p:cNvPr id="17" name="Group 17"/>
            <p:cNvGrpSpPr/>
            <p:nvPr/>
          </p:nvGrpSpPr>
          <p:grpSpPr>
            <a:xfrm>
              <a:off x="367906" y="0"/>
              <a:ext cx="7594214" cy="3203313"/>
              <a:chOff x="0" y="0"/>
              <a:chExt cx="772665" cy="32591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72665" cy="325918"/>
              </a:xfrm>
              <a:custGeom>
                <a:avLst/>
                <a:gdLst/>
                <a:ahLst/>
                <a:cxnLst/>
                <a:rect l="l" t="t" r="r" b="b"/>
                <a:pathLst>
                  <a:path w="772665" h="325918">
                    <a:moveTo>
                      <a:pt x="134586" y="0"/>
                    </a:moveTo>
                    <a:lnTo>
                      <a:pt x="638078" y="0"/>
                    </a:lnTo>
                    <a:cubicBezTo>
                      <a:pt x="673773" y="0"/>
                      <a:pt x="708005" y="14180"/>
                      <a:pt x="733245" y="39419"/>
                    </a:cubicBezTo>
                    <a:cubicBezTo>
                      <a:pt x="758485" y="64659"/>
                      <a:pt x="772665" y="98892"/>
                      <a:pt x="772665" y="134586"/>
                    </a:cubicBezTo>
                    <a:lnTo>
                      <a:pt x="772665" y="191331"/>
                    </a:lnTo>
                    <a:cubicBezTo>
                      <a:pt x="772665" y="227026"/>
                      <a:pt x="758485" y="261258"/>
                      <a:pt x="733245" y="286498"/>
                    </a:cubicBezTo>
                    <a:cubicBezTo>
                      <a:pt x="708005" y="311738"/>
                      <a:pt x="673773" y="325918"/>
                      <a:pt x="638078" y="325918"/>
                    </a:cubicBezTo>
                    <a:lnTo>
                      <a:pt x="134586" y="325918"/>
                    </a:lnTo>
                    <a:cubicBezTo>
                      <a:pt x="98892" y="325918"/>
                      <a:pt x="64659" y="311738"/>
                      <a:pt x="39419" y="286498"/>
                    </a:cubicBezTo>
                    <a:cubicBezTo>
                      <a:pt x="14180" y="261258"/>
                      <a:pt x="0" y="227026"/>
                      <a:pt x="0" y="191331"/>
                    </a:cubicBezTo>
                    <a:lnTo>
                      <a:pt x="0" y="134586"/>
                    </a:lnTo>
                    <a:cubicBezTo>
                      <a:pt x="0" y="98892"/>
                      <a:pt x="14180" y="64659"/>
                      <a:pt x="39419" y="39419"/>
                    </a:cubicBezTo>
                    <a:cubicBezTo>
                      <a:pt x="64659" y="14180"/>
                      <a:pt x="98892" y="0"/>
                      <a:pt x="134586" y="0"/>
                    </a:cubicBez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772665" cy="3640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2505456">
              <a:off x="299242" y="2339922"/>
              <a:ext cx="1741041" cy="1562752"/>
              <a:chOff x="0" y="0"/>
              <a:chExt cx="812800" cy="72956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37715" y="615466"/>
              <a:ext cx="6377967" cy="2200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2329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Semoga Allah SWT ijabah doa2 kita </a:t>
              </a:r>
              <a:r>
                <a:rPr lang="en-US" sz="2329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Ya Allah ridhai Anies Baswedan menjadi Presiden Indonesia</a:t>
              </a:r>
              <a:r>
                <a:rPr lang="en-US" sz="2329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pada pilpres thn 2024 ini Aamiin yaa rabbal alamin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 pada Jaringan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4D6FC26-0BA3-C0A5-AA8E-4713C188174D}"/>
              </a:ext>
            </a:extLst>
          </p:cNvPr>
          <p:cNvSpPr/>
          <p:nvPr/>
        </p:nvSpPr>
        <p:spPr>
          <a:xfrm>
            <a:off x="24020573" y="2628500"/>
            <a:ext cx="5994391" cy="5865062"/>
          </a:xfrm>
          <a:custGeom>
            <a:avLst/>
            <a:gdLst/>
            <a:ahLst/>
            <a:cxnLst/>
            <a:rect l="l" t="t" r="r" b="b"/>
            <a:pathLst>
              <a:path w="5994391" h="5865062">
                <a:moveTo>
                  <a:pt x="0" y="0"/>
                </a:moveTo>
                <a:lnTo>
                  <a:pt x="5994391" y="0"/>
                </a:lnTo>
                <a:lnTo>
                  <a:pt x="5994391" y="5865062"/>
                </a:lnTo>
                <a:lnTo>
                  <a:pt x="0" y="586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3E57C745-0DBA-F224-F635-84E7E61B87D1}"/>
              </a:ext>
            </a:extLst>
          </p:cNvPr>
          <p:cNvSpPr/>
          <p:nvPr/>
        </p:nvSpPr>
        <p:spPr>
          <a:xfrm>
            <a:off x="18362654" y="2965091"/>
            <a:ext cx="5629344" cy="5807247"/>
          </a:xfrm>
          <a:custGeom>
            <a:avLst/>
            <a:gdLst/>
            <a:ahLst/>
            <a:cxnLst/>
            <a:rect l="l" t="t" r="r" b="b"/>
            <a:pathLst>
              <a:path w="5629344" h="5807247">
                <a:moveTo>
                  <a:pt x="0" y="0"/>
                </a:moveTo>
                <a:lnTo>
                  <a:pt x="5629344" y="0"/>
                </a:lnTo>
                <a:lnTo>
                  <a:pt x="5629344" y="5807246"/>
                </a:lnTo>
                <a:lnTo>
                  <a:pt x="0" y="5807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4590160" y="1608182"/>
            <a:ext cx="8374881" cy="8240668"/>
          </a:xfrm>
          <a:custGeom>
            <a:avLst/>
            <a:gdLst/>
            <a:ahLst/>
            <a:cxnLst/>
            <a:rect l="l" t="t" r="r" b="b"/>
            <a:pathLst>
              <a:path w="8374881" h="8240668">
                <a:moveTo>
                  <a:pt x="0" y="0"/>
                </a:moveTo>
                <a:lnTo>
                  <a:pt x="8374881" y="0"/>
                </a:lnTo>
                <a:lnTo>
                  <a:pt x="8374881" y="8240668"/>
                </a:lnTo>
                <a:lnTo>
                  <a:pt x="0" y="824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 pada Jaringan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954" y="6895325"/>
            <a:ext cx="6316552" cy="2362975"/>
            <a:chOff x="0" y="0"/>
            <a:chExt cx="8422070" cy="315063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469324" cy="3150633"/>
              <a:chOff x="0" y="0"/>
              <a:chExt cx="772665" cy="32591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72665" cy="325918"/>
              </a:xfrm>
              <a:custGeom>
                <a:avLst/>
                <a:gdLst/>
                <a:ahLst/>
                <a:cxnLst/>
                <a:rect l="l" t="t" r="r" b="b"/>
                <a:pathLst>
                  <a:path w="772665" h="325918">
                    <a:moveTo>
                      <a:pt x="70482" y="0"/>
                    </a:moveTo>
                    <a:lnTo>
                      <a:pt x="702183" y="0"/>
                    </a:lnTo>
                    <a:cubicBezTo>
                      <a:pt x="720876" y="0"/>
                      <a:pt x="738803" y="7426"/>
                      <a:pt x="752021" y="20644"/>
                    </a:cubicBezTo>
                    <a:cubicBezTo>
                      <a:pt x="765239" y="33861"/>
                      <a:pt x="772665" y="51789"/>
                      <a:pt x="772665" y="70482"/>
                    </a:cubicBezTo>
                    <a:lnTo>
                      <a:pt x="772665" y="255436"/>
                    </a:lnTo>
                    <a:cubicBezTo>
                      <a:pt x="772665" y="274129"/>
                      <a:pt x="765239" y="292056"/>
                      <a:pt x="752021" y="305274"/>
                    </a:cubicBezTo>
                    <a:cubicBezTo>
                      <a:pt x="738803" y="318492"/>
                      <a:pt x="720876" y="325918"/>
                      <a:pt x="702183" y="325918"/>
                    </a:cubicBezTo>
                    <a:lnTo>
                      <a:pt x="70482" y="325918"/>
                    </a:lnTo>
                    <a:cubicBezTo>
                      <a:pt x="51789" y="325918"/>
                      <a:pt x="33861" y="318492"/>
                      <a:pt x="20644" y="305274"/>
                    </a:cubicBezTo>
                    <a:cubicBezTo>
                      <a:pt x="7426" y="292056"/>
                      <a:pt x="0" y="274129"/>
                      <a:pt x="0" y="255436"/>
                    </a:cubicBezTo>
                    <a:lnTo>
                      <a:pt x="0" y="70482"/>
                    </a:lnTo>
                    <a:cubicBezTo>
                      <a:pt x="0" y="51789"/>
                      <a:pt x="7426" y="33861"/>
                      <a:pt x="20644" y="20644"/>
                    </a:cubicBezTo>
                    <a:cubicBezTo>
                      <a:pt x="33861" y="7426"/>
                      <a:pt x="51789" y="0"/>
                      <a:pt x="70482" y="0"/>
                    </a:cubicBez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72665" cy="364018"/>
              </a:xfrm>
              <a:prstGeom prst="rect">
                <a:avLst/>
              </a:prstGeom>
            </p:spPr>
            <p:txBody>
              <a:bodyPr lIns="97004" tIns="97004" rIns="97004" bIns="97004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227487">
              <a:off x="6755359" y="967061"/>
              <a:ext cx="1712409" cy="1537051"/>
              <a:chOff x="0" y="0"/>
              <a:chExt cx="812800" cy="72956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97004" tIns="97004" rIns="97004" bIns="9700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68435" y="483270"/>
              <a:ext cx="6532454" cy="2145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4"/>
                </a:lnSpc>
                <a:spcBef>
                  <a:spcPct val="0"/>
                </a:spcBef>
              </a:pPr>
              <a:r>
                <a:rPr lang="en-US" sz="2291" spc="-10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Alasan</a:t>
              </a:r>
              <a:r>
                <a:rPr lang="en-US" sz="2291" spc="-10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mengapa kita mendukung dan memilih </a:t>
              </a:r>
              <a:r>
                <a:rPr lang="en-US" sz="2291" spc="-10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Prabowo Gibran</a:t>
              </a:r>
              <a:r>
                <a:rPr lang="en-US" sz="2291" spc="-10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agar apa yang sudah dibangun oleh presiden Jokowi </a:t>
              </a:r>
              <a:r>
                <a:rPr lang="en-US" sz="2291" spc="-10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dapat dilanjutkan oleh figur yang tepat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52860" y="1608182"/>
            <a:ext cx="6835140" cy="2984210"/>
            <a:chOff x="0" y="0"/>
            <a:chExt cx="942749" cy="4116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2749" cy="411602"/>
            </a:xfrm>
            <a:custGeom>
              <a:avLst/>
              <a:gdLst/>
              <a:ahLst/>
              <a:cxnLst/>
              <a:rect l="l" t="t" r="r" b="b"/>
              <a:pathLst>
                <a:path w="942749" h="411602">
                  <a:moveTo>
                    <a:pt x="57766" y="0"/>
                  </a:moveTo>
                  <a:lnTo>
                    <a:pt x="884983" y="0"/>
                  </a:lnTo>
                  <a:cubicBezTo>
                    <a:pt x="916886" y="0"/>
                    <a:pt x="942749" y="25863"/>
                    <a:pt x="942749" y="57766"/>
                  </a:cubicBezTo>
                  <a:lnTo>
                    <a:pt x="942749" y="353837"/>
                  </a:lnTo>
                  <a:cubicBezTo>
                    <a:pt x="942749" y="369157"/>
                    <a:pt x="936663" y="383850"/>
                    <a:pt x="925830" y="394683"/>
                  </a:cubicBezTo>
                  <a:cubicBezTo>
                    <a:pt x="914996" y="405516"/>
                    <a:pt x="900303" y="411602"/>
                    <a:pt x="884983" y="411602"/>
                  </a:cubicBezTo>
                  <a:lnTo>
                    <a:pt x="57766" y="411602"/>
                  </a:lnTo>
                  <a:cubicBezTo>
                    <a:pt x="42445" y="411602"/>
                    <a:pt x="27752" y="405516"/>
                    <a:pt x="16919" y="394683"/>
                  </a:cubicBezTo>
                  <a:cubicBezTo>
                    <a:pt x="6086" y="383850"/>
                    <a:pt x="0" y="369157"/>
                    <a:pt x="0" y="353837"/>
                  </a:cubicBezTo>
                  <a:lnTo>
                    <a:pt x="0" y="57766"/>
                  </a:lnTo>
                  <a:cubicBezTo>
                    <a:pt x="0" y="42445"/>
                    <a:pt x="6086" y="27752"/>
                    <a:pt x="16919" y="16919"/>
                  </a:cubicBezTo>
                  <a:cubicBezTo>
                    <a:pt x="27752" y="6086"/>
                    <a:pt x="42445" y="0"/>
                    <a:pt x="57766" y="0"/>
                  </a:cubicBezTo>
                  <a:close/>
                </a:path>
              </a:pathLst>
            </a:custGeom>
            <a:solidFill>
              <a:srgbClr val="B71F2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42749" cy="449703"/>
            </a:xfrm>
            <a:prstGeom prst="rect">
              <a:avLst/>
            </a:prstGeom>
          </p:spPr>
          <p:txBody>
            <a:bodyPr lIns="97004" tIns="97004" rIns="97004" bIns="9700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021997">
            <a:off x="10737566" y="3368000"/>
            <a:ext cx="695164" cy="1152789"/>
            <a:chOff x="0" y="0"/>
            <a:chExt cx="439949" cy="7295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9949" cy="729566"/>
            </a:xfrm>
            <a:custGeom>
              <a:avLst/>
              <a:gdLst/>
              <a:ahLst/>
              <a:cxnLst/>
              <a:rect l="l" t="t" r="r" b="b"/>
              <a:pathLst>
                <a:path w="439949" h="729566">
                  <a:moveTo>
                    <a:pt x="219975" y="729566"/>
                  </a:moveTo>
                  <a:lnTo>
                    <a:pt x="439949" y="0"/>
                  </a:lnTo>
                  <a:lnTo>
                    <a:pt x="0" y="0"/>
                  </a:lnTo>
                  <a:lnTo>
                    <a:pt x="219975" y="729566"/>
                  </a:lnTo>
                  <a:close/>
                </a:path>
              </a:pathLst>
            </a:custGeom>
            <a:solidFill>
              <a:srgbClr val="B71F2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8742" y="14012"/>
              <a:ext cx="302465" cy="376827"/>
            </a:xfrm>
            <a:prstGeom prst="rect">
              <a:avLst/>
            </a:prstGeom>
          </p:spPr>
          <p:txBody>
            <a:bodyPr lIns="97004" tIns="97004" rIns="97004" bIns="9700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696204" y="1806509"/>
            <a:ext cx="6199267" cy="254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sz="2291" spc="-10">
                <a:solidFill>
                  <a:srgbClr val="FFFFF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Sekali lagi kita kalahkan Prabowo</a:t>
            </a:r>
            <a:r>
              <a:rPr lang="en-US" sz="2291" spc="-10">
                <a:solidFill>
                  <a:srgbClr val="FFFFFF"/>
                </a:solidFill>
                <a:latin typeface="Evolventa"/>
                <a:ea typeface="Evolventa"/>
                <a:cs typeface="Evolventa"/>
                <a:sym typeface="Evolventa"/>
              </a:rPr>
              <a:t> yang kali ini berpasangan dengan </a:t>
            </a:r>
            <a:r>
              <a:rPr lang="en-US" sz="2291" spc="-10">
                <a:solidFill>
                  <a:srgbClr val="FFFFF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anak presiden pelanggar etika putusan MK. </a:t>
            </a:r>
            <a:r>
              <a:rPr lang="en-US" sz="2291" spc="-10">
                <a:solidFill>
                  <a:srgbClr val="FFFFFF"/>
                </a:solidFill>
                <a:latin typeface="Evolventa"/>
                <a:ea typeface="Evolventa"/>
                <a:cs typeface="Evolventa"/>
                <a:sym typeface="Evolventa"/>
              </a:rPr>
              <a:t>Dan janji yang tidak bisa dituntaskan Jokowi </a:t>
            </a:r>
            <a:r>
              <a:rPr lang="en-US" sz="2291" spc="-10">
                <a:solidFill>
                  <a:srgbClr val="FFFFF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soal kasus HAM karena punya utang jasa ke Prabowo</a:t>
            </a:r>
            <a:r>
              <a:rPr lang="en-US" sz="2291" spc="-10">
                <a:solidFill>
                  <a:srgbClr val="FFFFFF"/>
                </a:solidFill>
                <a:latin typeface="Evolventa"/>
                <a:ea typeface="Evolventa"/>
                <a:cs typeface="Evolventa"/>
                <a:sym typeface="Evolventa"/>
              </a:rPr>
              <a:t> biar dituntaskan Ganjar Mahfud Kekalahan Prabowo Gibran adalah kemenangan rakyat dan demokrasi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36CF6115-7AD0-8B63-B52E-2E7A80AB0BDD}"/>
              </a:ext>
            </a:extLst>
          </p:cNvPr>
          <p:cNvSpPr/>
          <p:nvPr/>
        </p:nvSpPr>
        <p:spPr>
          <a:xfrm>
            <a:off x="-5933045" y="3418751"/>
            <a:ext cx="5610189" cy="5249695"/>
          </a:xfrm>
          <a:custGeom>
            <a:avLst/>
            <a:gdLst/>
            <a:ahLst/>
            <a:cxnLst/>
            <a:rect l="l" t="t" r="r" b="b"/>
            <a:pathLst>
              <a:path w="5610189" h="5249695">
                <a:moveTo>
                  <a:pt x="0" y="0"/>
                </a:moveTo>
                <a:lnTo>
                  <a:pt x="5610189" y="0"/>
                </a:lnTo>
                <a:lnTo>
                  <a:pt x="5610189" y="5249695"/>
                </a:lnTo>
                <a:lnTo>
                  <a:pt x="0" y="52496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72FB501E-AEB9-1F04-B73A-AAF3ABC3CFC9}"/>
              </a:ext>
            </a:extLst>
          </p:cNvPr>
          <p:cNvSpPr/>
          <p:nvPr/>
        </p:nvSpPr>
        <p:spPr>
          <a:xfrm>
            <a:off x="18855708" y="2803384"/>
            <a:ext cx="5994391" cy="5865062"/>
          </a:xfrm>
          <a:custGeom>
            <a:avLst/>
            <a:gdLst/>
            <a:ahLst/>
            <a:cxnLst/>
            <a:rect l="l" t="t" r="r" b="b"/>
            <a:pathLst>
              <a:path w="5994391" h="5865062">
                <a:moveTo>
                  <a:pt x="0" y="0"/>
                </a:moveTo>
                <a:lnTo>
                  <a:pt x="5994391" y="0"/>
                </a:lnTo>
                <a:lnTo>
                  <a:pt x="5994391" y="5865062"/>
                </a:lnTo>
                <a:lnTo>
                  <a:pt x="0" y="586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068599" y="1873901"/>
            <a:ext cx="8150802" cy="7974949"/>
          </a:xfrm>
          <a:custGeom>
            <a:avLst/>
            <a:gdLst/>
            <a:ahLst/>
            <a:cxnLst/>
            <a:rect l="l" t="t" r="r" b="b"/>
            <a:pathLst>
              <a:path w="8150802" h="7974949">
                <a:moveTo>
                  <a:pt x="0" y="0"/>
                </a:moveTo>
                <a:lnTo>
                  <a:pt x="8150802" y="0"/>
                </a:lnTo>
                <a:lnTo>
                  <a:pt x="8150802" y="7974949"/>
                </a:lnTo>
                <a:lnTo>
                  <a:pt x="0" y="7974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6388" y="2004808"/>
            <a:ext cx="5045318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 pada Jaringan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66388" y="6353745"/>
            <a:ext cx="6140946" cy="2904555"/>
            <a:chOff x="0" y="0"/>
            <a:chExt cx="8187928" cy="387274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845617"/>
              <a:ext cx="8187928" cy="3027124"/>
              <a:chOff x="0" y="0"/>
              <a:chExt cx="784757" cy="29012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84757" cy="290129"/>
              </a:xfrm>
              <a:custGeom>
                <a:avLst/>
                <a:gdLst/>
                <a:ahLst/>
                <a:cxnLst/>
                <a:rect l="l" t="t" r="r" b="b"/>
                <a:pathLst>
                  <a:path w="784757" h="290129">
                    <a:moveTo>
                      <a:pt x="64296" y="0"/>
                    </a:moveTo>
                    <a:lnTo>
                      <a:pt x="720461" y="0"/>
                    </a:lnTo>
                    <a:cubicBezTo>
                      <a:pt x="755971" y="0"/>
                      <a:pt x="784757" y="28786"/>
                      <a:pt x="784757" y="64296"/>
                    </a:cubicBezTo>
                    <a:lnTo>
                      <a:pt x="784757" y="225833"/>
                    </a:lnTo>
                    <a:cubicBezTo>
                      <a:pt x="784757" y="261343"/>
                      <a:pt x="755971" y="290129"/>
                      <a:pt x="720461" y="290129"/>
                    </a:cubicBezTo>
                    <a:lnTo>
                      <a:pt x="64296" y="290129"/>
                    </a:lnTo>
                    <a:cubicBezTo>
                      <a:pt x="47244" y="290129"/>
                      <a:pt x="30890" y="283355"/>
                      <a:pt x="18832" y="271297"/>
                    </a:cubicBezTo>
                    <a:cubicBezTo>
                      <a:pt x="6774" y="259240"/>
                      <a:pt x="0" y="242886"/>
                      <a:pt x="0" y="225833"/>
                    </a:cubicBezTo>
                    <a:lnTo>
                      <a:pt x="0" y="64296"/>
                    </a:lnTo>
                    <a:cubicBezTo>
                      <a:pt x="0" y="28786"/>
                      <a:pt x="28786" y="0"/>
                      <a:pt x="64296" y="0"/>
                    </a:cubicBez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784757" cy="328229"/>
              </a:xfrm>
              <a:prstGeom prst="rect">
                <a:avLst/>
              </a:prstGeom>
            </p:spPr>
            <p:txBody>
              <a:bodyPr lIns="104698" tIns="104698" rIns="104698" bIns="10469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590191">
              <a:off x="5901853" y="139086"/>
              <a:ext cx="1848230" cy="1658964"/>
              <a:chOff x="0" y="0"/>
              <a:chExt cx="812800" cy="72956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29566">
                    <a:moveTo>
                      <a:pt x="406400" y="729566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29566"/>
                    </a:lnTo>
                    <a:close/>
                  </a:path>
                </a:pathLst>
              </a:custGeom>
              <a:solidFill>
                <a:srgbClr val="1F745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14012"/>
                <a:ext cx="558800" cy="376827"/>
              </a:xfrm>
              <a:prstGeom prst="rect">
                <a:avLst/>
              </a:prstGeom>
            </p:spPr>
            <p:txBody>
              <a:bodyPr lIns="104698" tIns="104698" rIns="104698" bIns="104698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95728" y="1181479"/>
              <a:ext cx="6869026" cy="2332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1"/>
                </a:lnSpc>
                <a:spcBef>
                  <a:spcPct val="0"/>
                </a:spcBef>
              </a:pP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Pemimpin yang</a:t>
              </a:r>
              <a:r>
                <a:rPr lang="en-US" sz="2473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 merakyat dan punya hati</a:t>
              </a: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untuk Indonesia </a:t>
              </a:r>
              <a:r>
                <a:rPr lang="en-US" sz="2473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Ganjar Pranowo Mahfud MD</a:t>
              </a: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adalah </a:t>
              </a:r>
              <a:r>
                <a:rPr lang="en-US" sz="2473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pilihan terbaik</a:t>
              </a: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di Pilpres 2024 Ayo sukseskan bersama JNK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72261" y="3290536"/>
            <a:ext cx="6955716" cy="3382572"/>
            <a:chOff x="0" y="0"/>
            <a:chExt cx="9274288" cy="4510096"/>
          </a:xfrm>
        </p:grpSpPr>
        <p:grpSp>
          <p:nvGrpSpPr>
            <p:cNvPr id="19" name="Group 19"/>
            <p:cNvGrpSpPr/>
            <p:nvPr/>
          </p:nvGrpSpPr>
          <p:grpSpPr>
            <a:xfrm>
              <a:off x="377318" y="0"/>
              <a:ext cx="8896969" cy="3400528"/>
              <a:chOff x="0" y="0"/>
              <a:chExt cx="852714" cy="32591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52714" cy="325918"/>
              </a:xfrm>
              <a:custGeom>
                <a:avLst/>
                <a:gdLst/>
                <a:ahLst/>
                <a:cxnLst/>
                <a:rect l="l" t="t" r="r" b="b"/>
                <a:pathLst>
                  <a:path w="852714" h="325918">
                    <a:moveTo>
                      <a:pt x="121952" y="0"/>
                    </a:moveTo>
                    <a:lnTo>
                      <a:pt x="730762" y="0"/>
                    </a:lnTo>
                    <a:cubicBezTo>
                      <a:pt x="798114" y="0"/>
                      <a:pt x="852714" y="54600"/>
                      <a:pt x="852714" y="121952"/>
                    </a:cubicBezTo>
                    <a:lnTo>
                      <a:pt x="852714" y="203965"/>
                    </a:lnTo>
                    <a:cubicBezTo>
                      <a:pt x="852714" y="236309"/>
                      <a:pt x="839866" y="267328"/>
                      <a:pt x="816995" y="290199"/>
                    </a:cubicBezTo>
                    <a:cubicBezTo>
                      <a:pt x="794125" y="313069"/>
                      <a:pt x="763106" y="325918"/>
                      <a:pt x="730762" y="325918"/>
                    </a:cubicBezTo>
                    <a:lnTo>
                      <a:pt x="121952" y="325918"/>
                    </a:lnTo>
                    <a:cubicBezTo>
                      <a:pt x="89608" y="325918"/>
                      <a:pt x="58589" y="313069"/>
                      <a:pt x="35719" y="290199"/>
                    </a:cubicBezTo>
                    <a:cubicBezTo>
                      <a:pt x="12848" y="267328"/>
                      <a:pt x="0" y="236309"/>
                      <a:pt x="0" y="203965"/>
                    </a:cubicBezTo>
                    <a:lnTo>
                      <a:pt x="0" y="121952"/>
                    </a:lnTo>
                    <a:cubicBezTo>
                      <a:pt x="0" y="89608"/>
                      <a:pt x="12848" y="58589"/>
                      <a:pt x="35719" y="35719"/>
                    </a:cubicBezTo>
                    <a:cubicBezTo>
                      <a:pt x="58589" y="12848"/>
                      <a:pt x="89608" y="0"/>
                      <a:pt x="121952" y="0"/>
                    </a:cubicBezTo>
                    <a:close/>
                  </a:path>
                </a:pathLst>
              </a:custGeom>
              <a:solidFill>
                <a:srgbClr val="B71F25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52714" cy="3640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505456">
              <a:off x="331999" y="2483981"/>
              <a:ext cx="1735379" cy="1658964"/>
              <a:chOff x="0" y="0"/>
              <a:chExt cx="763171" cy="72956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171" cy="729566"/>
              </a:xfrm>
              <a:custGeom>
                <a:avLst/>
                <a:gdLst/>
                <a:ahLst/>
                <a:cxnLst/>
                <a:rect l="l" t="t" r="r" b="b"/>
                <a:pathLst>
                  <a:path w="763171" h="729566">
                    <a:moveTo>
                      <a:pt x="381586" y="729566"/>
                    </a:moveTo>
                    <a:lnTo>
                      <a:pt x="763171" y="0"/>
                    </a:lnTo>
                    <a:lnTo>
                      <a:pt x="0" y="0"/>
                    </a:lnTo>
                    <a:lnTo>
                      <a:pt x="381586" y="729566"/>
                    </a:lnTo>
                    <a:close/>
                  </a:path>
                </a:pathLst>
              </a:custGeom>
              <a:solidFill>
                <a:srgbClr val="B71F25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9245" y="14012"/>
                <a:ext cx="524680" cy="3768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822774" y="283090"/>
              <a:ext cx="7850851" cy="2777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1"/>
                </a:lnSpc>
                <a:spcBef>
                  <a:spcPct val="0"/>
                </a:spcBef>
              </a:pP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lang="en-US" sz="2473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Ganjar memang memprihatinkan</a:t>
              </a: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Di awal suara Ganjar dominan mengalahkan dua pesaingnya Tapi kini suara </a:t>
              </a:r>
              <a:r>
                <a:rPr lang="en-US" sz="2473" spc="-11">
                  <a:solidFill>
                    <a:srgbClr val="FFFFFF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Ganjar terus drop</a:t>
              </a:r>
              <a:r>
                <a:rPr lang="en-US" sz="2473" spc="-11">
                  <a:solidFill>
                    <a:srgbClr val="FFFFFF"/>
                  </a:solidFill>
                  <a:latin typeface="Evolventa"/>
                  <a:ea typeface="Evolventa"/>
                  <a:cs typeface="Evolventa"/>
                  <a:sym typeface="Evolventa"/>
                </a:rPr>
                <a:t> sementara Prabowo semakin mungkin mewujudkan pemilu satu putaran</a:t>
              </a:r>
            </a:p>
          </p:txBody>
        </p:sp>
      </p:grpSp>
      <p:sp>
        <p:nvSpPr>
          <p:cNvPr id="26" name="Freeform 6">
            <a:extLst>
              <a:ext uri="{FF2B5EF4-FFF2-40B4-BE49-F238E27FC236}">
                <a16:creationId xmlns:a16="http://schemas.microsoft.com/office/drawing/2014/main" id="{5E27377C-B97C-EAEA-D66F-D17F5503D53E}"/>
              </a:ext>
            </a:extLst>
          </p:cNvPr>
          <p:cNvSpPr/>
          <p:nvPr/>
        </p:nvSpPr>
        <p:spPr>
          <a:xfrm>
            <a:off x="-11477273" y="3418751"/>
            <a:ext cx="5610189" cy="5249695"/>
          </a:xfrm>
          <a:custGeom>
            <a:avLst/>
            <a:gdLst/>
            <a:ahLst/>
            <a:cxnLst/>
            <a:rect l="l" t="t" r="r" b="b"/>
            <a:pathLst>
              <a:path w="5610189" h="5249695">
                <a:moveTo>
                  <a:pt x="0" y="0"/>
                </a:moveTo>
                <a:lnTo>
                  <a:pt x="5610189" y="0"/>
                </a:lnTo>
                <a:lnTo>
                  <a:pt x="5610189" y="5249695"/>
                </a:lnTo>
                <a:lnTo>
                  <a:pt x="0" y="52496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E14449C3-06D2-2651-8EF3-313AF6F688EA}"/>
              </a:ext>
            </a:extLst>
          </p:cNvPr>
          <p:cNvSpPr/>
          <p:nvPr/>
        </p:nvSpPr>
        <p:spPr>
          <a:xfrm>
            <a:off x="-5842249" y="3139975"/>
            <a:ext cx="5629344" cy="5807247"/>
          </a:xfrm>
          <a:custGeom>
            <a:avLst/>
            <a:gdLst/>
            <a:ahLst/>
            <a:cxnLst/>
            <a:rect l="l" t="t" r="r" b="b"/>
            <a:pathLst>
              <a:path w="5629344" h="5807247">
                <a:moveTo>
                  <a:pt x="0" y="0"/>
                </a:moveTo>
                <a:lnTo>
                  <a:pt x="5629344" y="0"/>
                </a:lnTo>
                <a:lnTo>
                  <a:pt x="5629344" y="5807246"/>
                </a:lnTo>
                <a:lnTo>
                  <a:pt x="0" y="5807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4988" y="3166360"/>
            <a:ext cx="16838023" cy="5297768"/>
          </a:xfrm>
          <a:custGeom>
            <a:avLst/>
            <a:gdLst/>
            <a:ahLst/>
            <a:cxnLst/>
            <a:rect l="l" t="t" r="r" b="b"/>
            <a:pathLst>
              <a:path w="16838023" h="5297768">
                <a:moveTo>
                  <a:pt x="0" y="0"/>
                </a:moveTo>
                <a:lnTo>
                  <a:pt x="16838024" y="0"/>
                </a:lnTo>
                <a:lnTo>
                  <a:pt x="16838024" y="5297768"/>
                </a:lnTo>
                <a:lnTo>
                  <a:pt x="0" y="5297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87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87393" y="1491616"/>
            <a:ext cx="6313215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Distribusi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pada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Timeline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Peristiwa Penting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8890" y="2818696"/>
            <a:ext cx="292606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Anies Imin Stances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1408" y="2818696"/>
            <a:ext cx="379888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Prabowo Gibran Stances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08015" y="2818696"/>
            <a:ext cx="3753356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Ganjar</a:t>
            </a:r>
            <a:r>
              <a:rPr lang="en-US" sz="24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Mahfud Stances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47258" y="1858996"/>
            <a:ext cx="4042012" cy="424974"/>
            <a:chOff x="0" y="0"/>
            <a:chExt cx="5389350" cy="56663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65149" cy="566632"/>
              <a:chOff x="0" y="0"/>
              <a:chExt cx="111634" cy="11192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779EC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57584" y="-45614"/>
              <a:ext cx="13716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3018634" y="0"/>
              <a:ext cx="565149" cy="566632"/>
              <a:chOff x="0" y="0"/>
              <a:chExt cx="111634" cy="11192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FF985A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676217" y="-45614"/>
              <a:ext cx="1713133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Kontra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474950" y="8639810"/>
            <a:ext cx="5219560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Paslon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Prabowo Gibran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memiliki proporsi konten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kontra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lebih banyak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dibandingkan paslon lainnya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46910" y="8639810"/>
            <a:ext cx="7232659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Proporsi kampanye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kontra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meningkat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signifikan pada setelah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debat ke-3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bertahan tinggi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hingga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beberapa hari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setelah debat berlangsung  </a:t>
            </a:r>
          </a:p>
        </p:txBody>
      </p:sp>
    </p:spTree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6999" y="5143500"/>
            <a:ext cx="3599284" cy="1892056"/>
          </a:xfrm>
          <a:custGeom>
            <a:avLst/>
            <a:gdLst/>
            <a:ahLst/>
            <a:cxnLst/>
            <a:rect l="l" t="t" r="r" b="b"/>
            <a:pathLst>
              <a:path w="3599284" h="1892056">
                <a:moveTo>
                  <a:pt x="0" y="0"/>
                </a:moveTo>
                <a:lnTo>
                  <a:pt x="3599284" y="0"/>
                </a:lnTo>
                <a:lnTo>
                  <a:pt x="3599284" y="1892056"/>
                </a:lnTo>
                <a:lnTo>
                  <a:pt x="0" y="1892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06577" y="2161001"/>
            <a:ext cx="7519618" cy="6736444"/>
          </a:xfrm>
          <a:prstGeom prst="rect">
            <a:avLst/>
          </a:prstGeom>
        </p:spPr>
      </p:pic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272103" y="5142099"/>
            <a:ext cx="3460104" cy="1893457"/>
          </a:xfrm>
          <a:custGeom>
            <a:avLst/>
            <a:gdLst/>
            <a:ahLst/>
            <a:cxnLst/>
            <a:rect l="l" t="t" r="r" b="b"/>
            <a:pathLst>
              <a:path w="3460104" h="1893457">
                <a:moveTo>
                  <a:pt x="0" y="0"/>
                </a:moveTo>
                <a:lnTo>
                  <a:pt x="3460104" y="0"/>
                </a:lnTo>
                <a:lnTo>
                  <a:pt x="3460104" y="1893457"/>
                </a:lnTo>
                <a:lnTo>
                  <a:pt x="0" y="1893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4099"/>
            </a:stretch>
          </a:blip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239" y="2151087"/>
            <a:ext cx="7340129" cy="6731401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>
            <a:off x="13507316" y="5142099"/>
            <a:ext cx="3485933" cy="1832470"/>
          </a:xfrm>
          <a:custGeom>
            <a:avLst/>
            <a:gdLst/>
            <a:ahLst/>
            <a:cxnLst/>
            <a:rect l="l" t="t" r="r" b="b"/>
            <a:pathLst>
              <a:path w="3485933" h="1832470">
                <a:moveTo>
                  <a:pt x="0" y="0"/>
                </a:moveTo>
                <a:lnTo>
                  <a:pt x="3485932" y="0"/>
                </a:lnTo>
                <a:lnTo>
                  <a:pt x="3485932" y="1832470"/>
                </a:lnTo>
                <a:lnTo>
                  <a:pt x="0" y="18324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9283" y="2164099"/>
            <a:ext cx="7188620" cy="6705761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5849082" y="9045813"/>
            <a:ext cx="1521888" cy="424974"/>
            <a:chOff x="0" y="0"/>
            <a:chExt cx="2029184" cy="566632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65149" cy="566632"/>
              <a:chOff x="0" y="0"/>
              <a:chExt cx="111634" cy="11192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FFFFB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57584" y="-45614"/>
              <a:ext cx="13716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vulgar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66345" y="9045813"/>
            <a:ext cx="1583918" cy="424974"/>
            <a:chOff x="0" y="0"/>
            <a:chExt cx="2111891" cy="56663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88184" cy="566632"/>
              <a:chOff x="0" y="0"/>
              <a:chExt cx="116184" cy="11192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618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6184" h="111927">
                    <a:moveTo>
                      <a:pt x="0" y="0"/>
                    </a:moveTo>
                    <a:lnTo>
                      <a:pt x="116184" y="0"/>
                    </a:lnTo>
                    <a:lnTo>
                      <a:pt x="11618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99D594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1618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84386" y="-45614"/>
              <a:ext cx="1427505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Sopan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41358" y="9045813"/>
            <a:ext cx="1521888" cy="424974"/>
            <a:chOff x="0" y="0"/>
            <a:chExt cx="2029184" cy="566632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65149" cy="566632"/>
              <a:chOff x="0" y="0"/>
              <a:chExt cx="111634" cy="11192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FC8D59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57584" y="-45614"/>
              <a:ext cx="13716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SARA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624755" y="1491616"/>
            <a:ext cx="7038490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Distribusi Civility pada Cuitan dengan S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tance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Kontra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058" y="1795370"/>
            <a:ext cx="4374952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Proporsi Cuitan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kontra Anies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megandung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 terbanyak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31601" y="8597232"/>
            <a:ext cx="5255213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Pada cuitan yang kontra masih terdapat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&gt;25%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mengandung unsur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Vulgar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65546" y="2915453"/>
            <a:ext cx="17585515" cy="5799583"/>
          </a:xfrm>
          <a:custGeom>
            <a:avLst/>
            <a:gdLst/>
            <a:ahLst/>
            <a:cxnLst/>
            <a:rect l="l" t="t" r="r" b="b"/>
            <a:pathLst>
              <a:path w="17585515" h="5799583">
                <a:moveTo>
                  <a:pt x="0" y="0"/>
                </a:moveTo>
                <a:lnTo>
                  <a:pt x="17585515" y="0"/>
                </a:lnTo>
                <a:lnTo>
                  <a:pt x="17585515" y="5799583"/>
                </a:lnTo>
                <a:lnTo>
                  <a:pt x="0" y="5799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87393" y="1491616"/>
            <a:ext cx="6313215" cy="109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Distribusi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pada </a:t>
            </a: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Timeline 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Peristiwa Penting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849082" y="9045813"/>
            <a:ext cx="1521888" cy="424974"/>
            <a:chOff x="0" y="0"/>
            <a:chExt cx="2029184" cy="56663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65149" cy="566632"/>
              <a:chOff x="0" y="0"/>
              <a:chExt cx="111634" cy="11192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FFFFB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57584" y="-45614"/>
              <a:ext cx="13716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vulgar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66345" y="9045813"/>
            <a:ext cx="1583918" cy="424974"/>
            <a:chOff x="0" y="0"/>
            <a:chExt cx="2111891" cy="56663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88184" cy="566632"/>
              <a:chOff x="0" y="0"/>
              <a:chExt cx="116184" cy="11192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618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6184" h="111927">
                    <a:moveTo>
                      <a:pt x="0" y="0"/>
                    </a:moveTo>
                    <a:lnTo>
                      <a:pt x="116184" y="0"/>
                    </a:lnTo>
                    <a:lnTo>
                      <a:pt x="11618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99D594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1618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84386" y="-45614"/>
              <a:ext cx="1427505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Sopan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141358" y="9045813"/>
            <a:ext cx="1521888" cy="424974"/>
            <a:chOff x="0" y="0"/>
            <a:chExt cx="2029184" cy="566632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565149" cy="566632"/>
              <a:chOff x="0" y="0"/>
              <a:chExt cx="111634" cy="11192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1634" cy="111927"/>
              </a:xfrm>
              <a:custGeom>
                <a:avLst/>
                <a:gdLst/>
                <a:ahLst/>
                <a:cxnLst/>
                <a:rect l="l" t="t" r="r" b="b"/>
                <a:pathLst>
                  <a:path w="111634" h="111927">
                    <a:moveTo>
                      <a:pt x="0" y="0"/>
                    </a:moveTo>
                    <a:lnTo>
                      <a:pt x="111634" y="0"/>
                    </a:lnTo>
                    <a:lnTo>
                      <a:pt x="111634" y="111927"/>
                    </a:lnTo>
                    <a:lnTo>
                      <a:pt x="0" y="111927"/>
                    </a:lnTo>
                    <a:close/>
                  </a:path>
                </a:pathLst>
              </a:custGeom>
              <a:solidFill>
                <a:srgbClr val="FC8D5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11634" cy="150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57584" y="-45614"/>
              <a:ext cx="1371600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SARA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63245" y="8689657"/>
            <a:ext cx="5452689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Lonjakan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cuitan yang mengandung </a:t>
            </a:r>
            <a:r>
              <a:rPr lang="en-US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vulgar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terjadi setelah </a:t>
            </a:r>
            <a:r>
              <a:rPr lang="en-US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debat ke-3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terjadi pada paslon </a:t>
            </a:r>
            <a:r>
              <a:rPr lang="en-US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Anies imin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Prabowo Gibran</a:t>
            </a:r>
          </a:p>
        </p:txBody>
      </p:sp>
    </p:spTree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32442" y="3129962"/>
            <a:ext cx="1296159" cy="1059610"/>
          </a:xfrm>
          <a:custGeom>
            <a:avLst/>
            <a:gdLst/>
            <a:ahLst/>
            <a:cxnLst/>
            <a:rect l="l" t="t" r="r" b="b"/>
            <a:pathLst>
              <a:path w="1296159" h="1059610">
                <a:moveTo>
                  <a:pt x="0" y="0"/>
                </a:moveTo>
                <a:lnTo>
                  <a:pt x="1296158" y="0"/>
                </a:lnTo>
                <a:lnTo>
                  <a:pt x="1296158" y="1059610"/>
                </a:lnTo>
                <a:lnTo>
                  <a:pt x="0" y="105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32442" y="5468383"/>
            <a:ext cx="1296159" cy="1059610"/>
          </a:xfrm>
          <a:custGeom>
            <a:avLst/>
            <a:gdLst/>
            <a:ahLst/>
            <a:cxnLst/>
            <a:rect l="l" t="t" r="r" b="b"/>
            <a:pathLst>
              <a:path w="1296159" h="1059610">
                <a:moveTo>
                  <a:pt x="0" y="0"/>
                </a:moveTo>
                <a:lnTo>
                  <a:pt x="1296158" y="0"/>
                </a:lnTo>
                <a:lnTo>
                  <a:pt x="1296158" y="1059609"/>
                </a:lnTo>
                <a:lnTo>
                  <a:pt x="0" y="105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26420" y="7647838"/>
            <a:ext cx="1296159" cy="1059610"/>
          </a:xfrm>
          <a:custGeom>
            <a:avLst/>
            <a:gdLst/>
            <a:ahLst/>
            <a:cxnLst/>
            <a:rect l="l" t="t" r="r" b="b"/>
            <a:pathLst>
              <a:path w="1296159" h="1059610">
                <a:moveTo>
                  <a:pt x="0" y="0"/>
                </a:moveTo>
                <a:lnTo>
                  <a:pt x="1296159" y="0"/>
                </a:lnTo>
                <a:lnTo>
                  <a:pt x="1296159" y="1059610"/>
                </a:lnTo>
                <a:lnTo>
                  <a:pt x="0" y="105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928190" y="1654900"/>
            <a:ext cx="926218" cy="937943"/>
          </a:xfrm>
          <a:custGeom>
            <a:avLst/>
            <a:gdLst/>
            <a:ahLst/>
            <a:cxnLst/>
            <a:rect l="l" t="t" r="r" b="b"/>
            <a:pathLst>
              <a:path w="926218" h="937943">
                <a:moveTo>
                  <a:pt x="0" y="0"/>
                </a:moveTo>
                <a:lnTo>
                  <a:pt x="926219" y="0"/>
                </a:lnTo>
                <a:lnTo>
                  <a:pt x="926219" y="937942"/>
                </a:lnTo>
                <a:lnTo>
                  <a:pt x="0" y="9379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046595" y="1977391"/>
            <a:ext cx="6313215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Insight Hasil Analisis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98460" y="5579722"/>
            <a:ext cx="1116312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Kegiatan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diskusi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atau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debat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melibatkan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ketiga paslon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dapat memberikan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gejolak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perubahan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stance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kesopanan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pada cuitan di sosial media 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02250" y="7759178"/>
            <a:ext cx="1125933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Masih terdapat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banyak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cuitan yang mengandung unsur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Vulgar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atau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yang berpotensi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melanggar undang-undang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8460" y="3234737"/>
            <a:ext cx="1116312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Jaringan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lexical mutations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efektif dalam mengidentifikasi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pola kampanye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pemilu di </a:t>
            </a:r>
            <a:r>
              <a:rPr lang="en-US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media sosial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untuk Pemilu Presiden Indonesia 2024</a:t>
            </a:r>
          </a:p>
        </p:txBody>
      </p:sp>
    </p:spTree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377440" y="3665220"/>
            <a:ext cx="13533120" cy="277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spc="-36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Potensi</a:t>
            </a:r>
          </a:p>
          <a:p>
            <a:pPr algn="ctr">
              <a:lnSpc>
                <a:spcPts val="9720"/>
              </a:lnSpc>
            </a:pPr>
            <a:r>
              <a:rPr lang="en-US" sz="9000" spc="-4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Penerapan</a:t>
            </a:r>
          </a:p>
        </p:txBody>
      </p: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7" name="Freeform 7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2044066"/>
            <a:ext cx="16247001" cy="7656399"/>
          </a:xfrm>
          <a:custGeom>
            <a:avLst/>
            <a:gdLst/>
            <a:ahLst/>
            <a:cxnLst/>
            <a:rect l="l" t="t" r="r" b="b"/>
            <a:pathLst>
              <a:path w="16247001" h="7656399">
                <a:moveTo>
                  <a:pt x="0" y="0"/>
                </a:moveTo>
                <a:lnTo>
                  <a:pt x="16247001" y="0"/>
                </a:lnTo>
                <a:lnTo>
                  <a:pt x="16247001" y="7656399"/>
                </a:lnTo>
                <a:lnTo>
                  <a:pt x="0" y="7656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87393" y="1977391"/>
            <a:ext cx="6313215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Arsitektur MLOps</a:t>
            </a:r>
          </a:p>
        </p:txBody>
      </p:sp>
    </p:spTree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4" name="Freeform 4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19" t="-246963" r="-59111" b="-353463"/>
            </a:stretch>
          </a:blipFill>
        </p:spPr>
      </p:sp>
      <p:sp>
        <p:nvSpPr>
          <p:cNvPr id="5" name="Freeform 5" descr="A red lines on a black background  Description automatically generated"/>
          <p:cNvSpPr/>
          <p:nvPr/>
        </p:nvSpPr>
        <p:spPr>
          <a:xfrm>
            <a:off x="16013430" y="-1964464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40" y="0"/>
                </a:lnTo>
                <a:lnTo>
                  <a:pt x="4549140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9654" y="2624937"/>
            <a:ext cx="16828692" cy="6745501"/>
          </a:xfrm>
          <a:custGeom>
            <a:avLst/>
            <a:gdLst/>
            <a:ahLst/>
            <a:cxnLst/>
            <a:rect l="l" t="t" r="r" b="b"/>
            <a:pathLst>
              <a:path w="16828692" h="6745501">
                <a:moveTo>
                  <a:pt x="0" y="0"/>
                </a:moveTo>
                <a:lnTo>
                  <a:pt x="16828692" y="0"/>
                </a:lnTo>
                <a:lnTo>
                  <a:pt x="16828692" y="6745501"/>
                </a:lnTo>
                <a:lnTo>
                  <a:pt x="0" y="6745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87393" y="1977391"/>
            <a:ext cx="6313215" cy="60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598" spc="-17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Continuous Training</a:t>
            </a:r>
            <a:r>
              <a:rPr lang="en-US" sz="3598" spc="-17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 (CT)</a:t>
            </a:r>
          </a:p>
        </p:txBody>
      </p:sp>
    </p:spTree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5" name="Freeform 5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6" name="Freeform 6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32941" y="7062658"/>
            <a:ext cx="2004184" cy="2242443"/>
          </a:xfrm>
          <a:custGeom>
            <a:avLst/>
            <a:gdLst/>
            <a:ahLst/>
            <a:cxnLst/>
            <a:rect l="l" t="t" r="r" b="b"/>
            <a:pathLst>
              <a:path w="2004184" h="2242443">
                <a:moveTo>
                  <a:pt x="0" y="0"/>
                </a:moveTo>
                <a:lnTo>
                  <a:pt x="2004184" y="0"/>
                </a:lnTo>
                <a:lnTo>
                  <a:pt x="2004184" y="2242444"/>
                </a:lnTo>
                <a:lnTo>
                  <a:pt x="0" y="224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77440" y="1486050"/>
            <a:ext cx="1353312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000" spc="-2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Rekomendasi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7440" y="2303818"/>
            <a:ext cx="13533120" cy="383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Untuk penelitian selanjutnya, konsep </a:t>
            </a:r>
            <a:r>
              <a:rPr lang="en-US" sz="240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Lexical Mutant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dapat diterapkan dalam analisis jaringan sosial sambil tetap menjaga privasi pengguna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Dengan memahami </a:t>
            </a:r>
            <a:r>
              <a:rPr lang="en-US" sz="240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</a:t>
            </a:r>
            <a:r>
              <a:rPr lang="en-US" sz="2400">
                <a:solidFill>
                  <a:srgbClr val="000000"/>
                </a:solidFill>
                <a:latin typeface="Evolventa Italics"/>
                <a:ea typeface="Evolventa Italics"/>
                <a:cs typeface="Evolventa Italics"/>
                <a:sym typeface="Evolventa Italics"/>
              </a:rPr>
              <a:t>,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tim kampanye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dapat mengembangkan strategi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kampanye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lebih terarah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Dari hasil analisis </a:t>
            </a:r>
            <a:r>
              <a:rPr lang="en-US" sz="240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,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tim kampanye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dapat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mengarahkan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masyarakat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dan para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relawan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dalam penggunaan sosial media untuk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lebih bijak, 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terutama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setelah 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kegiatan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debat/diskusi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melibatkan ketiga Paslon.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Pemerintah dapat memanfaatkan model </a:t>
            </a:r>
            <a:r>
              <a:rPr lang="en-US" sz="240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stance 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dan </a:t>
            </a:r>
            <a:r>
              <a:rPr lang="en-US" sz="2400">
                <a:solidFill>
                  <a:srgbClr val="000000"/>
                </a:solidFill>
                <a:latin typeface="Evolventa Bold Italics"/>
                <a:ea typeface="Evolventa Bold Italics"/>
                <a:cs typeface="Evolventa Bold Italics"/>
                <a:sym typeface="Evolventa Bold Italics"/>
              </a:rPr>
              <a:t>civility 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untuk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bekerja sama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dengan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pihak media sosial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untuk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mencegah cuitan-cuitan tidak pantas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77440" y="6110008"/>
            <a:ext cx="1353312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000" spc="-23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Konsiderasi Etika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7440" y="6833235"/>
            <a:ext cx="13355501" cy="25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Anotasi </a:t>
            </a:r>
            <a:r>
              <a:rPr lang="en-US" sz="2400" spc="-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label </a:t>
            </a:r>
            <a:r>
              <a:rPr lang="en-US" sz="240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stance</a:t>
            </a:r>
            <a:r>
              <a:rPr lang="en-US" sz="2400" spc="-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dan </a:t>
            </a:r>
            <a:r>
              <a:rPr lang="en-US" sz="240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civility </a:t>
            </a:r>
            <a:r>
              <a:rPr lang="en-US" sz="2400" spc="-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dilakukan hanya oleh </a:t>
            </a:r>
            <a:r>
              <a:rPr lang="en-US" sz="240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tim peneliti</a:t>
            </a:r>
            <a:r>
              <a:rPr lang="en-US" sz="2400" spc="-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, memungkinkan adanya </a:t>
            </a:r>
            <a:r>
              <a:rPr lang="en-US" sz="2400" spc="-9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bias </a:t>
            </a:r>
            <a:r>
              <a:rPr lang="en-US" sz="2400" spc="-9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selama proses pelabelan.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Prediksi klasifikasi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dan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klaster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menggunakan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model terbaik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yang dihasilkan oleh tim, namun masih mungkin terdapat </a:t>
            </a:r>
            <a:r>
              <a:rPr lang="en-US" sz="2400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kekurangan</a:t>
            </a:r>
            <a:r>
              <a:rPr lang="en-US" sz="2400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Data </a:t>
            </a:r>
            <a:r>
              <a:rPr lang="en-US" sz="2400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yang digunakan adalah data </a:t>
            </a:r>
            <a:r>
              <a:rPr lang="en-US" sz="2400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publik</a:t>
            </a:r>
            <a:r>
              <a:rPr lang="en-US" sz="2400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dari media sosial X, dan </a:t>
            </a:r>
            <a:r>
              <a:rPr lang="en-US" sz="2400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data pengguna tidak disertakan</a:t>
            </a:r>
            <a:r>
              <a:rPr lang="en-US" sz="2400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 dalam dataset untuk </a:t>
            </a:r>
            <a:r>
              <a:rPr lang="en-US" sz="2400" spc="-11">
                <a:solidFill>
                  <a:srgbClr val="000000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mengurangi risiko pelanggaran privasi</a:t>
            </a:r>
            <a:r>
              <a:rPr lang="en-US" sz="2400" spc="-11">
                <a:solidFill>
                  <a:srgbClr val="000000"/>
                </a:solidFill>
                <a:latin typeface="Evolventa"/>
                <a:ea typeface="Evolventa"/>
                <a:cs typeface="Evolventa"/>
                <a:sym typeface="Evolventa"/>
              </a:rPr>
              <a:t>.</a:t>
            </a:r>
          </a:p>
        </p:txBody>
      </p:sp>
    </p:spTree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ack and white dotted sphere  Description automatically generated"/>
          <p:cNvSpPr/>
          <p:nvPr/>
        </p:nvSpPr>
        <p:spPr>
          <a:xfrm>
            <a:off x="5600700" y="-2743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97780" y="9970770"/>
            <a:ext cx="13190220" cy="316230"/>
            <a:chOff x="0" y="0"/>
            <a:chExt cx="17586960" cy="421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86961" cy="421640"/>
            </a:xfrm>
            <a:custGeom>
              <a:avLst/>
              <a:gdLst/>
              <a:ahLst/>
              <a:cxnLst/>
              <a:rect l="l" t="t" r="r" b="b"/>
              <a:pathLst>
                <a:path w="17586961" h="421640">
                  <a:moveTo>
                    <a:pt x="0" y="421640"/>
                  </a:moveTo>
                  <a:lnTo>
                    <a:pt x="17586961" y="421640"/>
                  </a:lnTo>
                  <a:lnTo>
                    <a:pt x="17586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377438" y="2150031"/>
            <a:ext cx="13533120" cy="367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spc="-43">
                <a:solidFill>
                  <a:srgbClr val="000000">
                    <a:alpha val="0"/>
                  </a:srgbClr>
                </a:solidFill>
                <a:latin typeface="Evolventa Bold"/>
                <a:ea typeface="Evolventa Bold"/>
                <a:cs typeface="Evolventa Bold"/>
                <a:sym typeface="Evolventa Bold"/>
              </a:rPr>
              <a:t>Terima Kasih</a:t>
            </a:r>
          </a:p>
        </p:txBody>
      </p:sp>
      <p:sp>
        <p:nvSpPr>
          <p:cNvPr id="6" name="Freeform 6" descr="A red book with black background  Description automatically generated"/>
          <p:cNvSpPr/>
          <p:nvPr/>
        </p:nvSpPr>
        <p:spPr>
          <a:xfrm>
            <a:off x="-228600" y="9410700"/>
            <a:ext cx="5554980" cy="876300"/>
          </a:xfrm>
          <a:custGeom>
            <a:avLst/>
            <a:gdLst/>
            <a:ahLst/>
            <a:cxnLst/>
            <a:rect l="l" t="t" r="r" b="b"/>
            <a:pathLst>
              <a:path w="5554980" h="876300">
                <a:moveTo>
                  <a:pt x="0" y="0"/>
                </a:moveTo>
                <a:lnTo>
                  <a:pt x="5554980" y="0"/>
                </a:lnTo>
                <a:lnTo>
                  <a:pt x="555498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9" t="-246963" r="-59111" b="-353463"/>
            </a:stretch>
          </a:blipFill>
        </p:spPr>
      </p:sp>
      <p:sp>
        <p:nvSpPr>
          <p:cNvPr id="7" name="Freeform 7" descr="A group of logos on a black background  Description automatically generated"/>
          <p:cNvSpPr/>
          <p:nvPr/>
        </p:nvSpPr>
        <p:spPr>
          <a:xfrm>
            <a:off x="-274320" y="-2406967"/>
            <a:ext cx="11727180" cy="6596540"/>
          </a:xfrm>
          <a:custGeom>
            <a:avLst/>
            <a:gdLst/>
            <a:ahLst/>
            <a:cxnLst/>
            <a:rect l="l" t="t" r="r" b="b"/>
            <a:pathLst>
              <a:path w="11727180" h="6596540">
                <a:moveTo>
                  <a:pt x="0" y="0"/>
                </a:moveTo>
                <a:lnTo>
                  <a:pt x="11727180" y="0"/>
                </a:lnTo>
                <a:lnTo>
                  <a:pt x="11727180" y="6596539"/>
                </a:lnTo>
                <a:lnTo>
                  <a:pt x="0" y="6596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 descr="A red lines on a black background  Description automatically generated"/>
          <p:cNvSpPr/>
          <p:nvPr/>
        </p:nvSpPr>
        <p:spPr>
          <a:xfrm>
            <a:off x="16001999" y="-1693021"/>
            <a:ext cx="4549140" cy="4549140"/>
          </a:xfrm>
          <a:custGeom>
            <a:avLst/>
            <a:gdLst/>
            <a:ahLst/>
            <a:cxnLst/>
            <a:rect l="l" t="t" r="r" b="b"/>
            <a:pathLst>
              <a:path w="4549140" h="4549140">
                <a:moveTo>
                  <a:pt x="0" y="0"/>
                </a:moveTo>
                <a:lnTo>
                  <a:pt x="4549139" y="0"/>
                </a:lnTo>
                <a:lnTo>
                  <a:pt x="4549139" y="4549140"/>
                </a:lnTo>
                <a:lnTo>
                  <a:pt x="0" y="454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270227" y="2451228"/>
            <a:ext cx="7747546" cy="5384545"/>
          </a:xfrm>
          <a:custGeom>
            <a:avLst/>
            <a:gdLst/>
            <a:ahLst/>
            <a:cxnLst/>
            <a:rect l="l" t="t" r="r" b="b"/>
            <a:pathLst>
              <a:path w="7747546" h="5384545">
                <a:moveTo>
                  <a:pt x="0" y="0"/>
                </a:moveTo>
                <a:lnTo>
                  <a:pt x="7747546" y="0"/>
                </a:lnTo>
                <a:lnTo>
                  <a:pt x="7747546" y="5384544"/>
                </a:lnTo>
                <a:lnTo>
                  <a:pt x="0" y="5384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2093</Words>
  <Application>Microsoft Office PowerPoint</Application>
  <PresentationFormat>Custom</PresentationFormat>
  <Paragraphs>332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Canva Sans</vt:lpstr>
      <vt:lpstr>Canva Sans Bold</vt:lpstr>
      <vt:lpstr>Evolventa</vt:lpstr>
      <vt:lpstr>Evolventa Bold Italics</vt:lpstr>
      <vt:lpstr>Evolventa Bold</vt:lpstr>
      <vt:lpstr>Canva Sans Bold Italics</vt:lpstr>
      <vt:lpstr>Evolventa Italics</vt:lpstr>
      <vt:lpstr>Arial</vt:lpstr>
      <vt:lpstr>Calibri</vt:lpstr>
      <vt:lpstr>Anca Coder</vt:lpstr>
      <vt:lpstr>Canva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Outliers - Final Satria Data 2024</dc:title>
  <cp:lastModifiedBy>Eduardus Tjitrahardja</cp:lastModifiedBy>
  <cp:revision>4</cp:revision>
  <dcterms:created xsi:type="dcterms:W3CDTF">2006-08-16T00:00:00Z</dcterms:created>
  <dcterms:modified xsi:type="dcterms:W3CDTF">2024-07-28T07:20:30Z</dcterms:modified>
  <dc:identifier>DAGL6tNwiDc</dc:identifier>
</cp:coreProperties>
</file>